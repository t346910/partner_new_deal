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A152DDA1-7609-BCF0-3F5B-94DBBC48A5F2}"/>
              </a:ext>
            </a:extLst>
          </p:cNvPr>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a:extLst>
              <a:ext uri="{FF2B5EF4-FFF2-40B4-BE49-F238E27FC236}">
                <a16:creationId xmlns:a16="http://schemas.microsoft.com/office/drawing/2014/main" id="{8BC64029-BD44-D92D-C269-5AAC1C4DB9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a:extLst>
              <a:ext uri="{FF2B5EF4-FFF2-40B4-BE49-F238E27FC236}">
                <a16:creationId xmlns:a16="http://schemas.microsoft.com/office/drawing/2014/main" id="{8B6D902F-A44A-EEC0-9A7C-182AE55A4500}"/>
              </a:ext>
            </a:extLst>
          </p:cNvPr>
          <p:cNvSpPr>
            <a:spLocks noGrp="1"/>
          </p:cNvSpPr>
          <p:nvPr>
            <p:ph type="dt" sz="half" idx="10"/>
          </p:nvPr>
        </p:nvSpPr>
        <p:spPr/>
        <p:txBody>
          <a:bodyPr/>
          <a:lstStyle/>
          <a:p>
            <a:fld id="{E510EACA-F423-4DC9-BFCF-77DD98FAD174}" type="datetimeFigureOut">
              <a:rPr lang="nb-NO" smtClean="0"/>
              <a:t>18.09.2026</a:t>
            </a:fld>
            <a:endParaRPr lang="nb-NO"/>
          </a:p>
        </p:txBody>
      </p:sp>
      <p:sp>
        <p:nvSpPr>
          <p:cNvPr id="5" name="Plassholder for bunntekst 4">
            <a:extLst>
              <a:ext uri="{FF2B5EF4-FFF2-40B4-BE49-F238E27FC236}">
                <a16:creationId xmlns:a16="http://schemas.microsoft.com/office/drawing/2014/main" id="{7F890421-FB78-D7A1-7631-7E80D26D335D}"/>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D2C734CC-17D6-F33C-509D-0399459610DD}"/>
              </a:ext>
            </a:extLst>
          </p:cNvPr>
          <p:cNvSpPr>
            <a:spLocks noGrp="1"/>
          </p:cNvSpPr>
          <p:nvPr>
            <p:ph type="sldNum" sz="quarter" idx="12"/>
          </p:nvPr>
        </p:nvSpPr>
        <p:spPr/>
        <p:txBody>
          <a:bodyPr/>
          <a:lstStyle/>
          <a:p>
            <a:fld id="{1F8ABC87-D80C-4473-9C7B-8FE1F098A0A7}" type="slidenum">
              <a:rPr lang="nb-NO" smtClean="0"/>
              <a:t>‹#›</a:t>
            </a:fld>
            <a:endParaRPr lang="nb-NO"/>
          </a:p>
        </p:txBody>
      </p:sp>
    </p:spTree>
    <p:extLst>
      <p:ext uri="{BB962C8B-B14F-4D97-AF65-F5344CB8AC3E}">
        <p14:creationId xmlns:p14="http://schemas.microsoft.com/office/powerpoint/2010/main" val="31893184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F0640890-D717-3270-4D7C-F5465491E2BD}"/>
              </a:ext>
            </a:extLst>
          </p:cNvPr>
          <p:cNvSpPr>
            <a:spLocks noGrp="1"/>
          </p:cNvSpPr>
          <p:nvPr>
            <p:ph type="title"/>
          </p:nvPr>
        </p:nvSpPr>
        <p:spPr/>
        <p:txBody>
          <a:bodyPr/>
          <a:lstStyle/>
          <a:p>
            <a:r>
              <a:rPr lang="nb-NO"/>
              <a:t>Klikk for å redigere tittelstil</a:t>
            </a:r>
          </a:p>
        </p:txBody>
      </p:sp>
      <p:sp>
        <p:nvSpPr>
          <p:cNvPr id="3" name="Plassholder for innhold 2">
            <a:extLst>
              <a:ext uri="{FF2B5EF4-FFF2-40B4-BE49-F238E27FC236}">
                <a16:creationId xmlns:a16="http://schemas.microsoft.com/office/drawing/2014/main" id="{EED53840-A28C-51E0-0E3D-CF992B905963}"/>
              </a:ext>
            </a:extLst>
          </p:cNvPr>
          <p:cNvSpPr>
            <a:spLocks noGrp="1"/>
          </p:cNvSpPr>
          <p:nvPr>
            <p:ph idx="1"/>
          </p:nvPr>
        </p:nvSpPr>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a:extLst>
              <a:ext uri="{FF2B5EF4-FFF2-40B4-BE49-F238E27FC236}">
                <a16:creationId xmlns:a16="http://schemas.microsoft.com/office/drawing/2014/main" id="{B59C6B06-0B9D-E58D-AF81-2E707A671583}"/>
              </a:ext>
            </a:extLst>
          </p:cNvPr>
          <p:cNvSpPr>
            <a:spLocks noGrp="1"/>
          </p:cNvSpPr>
          <p:nvPr>
            <p:ph type="dt" sz="half" idx="10"/>
          </p:nvPr>
        </p:nvSpPr>
        <p:spPr/>
        <p:txBody>
          <a:bodyPr/>
          <a:lstStyle/>
          <a:p>
            <a:fld id="{E510EACA-F423-4DC9-BFCF-77DD98FAD174}" type="datetimeFigureOut">
              <a:rPr lang="nb-NO" smtClean="0"/>
              <a:t>18.09.2026</a:t>
            </a:fld>
            <a:endParaRPr lang="nb-NO"/>
          </a:p>
        </p:txBody>
      </p:sp>
      <p:sp>
        <p:nvSpPr>
          <p:cNvPr id="5" name="Plassholder for bunntekst 4">
            <a:extLst>
              <a:ext uri="{FF2B5EF4-FFF2-40B4-BE49-F238E27FC236}">
                <a16:creationId xmlns:a16="http://schemas.microsoft.com/office/drawing/2014/main" id="{80073734-B857-99B6-F9CC-E0E4237BBCD0}"/>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CE3913C7-30A6-E284-9E9B-2FC3BA8DF60C}"/>
              </a:ext>
            </a:extLst>
          </p:cNvPr>
          <p:cNvSpPr>
            <a:spLocks noGrp="1"/>
          </p:cNvSpPr>
          <p:nvPr>
            <p:ph type="sldNum" sz="quarter" idx="12"/>
          </p:nvPr>
        </p:nvSpPr>
        <p:spPr/>
        <p:txBody>
          <a:bodyPr/>
          <a:lstStyle/>
          <a:p>
            <a:fld id="{1F8ABC87-D80C-4473-9C7B-8FE1F098A0A7}" type="slidenum">
              <a:rPr lang="nb-NO" smtClean="0"/>
              <a:t>‹#›</a:t>
            </a:fld>
            <a:endParaRPr lang="nb-NO"/>
          </a:p>
        </p:txBody>
      </p:sp>
    </p:spTree>
    <p:extLst>
      <p:ext uri="{BB962C8B-B14F-4D97-AF65-F5344CB8AC3E}">
        <p14:creationId xmlns:p14="http://schemas.microsoft.com/office/powerpoint/2010/main" val="36111716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678F201-8B34-93BD-F1C4-7430BD1C57EF}"/>
              </a:ext>
            </a:extLst>
          </p:cNvPr>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a:extLst>
              <a:ext uri="{FF2B5EF4-FFF2-40B4-BE49-F238E27FC236}">
                <a16:creationId xmlns:a16="http://schemas.microsoft.com/office/drawing/2014/main" id="{33F380BD-8234-F16D-F84B-3CAA2B0634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b-NO"/>
              <a:t>Klikk for å redigere tekststiler i malen</a:t>
            </a:r>
          </a:p>
        </p:txBody>
      </p:sp>
      <p:sp>
        <p:nvSpPr>
          <p:cNvPr id="4" name="Plassholder for dato 3">
            <a:extLst>
              <a:ext uri="{FF2B5EF4-FFF2-40B4-BE49-F238E27FC236}">
                <a16:creationId xmlns:a16="http://schemas.microsoft.com/office/drawing/2014/main" id="{3D3A6131-2616-88BC-EC82-E001F15E85DA}"/>
              </a:ext>
            </a:extLst>
          </p:cNvPr>
          <p:cNvSpPr>
            <a:spLocks noGrp="1"/>
          </p:cNvSpPr>
          <p:nvPr>
            <p:ph type="dt" sz="half" idx="10"/>
          </p:nvPr>
        </p:nvSpPr>
        <p:spPr/>
        <p:txBody>
          <a:bodyPr/>
          <a:lstStyle/>
          <a:p>
            <a:fld id="{E510EACA-F423-4DC9-BFCF-77DD98FAD174}" type="datetimeFigureOut">
              <a:rPr lang="nb-NO" smtClean="0"/>
              <a:t>18.09.2026</a:t>
            </a:fld>
            <a:endParaRPr lang="nb-NO"/>
          </a:p>
        </p:txBody>
      </p:sp>
      <p:sp>
        <p:nvSpPr>
          <p:cNvPr id="5" name="Plassholder for bunntekst 4">
            <a:extLst>
              <a:ext uri="{FF2B5EF4-FFF2-40B4-BE49-F238E27FC236}">
                <a16:creationId xmlns:a16="http://schemas.microsoft.com/office/drawing/2014/main" id="{BCDD5149-C99D-34F7-6D50-ED61898257C7}"/>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6697D9F1-D1EA-7227-57A7-DA6E53033122}"/>
              </a:ext>
            </a:extLst>
          </p:cNvPr>
          <p:cNvSpPr>
            <a:spLocks noGrp="1"/>
          </p:cNvSpPr>
          <p:nvPr>
            <p:ph type="sldNum" sz="quarter" idx="12"/>
          </p:nvPr>
        </p:nvSpPr>
        <p:spPr/>
        <p:txBody>
          <a:bodyPr/>
          <a:lstStyle/>
          <a:p>
            <a:fld id="{1F8ABC87-D80C-4473-9C7B-8FE1F098A0A7}" type="slidenum">
              <a:rPr lang="nb-NO" smtClean="0"/>
              <a:t>‹#›</a:t>
            </a:fld>
            <a:endParaRPr lang="nb-NO"/>
          </a:p>
        </p:txBody>
      </p:sp>
    </p:spTree>
    <p:extLst>
      <p:ext uri="{BB962C8B-B14F-4D97-AF65-F5344CB8AC3E}">
        <p14:creationId xmlns:p14="http://schemas.microsoft.com/office/powerpoint/2010/main" val="737766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9A9DE81F-7E19-5E70-7034-A3245E8262C8}"/>
              </a:ext>
            </a:extLst>
          </p:cNvPr>
          <p:cNvSpPr>
            <a:spLocks noGrp="1"/>
          </p:cNvSpPr>
          <p:nvPr>
            <p:ph type="title"/>
          </p:nvPr>
        </p:nvSpPr>
        <p:spPr/>
        <p:txBody>
          <a:bodyPr/>
          <a:lstStyle/>
          <a:p>
            <a:r>
              <a:rPr lang="nb-NO"/>
              <a:t>Klikk for å redigere tittelstil</a:t>
            </a:r>
          </a:p>
        </p:txBody>
      </p:sp>
      <p:sp>
        <p:nvSpPr>
          <p:cNvPr id="3" name="Plassholder for innhold 2">
            <a:extLst>
              <a:ext uri="{FF2B5EF4-FFF2-40B4-BE49-F238E27FC236}">
                <a16:creationId xmlns:a16="http://schemas.microsoft.com/office/drawing/2014/main" id="{F7399E2F-6789-C05B-FDEF-3F1F6BE2CDAD}"/>
              </a:ext>
            </a:extLst>
          </p:cNvPr>
          <p:cNvSpPr>
            <a:spLocks noGrp="1"/>
          </p:cNvSpPr>
          <p:nvPr>
            <p:ph sz="half" idx="1"/>
          </p:nvPr>
        </p:nvSpPr>
        <p:spPr>
          <a:xfrm>
            <a:off x="838200" y="1825625"/>
            <a:ext cx="5181600" cy="435133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a:extLst>
              <a:ext uri="{FF2B5EF4-FFF2-40B4-BE49-F238E27FC236}">
                <a16:creationId xmlns:a16="http://schemas.microsoft.com/office/drawing/2014/main" id="{E30D9127-ED49-E818-5CA7-0907D0584920}"/>
              </a:ext>
            </a:extLst>
          </p:cNvPr>
          <p:cNvSpPr>
            <a:spLocks noGrp="1"/>
          </p:cNvSpPr>
          <p:nvPr>
            <p:ph sz="half" idx="2"/>
          </p:nvPr>
        </p:nvSpPr>
        <p:spPr>
          <a:xfrm>
            <a:off x="6172200" y="1825625"/>
            <a:ext cx="5181600" cy="435133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a:extLst>
              <a:ext uri="{FF2B5EF4-FFF2-40B4-BE49-F238E27FC236}">
                <a16:creationId xmlns:a16="http://schemas.microsoft.com/office/drawing/2014/main" id="{A34CF789-95D9-2FF9-2127-6EA1B5E9B417}"/>
              </a:ext>
            </a:extLst>
          </p:cNvPr>
          <p:cNvSpPr>
            <a:spLocks noGrp="1"/>
          </p:cNvSpPr>
          <p:nvPr>
            <p:ph type="dt" sz="half" idx="10"/>
          </p:nvPr>
        </p:nvSpPr>
        <p:spPr/>
        <p:txBody>
          <a:bodyPr/>
          <a:lstStyle/>
          <a:p>
            <a:fld id="{E510EACA-F423-4DC9-BFCF-77DD98FAD174}" type="datetimeFigureOut">
              <a:rPr lang="nb-NO" smtClean="0"/>
              <a:t>18.09.2026</a:t>
            </a:fld>
            <a:endParaRPr lang="nb-NO"/>
          </a:p>
        </p:txBody>
      </p:sp>
      <p:sp>
        <p:nvSpPr>
          <p:cNvPr id="6" name="Plassholder for bunntekst 5">
            <a:extLst>
              <a:ext uri="{FF2B5EF4-FFF2-40B4-BE49-F238E27FC236}">
                <a16:creationId xmlns:a16="http://schemas.microsoft.com/office/drawing/2014/main" id="{00E2CE74-7E23-4757-0987-69AE307B265D}"/>
              </a:ext>
            </a:extLst>
          </p:cNvPr>
          <p:cNvSpPr>
            <a:spLocks noGrp="1"/>
          </p:cNvSpPr>
          <p:nvPr>
            <p:ph type="ftr" sz="quarter" idx="11"/>
          </p:nvPr>
        </p:nvSpPr>
        <p:spPr/>
        <p:txBody>
          <a:bodyPr/>
          <a:lstStyle/>
          <a:p>
            <a:endParaRPr lang="nb-NO"/>
          </a:p>
        </p:txBody>
      </p:sp>
      <p:sp>
        <p:nvSpPr>
          <p:cNvPr id="7" name="Plassholder for lysbildenummer 6">
            <a:extLst>
              <a:ext uri="{FF2B5EF4-FFF2-40B4-BE49-F238E27FC236}">
                <a16:creationId xmlns:a16="http://schemas.microsoft.com/office/drawing/2014/main" id="{BABA8E3D-2476-94BD-D8D2-1EB7AB5A61FE}"/>
              </a:ext>
            </a:extLst>
          </p:cNvPr>
          <p:cNvSpPr>
            <a:spLocks noGrp="1"/>
          </p:cNvSpPr>
          <p:nvPr>
            <p:ph type="sldNum" sz="quarter" idx="12"/>
          </p:nvPr>
        </p:nvSpPr>
        <p:spPr/>
        <p:txBody>
          <a:bodyPr/>
          <a:lstStyle/>
          <a:p>
            <a:fld id="{1F8ABC87-D80C-4473-9C7B-8FE1F098A0A7}" type="slidenum">
              <a:rPr lang="nb-NO" smtClean="0"/>
              <a:t>‹#›</a:t>
            </a:fld>
            <a:endParaRPr lang="nb-NO"/>
          </a:p>
        </p:txBody>
      </p:sp>
    </p:spTree>
    <p:extLst>
      <p:ext uri="{BB962C8B-B14F-4D97-AF65-F5344CB8AC3E}">
        <p14:creationId xmlns:p14="http://schemas.microsoft.com/office/powerpoint/2010/main" val="13719683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48BFF4AD-8312-A44A-D92D-8135FDED6523}"/>
              </a:ext>
            </a:extLst>
          </p:cNvPr>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a:extLst>
              <a:ext uri="{FF2B5EF4-FFF2-40B4-BE49-F238E27FC236}">
                <a16:creationId xmlns:a16="http://schemas.microsoft.com/office/drawing/2014/main" id="{517503CF-4B65-0C9F-8906-77EB9FBED4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4" name="Plassholder for innhold 3">
            <a:extLst>
              <a:ext uri="{FF2B5EF4-FFF2-40B4-BE49-F238E27FC236}">
                <a16:creationId xmlns:a16="http://schemas.microsoft.com/office/drawing/2014/main" id="{9EB87064-1FD3-419F-261C-DEA4F8D89493}"/>
              </a:ext>
            </a:extLst>
          </p:cNvPr>
          <p:cNvSpPr>
            <a:spLocks noGrp="1"/>
          </p:cNvSpPr>
          <p:nvPr>
            <p:ph sz="half" idx="2"/>
          </p:nvPr>
        </p:nvSpPr>
        <p:spPr>
          <a:xfrm>
            <a:off x="839788" y="2505075"/>
            <a:ext cx="5157787" cy="368458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a:extLst>
              <a:ext uri="{FF2B5EF4-FFF2-40B4-BE49-F238E27FC236}">
                <a16:creationId xmlns:a16="http://schemas.microsoft.com/office/drawing/2014/main" id="{F060DAF7-CA9E-E171-4407-07F97766DDC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6" name="Plassholder for innhold 5">
            <a:extLst>
              <a:ext uri="{FF2B5EF4-FFF2-40B4-BE49-F238E27FC236}">
                <a16:creationId xmlns:a16="http://schemas.microsoft.com/office/drawing/2014/main" id="{1413478F-2765-5203-8F1D-523A80106F2C}"/>
              </a:ext>
            </a:extLst>
          </p:cNvPr>
          <p:cNvSpPr>
            <a:spLocks noGrp="1"/>
          </p:cNvSpPr>
          <p:nvPr>
            <p:ph sz="quarter" idx="4"/>
          </p:nvPr>
        </p:nvSpPr>
        <p:spPr>
          <a:xfrm>
            <a:off x="6172200" y="2505075"/>
            <a:ext cx="5183188" cy="368458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a:extLst>
              <a:ext uri="{FF2B5EF4-FFF2-40B4-BE49-F238E27FC236}">
                <a16:creationId xmlns:a16="http://schemas.microsoft.com/office/drawing/2014/main" id="{79571219-ADD1-5EFE-8D94-FD9A2DDA1D8F}"/>
              </a:ext>
            </a:extLst>
          </p:cNvPr>
          <p:cNvSpPr>
            <a:spLocks noGrp="1"/>
          </p:cNvSpPr>
          <p:nvPr>
            <p:ph type="dt" sz="half" idx="10"/>
          </p:nvPr>
        </p:nvSpPr>
        <p:spPr/>
        <p:txBody>
          <a:bodyPr/>
          <a:lstStyle/>
          <a:p>
            <a:fld id="{E510EACA-F423-4DC9-BFCF-77DD98FAD174}" type="datetimeFigureOut">
              <a:rPr lang="nb-NO" smtClean="0"/>
              <a:t>18.09.2026</a:t>
            </a:fld>
            <a:endParaRPr lang="nb-NO"/>
          </a:p>
        </p:txBody>
      </p:sp>
      <p:sp>
        <p:nvSpPr>
          <p:cNvPr id="8" name="Plassholder for bunntekst 7">
            <a:extLst>
              <a:ext uri="{FF2B5EF4-FFF2-40B4-BE49-F238E27FC236}">
                <a16:creationId xmlns:a16="http://schemas.microsoft.com/office/drawing/2014/main" id="{A52717C7-0FA1-1036-9F88-DB901942E73D}"/>
              </a:ext>
            </a:extLst>
          </p:cNvPr>
          <p:cNvSpPr>
            <a:spLocks noGrp="1"/>
          </p:cNvSpPr>
          <p:nvPr>
            <p:ph type="ftr" sz="quarter" idx="11"/>
          </p:nvPr>
        </p:nvSpPr>
        <p:spPr/>
        <p:txBody>
          <a:bodyPr/>
          <a:lstStyle/>
          <a:p>
            <a:endParaRPr lang="nb-NO"/>
          </a:p>
        </p:txBody>
      </p:sp>
      <p:sp>
        <p:nvSpPr>
          <p:cNvPr id="9" name="Plassholder for lysbildenummer 8">
            <a:extLst>
              <a:ext uri="{FF2B5EF4-FFF2-40B4-BE49-F238E27FC236}">
                <a16:creationId xmlns:a16="http://schemas.microsoft.com/office/drawing/2014/main" id="{ADFBFF77-2A93-6470-BBA4-329C7960728B}"/>
              </a:ext>
            </a:extLst>
          </p:cNvPr>
          <p:cNvSpPr>
            <a:spLocks noGrp="1"/>
          </p:cNvSpPr>
          <p:nvPr>
            <p:ph type="sldNum" sz="quarter" idx="12"/>
          </p:nvPr>
        </p:nvSpPr>
        <p:spPr/>
        <p:txBody>
          <a:bodyPr/>
          <a:lstStyle/>
          <a:p>
            <a:fld id="{1F8ABC87-D80C-4473-9C7B-8FE1F098A0A7}" type="slidenum">
              <a:rPr lang="nb-NO" smtClean="0"/>
              <a:t>‹#›</a:t>
            </a:fld>
            <a:endParaRPr lang="nb-NO"/>
          </a:p>
        </p:txBody>
      </p:sp>
    </p:spTree>
    <p:extLst>
      <p:ext uri="{BB962C8B-B14F-4D97-AF65-F5344CB8AC3E}">
        <p14:creationId xmlns:p14="http://schemas.microsoft.com/office/powerpoint/2010/main" val="2633290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309E6EEA-CB30-7769-0EF3-552995DF815F}"/>
              </a:ext>
            </a:extLst>
          </p:cNvPr>
          <p:cNvSpPr>
            <a:spLocks noGrp="1"/>
          </p:cNvSpPr>
          <p:nvPr>
            <p:ph type="title"/>
          </p:nvPr>
        </p:nvSpPr>
        <p:spPr/>
        <p:txBody>
          <a:bodyPr/>
          <a:lstStyle/>
          <a:p>
            <a:r>
              <a:rPr lang="nb-NO"/>
              <a:t>Klikk for å redigere tittelstil</a:t>
            </a:r>
          </a:p>
        </p:txBody>
      </p:sp>
      <p:sp>
        <p:nvSpPr>
          <p:cNvPr id="3" name="Plassholder for dato 2">
            <a:extLst>
              <a:ext uri="{FF2B5EF4-FFF2-40B4-BE49-F238E27FC236}">
                <a16:creationId xmlns:a16="http://schemas.microsoft.com/office/drawing/2014/main" id="{854ABD9C-42F9-E57E-8D2D-D74CEB70B03D}"/>
              </a:ext>
            </a:extLst>
          </p:cNvPr>
          <p:cNvSpPr>
            <a:spLocks noGrp="1"/>
          </p:cNvSpPr>
          <p:nvPr>
            <p:ph type="dt" sz="half" idx="10"/>
          </p:nvPr>
        </p:nvSpPr>
        <p:spPr/>
        <p:txBody>
          <a:bodyPr/>
          <a:lstStyle/>
          <a:p>
            <a:fld id="{E510EACA-F423-4DC9-BFCF-77DD98FAD174}" type="datetimeFigureOut">
              <a:rPr lang="nb-NO" smtClean="0"/>
              <a:t>18.09.2026</a:t>
            </a:fld>
            <a:endParaRPr lang="nb-NO"/>
          </a:p>
        </p:txBody>
      </p:sp>
      <p:sp>
        <p:nvSpPr>
          <p:cNvPr id="4" name="Plassholder for bunntekst 3">
            <a:extLst>
              <a:ext uri="{FF2B5EF4-FFF2-40B4-BE49-F238E27FC236}">
                <a16:creationId xmlns:a16="http://schemas.microsoft.com/office/drawing/2014/main" id="{EE515077-4A71-3F8A-33E9-EE4E10DF14DF}"/>
              </a:ext>
            </a:extLst>
          </p:cNvPr>
          <p:cNvSpPr>
            <a:spLocks noGrp="1"/>
          </p:cNvSpPr>
          <p:nvPr>
            <p:ph type="ftr" sz="quarter" idx="11"/>
          </p:nvPr>
        </p:nvSpPr>
        <p:spPr/>
        <p:txBody>
          <a:bodyPr/>
          <a:lstStyle/>
          <a:p>
            <a:endParaRPr lang="nb-NO"/>
          </a:p>
        </p:txBody>
      </p:sp>
      <p:sp>
        <p:nvSpPr>
          <p:cNvPr id="5" name="Plassholder for lysbildenummer 4">
            <a:extLst>
              <a:ext uri="{FF2B5EF4-FFF2-40B4-BE49-F238E27FC236}">
                <a16:creationId xmlns:a16="http://schemas.microsoft.com/office/drawing/2014/main" id="{8455BF09-0546-3B4D-3D68-1DF2A9FFFAB8}"/>
              </a:ext>
            </a:extLst>
          </p:cNvPr>
          <p:cNvSpPr>
            <a:spLocks noGrp="1"/>
          </p:cNvSpPr>
          <p:nvPr>
            <p:ph type="sldNum" sz="quarter" idx="12"/>
          </p:nvPr>
        </p:nvSpPr>
        <p:spPr/>
        <p:txBody>
          <a:bodyPr/>
          <a:lstStyle/>
          <a:p>
            <a:fld id="{1F8ABC87-D80C-4473-9C7B-8FE1F098A0A7}" type="slidenum">
              <a:rPr lang="nb-NO" smtClean="0"/>
              <a:t>‹#›</a:t>
            </a:fld>
            <a:endParaRPr lang="nb-NO"/>
          </a:p>
        </p:txBody>
      </p:sp>
    </p:spTree>
    <p:extLst>
      <p:ext uri="{BB962C8B-B14F-4D97-AF65-F5344CB8AC3E}">
        <p14:creationId xmlns:p14="http://schemas.microsoft.com/office/powerpoint/2010/main" val="39695798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a:extLst>
              <a:ext uri="{FF2B5EF4-FFF2-40B4-BE49-F238E27FC236}">
                <a16:creationId xmlns:a16="http://schemas.microsoft.com/office/drawing/2014/main" id="{CF0F30D8-905B-ED2D-B343-C90FC503AE1E}"/>
              </a:ext>
            </a:extLst>
          </p:cNvPr>
          <p:cNvSpPr>
            <a:spLocks noGrp="1"/>
          </p:cNvSpPr>
          <p:nvPr>
            <p:ph type="dt" sz="half" idx="10"/>
          </p:nvPr>
        </p:nvSpPr>
        <p:spPr/>
        <p:txBody>
          <a:bodyPr/>
          <a:lstStyle/>
          <a:p>
            <a:fld id="{E510EACA-F423-4DC9-BFCF-77DD98FAD174}" type="datetimeFigureOut">
              <a:rPr lang="nb-NO" smtClean="0"/>
              <a:t>18.09.2026</a:t>
            </a:fld>
            <a:endParaRPr lang="nb-NO"/>
          </a:p>
        </p:txBody>
      </p:sp>
      <p:sp>
        <p:nvSpPr>
          <p:cNvPr id="3" name="Plassholder for bunntekst 2">
            <a:extLst>
              <a:ext uri="{FF2B5EF4-FFF2-40B4-BE49-F238E27FC236}">
                <a16:creationId xmlns:a16="http://schemas.microsoft.com/office/drawing/2014/main" id="{7D4DC47F-C8C1-DAB7-C74E-C2EB3A140639}"/>
              </a:ext>
            </a:extLst>
          </p:cNvPr>
          <p:cNvSpPr>
            <a:spLocks noGrp="1"/>
          </p:cNvSpPr>
          <p:nvPr>
            <p:ph type="ftr" sz="quarter" idx="11"/>
          </p:nvPr>
        </p:nvSpPr>
        <p:spPr/>
        <p:txBody>
          <a:bodyPr/>
          <a:lstStyle/>
          <a:p>
            <a:endParaRPr lang="nb-NO"/>
          </a:p>
        </p:txBody>
      </p:sp>
      <p:sp>
        <p:nvSpPr>
          <p:cNvPr id="4" name="Plassholder for lysbildenummer 3">
            <a:extLst>
              <a:ext uri="{FF2B5EF4-FFF2-40B4-BE49-F238E27FC236}">
                <a16:creationId xmlns:a16="http://schemas.microsoft.com/office/drawing/2014/main" id="{9735EA33-39A1-1428-E967-815653CBA0FB}"/>
              </a:ext>
            </a:extLst>
          </p:cNvPr>
          <p:cNvSpPr>
            <a:spLocks noGrp="1"/>
          </p:cNvSpPr>
          <p:nvPr>
            <p:ph type="sldNum" sz="quarter" idx="12"/>
          </p:nvPr>
        </p:nvSpPr>
        <p:spPr/>
        <p:txBody>
          <a:bodyPr/>
          <a:lstStyle/>
          <a:p>
            <a:fld id="{1F8ABC87-D80C-4473-9C7B-8FE1F098A0A7}" type="slidenum">
              <a:rPr lang="nb-NO" smtClean="0"/>
              <a:t>‹#›</a:t>
            </a:fld>
            <a:endParaRPr lang="nb-NO"/>
          </a:p>
        </p:txBody>
      </p:sp>
    </p:spTree>
    <p:extLst>
      <p:ext uri="{BB962C8B-B14F-4D97-AF65-F5344CB8AC3E}">
        <p14:creationId xmlns:p14="http://schemas.microsoft.com/office/powerpoint/2010/main" val="14496302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D65198D8-DBA2-1C26-9D03-DB9C89430A72}"/>
              </a:ext>
            </a:extLst>
          </p:cNvPr>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a:extLst>
              <a:ext uri="{FF2B5EF4-FFF2-40B4-BE49-F238E27FC236}">
                <a16:creationId xmlns:a16="http://schemas.microsoft.com/office/drawing/2014/main" id="{C2ABE83E-CDCD-575D-355F-8DB5CE10FA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a:extLst>
              <a:ext uri="{FF2B5EF4-FFF2-40B4-BE49-F238E27FC236}">
                <a16:creationId xmlns:a16="http://schemas.microsoft.com/office/drawing/2014/main" id="{DBA05A1C-0220-BCC8-2F62-0DF6154FB9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Klikk for å redigere tekststiler i malen</a:t>
            </a:r>
          </a:p>
        </p:txBody>
      </p:sp>
      <p:sp>
        <p:nvSpPr>
          <p:cNvPr id="5" name="Plassholder for dato 4">
            <a:extLst>
              <a:ext uri="{FF2B5EF4-FFF2-40B4-BE49-F238E27FC236}">
                <a16:creationId xmlns:a16="http://schemas.microsoft.com/office/drawing/2014/main" id="{56C109E9-F85F-E501-B959-B2025EE6E98B}"/>
              </a:ext>
            </a:extLst>
          </p:cNvPr>
          <p:cNvSpPr>
            <a:spLocks noGrp="1"/>
          </p:cNvSpPr>
          <p:nvPr>
            <p:ph type="dt" sz="half" idx="10"/>
          </p:nvPr>
        </p:nvSpPr>
        <p:spPr/>
        <p:txBody>
          <a:bodyPr/>
          <a:lstStyle/>
          <a:p>
            <a:fld id="{E510EACA-F423-4DC9-BFCF-77DD98FAD174}" type="datetimeFigureOut">
              <a:rPr lang="nb-NO" smtClean="0"/>
              <a:t>18.09.2026</a:t>
            </a:fld>
            <a:endParaRPr lang="nb-NO"/>
          </a:p>
        </p:txBody>
      </p:sp>
      <p:sp>
        <p:nvSpPr>
          <p:cNvPr id="6" name="Plassholder for bunntekst 5">
            <a:extLst>
              <a:ext uri="{FF2B5EF4-FFF2-40B4-BE49-F238E27FC236}">
                <a16:creationId xmlns:a16="http://schemas.microsoft.com/office/drawing/2014/main" id="{F483CADE-E0F2-085F-5848-D9A85D481CD2}"/>
              </a:ext>
            </a:extLst>
          </p:cNvPr>
          <p:cNvSpPr>
            <a:spLocks noGrp="1"/>
          </p:cNvSpPr>
          <p:nvPr>
            <p:ph type="ftr" sz="quarter" idx="11"/>
          </p:nvPr>
        </p:nvSpPr>
        <p:spPr/>
        <p:txBody>
          <a:bodyPr/>
          <a:lstStyle/>
          <a:p>
            <a:endParaRPr lang="nb-NO"/>
          </a:p>
        </p:txBody>
      </p:sp>
      <p:sp>
        <p:nvSpPr>
          <p:cNvPr id="7" name="Plassholder for lysbildenummer 6">
            <a:extLst>
              <a:ext uri="{FF2B5EF4-FFF2-40B4-BE49-F238E27FC236}">
                <a16:creationId xmlns:a16="http://schemas.microsoft.com/office/drawing/2014/main" id="{3484D7BD-1C43-9F8A-2B26-7A26A10DED02}"/>
              </a:ext>
            </a:extLst>
          </p:cNvPr>
          <p:cNvSpPr>
            <a:spLocks noGrp="1"/>
          </p:cNvSpPr>
          <p:nvPr>
            <p:ph type="sldNum" sz="quarter" idx="12"/>
          </p:nvPr>
        </p:nvSpPr>
        <p:spPr/>
        <p:txBody>
          <a:bodyPr/>
          <a:lstStyle/>
          <a:p>
            <a:fld id="{1F8ABC87-D80C-4473-9C7B-8FE1F098A0A7}" type="slidenum">
              <a:rPr lang="nb-NO" smtClean="0"/>
              <a:t>‹#›</a:t>
            </a:fld>
            <a:endParaRPr lang="nb-NO"/>
          </a:p>
        </p:txBody>
      </p:sp>
    </p:spTree>
    <p:extLst>
      <p:ext uri="{BB962C8B-B14F-4D97-AF65-F5344CB8AC3E}">
        <p14:creationId xmlns:p14="http://schemas.microsoft.com/office/powerpoint/2010/main" val="2935896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B42B1982-0512-5FBC-5DF6-DE6F70BEFFC2}"/>
              </a:ext>
            </a:extLst>
          </p:cNvPr>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a:extLst>
              <a:ext uri="{FF2B5EF4-FFF2-40B4-BE49-F238E27FC236}">
                <a16:creationId xmlns:a16="http://schemas.microsoft.com/office/drawing/2014/main" id="{30A943B4-3E08-7113-D20D-39D415AF8B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a:extLst>
              <a:ext uri="{FF2B5EF4-FFF2-40B4-BE49-F238E27FC236}">
                <a16:creationId xmlns:a16="http://schemas.microsoft.com/office/drawing/2014/main" id="{A15194E9-6BE8-78FF-B1F2-65F9B7676D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Klikk for å redigere tekststiler i malen</a:t>
            </a:r>
          </a:p>
        </p:txBody>
      </p:sp>
      <p:sp>
        <p:nvSpPr>
          <p:cNvPr id="5" name="Plassholder for dato 4">
            <a:extLst>
              <a:ext uri="{FF2B5EF4-FFF2-40B4-BE49-F238E27FC236}">
                <a16:creationId xmlns:a16="http://schemas.microsoft.com/office/drawing/2014/main" id="{D862A5CF-F66D-D681-A338-2C7E1975F9B7}"/>
              </a:ext>
            </a:extLst>
          </p:cNvPr>
          <p:cNvSpPr>
            <a:spLocks noGrp="1"/>
          </p:cNvSpPr>
          <p:nvPr>
            <p:ph type="dt" sz="half" idx="10"/>
          </p:nvPr>
        </p:nvSpPr>
        <p:spPr/>
        <p:txBody>
          <a:bodyPr/>
          <a:lstStyle/>
          <a:p>
            <a:fld id="{E510EACA-F423-4DC9-BFCF-77DD98FAD174}" type="datetimeFigureOut">
              <a:rPr lang="nb-NO" smtClean="0"/>
              <a:t>18.09.2026</a:t>
            </a:fld>
            <a:endParaRPr lang="nb-NO"/>
          </a:p>
        </p:txBody>
      </p:sp>
      <p:sp>
        <p:nvSpPr>
          <p:cNvPr id="6" name="Plassholder for bunntekst 5">
            <a:extLst>
              <a:ext uri="{FF2B5EF4-FFF2-40B4-BE49-F238E27FC236}">
                <a16:creationId xmlns:a16="http://schemas.microsoft.com/office/drawing/2014/main" id="{DDE685F1-55A3-96A2-25AF-8BA0894040D3}"/>
              </a:ext>
            </a:extLst>
          </p:cNvPr>
          <p:cNvSpPr>
            <a:spLocks noGrp="1"/>
          </p:cNvSpPr>
          <p:nvPr>
            <p:ph type="ftr" sz="quarter" idx="11"/>
          </p:nvPr>
        </p:nvSpPr>
        <p:spPr/>
        <p:txBody>
          <a:bodyPr/>
          <a:lstStyle/>
          <a:p>
            <a:endParaRPr lang="nb-NO"/>
          </a:p>
        </p:txBody>
      </p:sp>
      <p:sp>
        <p:nvSpPr>
          <p:cNvPr id="7" name="Plassholder for lysbildenummer 6">
            <a:extLst>
              <a:ext uri="{FF2B5EF4-FFF2-40B4-BE49-F238E27FC236}">
                <a16:creationId xmlns:a16="http://schemas.microsoft.com/office/drawing/2014/main" id="{0A7BD2EA-56F3-7546-2E20-4B73BFB374D5}"/>
              </a:ext>
            </a:extLst>
          </p:cNvPr>
          <p:cNvSpPr>
            <a:spLocks noGrp="1"/>
          </p:cNvSpPr>
          <p:nvPr>
            <p:ph type="sldNum" sz="quarter" idx="12"/>
          </p:nvPr>
        </p:nvSpPr>
        <p:spPr/>
        <p:txBody>
          <a:bodyPr/>
          <a:lstStyle/>
          <a:p>
            <a:fld id="{1F8ABC87-D80C-4473-9C7B-8FE1F098A0A7}" type="slidenum">
              <a:rPr lang="nb-NO" smtClean="0"/>
              <a:t>‹#›</a:t>
            </a:fld>
            <a:endParaRPr lang="nb-NO"/>
          </a:p>
        </p:txBody>
      </p:sp>
    </p:spTree>
    <p:extLst>
      <p:ext uri="{BB962C8B-B14F-4D97-AF65-F5344CB8AC3E}">
        <p14:creationId xmlns:p14="http://schemas.microsoft.com/office/powerpoint/2010/main" val="5192568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8682BAE8-B308-F908-D03D-E4B78A76D01B}"/>
              </a:ext>
            </a:extLst>
          </p:cNvPr>
          <p:cNvSpPr>
            <a:spLocks noGrp="1"/>
          </p:cNvSpPr>
          <p:nvPr>
            <p:ph type="title"/>
          </p:nvPr>
        </p:nvSpPr>
        <p:spPr/>
        <p:txBody>
          <a:bodyPr/>
          <a:lstStyle/>
          <a:p>
            <a:r>
              <a:rPr lang="nb-NO"/>
              <a:t>Klikk for å redigere tittelstil</a:t>
            </a:r>
          </a:p>
        </p:txBody>
      </p:sp>
      <p:sp>
        <p:nvSpPr>
          <p:cNvPr id="3" name="Plassholder for loddrett tekst 2">
            <a:extLst>
              <a:ext uri="{FF2B5EF4-FFF2-40B4-BE49-F238E27FC236}">
                <a16:creationId xmlns:a16="http://schemas.microsoft.com/office/drawing/2014/main" id="{F5FF42C1-C644-F3A2-F231-ECE8D95DCEC5}"/>
              </a:ext>
            </a:extLst>
          </p:cNvPr>
          <p:cNvSpPr>
            <a:spLocks noGrp="1"/>
          </p:cNvSpPr>
          <p:nvPr>
            <p:ph type="body" orient="vert" idx="1"/>
          </p:nvPr>
        </p:nvSpPr>
        <p:spPr/>
        <p:txBody>
          <a:bodyPr vert="eaVert"/>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a:extLst>
              <a:ext uri="{FF2B5EF4-FFF2-40B4-BE49-F238E27FC236}">
                <a16:creationId xmlns:a16="http://schemas.microsoft.com/office/drawing/2014/main" id="{8CE5E112-ADBD-BFB1-C96C-1B36553BE9B8}"/>
              </a:ext>
            </a:extLst>
          </p:cNvPr>
          <p:cNvSpPr>
            <a:spLocks noGrp="1"/>
          </p:cNvSpPr>
          <p:nvPr>
            <p:ph type="dt" sz="half" idx="10"/>
          </p:nvPr>
        </p:nvSpPr>
        <p:spPr/>
        <p:txBody>
          <a:bodyPr/>
          <a:lstStyle/>
          <a:p>
            <a:fld id="{E510EACA-F423-4DC9-BFCF-77DD98FAD174}" type="datetimeFigureOut">
              <a:rPr lang="nb-NO" smtClean="0"/>
              <a:t>18.09.2026</a:t>
            </a:fld>
            <a:endParaRPr lang="nb-NO"/>
          </a:p>
        </p:txBody>
      </p:sp>
      <p:sp>
        <p:nvSpPr>
          <p:cNvPr id="5" name="Plassholder for bunntekst 4">
            <a:extLst>
              <a:ext uri="{FF2B5EF4-FFF2-40B4-BE49-F238E27FC236}">
                <a16:creationId xmlns:a16="http://schemas.microsoft.com/office/drawing/2014/main" id="{F1425F75-EB46-6EB3-1713-586C72DFE79D}"/>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625C5DA8-2F2F-4EBE-E8E8-673119144383}"/>
              </a:ext>
            </a:extLst>
          </p:cNvPr>
          <p:cNvSpPr>
            <a:spLocks noGrp="1"/>
          </p:cNvSpPr>
          <p:nvPr>
            <p:ph type="sldNum" sz="quarter" idx="12"/>
          </p:nvPr>
        </p:nvSpPr>
        <p:spPr/>
        <p:txBody>
          <a:bodyPr/>
          <a:lstStyle/>
          <a:p>
            <a:fld id="{1F8ABC87-D80C-4473-9C7B-8FE1F098A0A7}" type="slidenum">
              <a:rPr lang="nb-NO" smtClean="0"/>
              <a:t>‹#›</a:t>
            </a:fld>
            <a:endParaRPr lang="nb-NO"/>
          </a:p>
        </p:txBody>
      </p:sp>
    </p:spTree>
    <p:extLst>
      <p:ext uri="{BB962C8B-B14F-4D97-AF65-F5344CB8AC3E}">
        <p14:creationId xmlns:p14="http://schemas.microsoft.com/office/powerpoint/2010/main" val="908125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a:extLst>
              <a:ext uri="{FF2B5EF4-FFF2-40B4-BE49-F238E27FC236}">
                <a16:creationId xmlns:a16="http://schemas.microsoft.com/office/drawing/2014/main" id="{7816F18A-E73B-BFA8-8FF4-D7A711F5DB0B}"/>
              </a:ext>
            </a:extLst>
          </p:cNvPr>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a:extLst>
              <a:ext uri="{FF2B5EF4-FFF2-40B4-BE49-F238E27FC236}">
                <a16:creationId xmlns:a16="http://schemas.microsoft.com/office/drawing/2014/main" id="{42D18345-C6CD-4E51-F3AB-A882E0BE7E51}"/>
              </a:ext>
            </a:extLst>
          </p:cNvPr>
          <p:cNvSpPr>
            <a:spLocks noGrp="1"/>
          </p:cNvSpPr>
          <p:nvPr>
            <p:ph type="body" orient="vert" idx="1"/>
          </p:nvPr>
        </p:nvSpPr>
        <p:spPr>
          <a:xfrm>
            <a:off x="838200" y="365125"/>
            <a:ext cx="7734300" cy="5811838"/>
          </a:xfrm>
        </p:spPr>
        <p:txBody>
          <a:bodyPr vert="eaVert"/>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a:extLst>
              <a:ext uri="{FF2B5EF4-FFF2-40B4-BE49-F238E27FC236}">
                <a16:creationId xmlns:a16="http://schemas.microsoft.com/office/drawing/2014/main" id="{7F82A05C-C65E-7045-EC09-2CF87BED068C}"/>
              </a:ext>
            </a:extLst>
          </p:cNvPr>
          <p:cNvSpPr>
            <a:spLocks noGrp="1"/>
          </p:cNvSpPr>
          <p:nvPr>
            <p:ph type="dt" sz="half" idx="10"/>
          </p:nvPr>
        </p:nvSpPr>
        <p:spPr/>
        <p:txBody>
          <a:bodyPr/>
          <a:lstStyle/>
          <a:p>
            <a:fld id="{E510EACA-F423-4DC9-BFCF-77DD98FAD174}" type="datetimeFigureOut">
              <a:rPr lang="nb-NO" smtClean="0"/>
              <a:t>18.09.2026</a:t>
            </a:fld>
            <a:endParaRPr lang="nb-NO"/>
          </a:p>
        </p:txBody>
      </p:sp>
      <p:sp>
        <p:nvSpPr>
          <p:cNvPr id="5" name="Plassholder for bunntekst 4">
            <a:extLst>
              <a:ext uri="{FF2B5EF4-FFF2-40B4-BE49-F238E27FC236}">
                <a16:creationId xmlns:a16="http://schemas.microsoft.com/office/drawing/2014/main" id="{07BCC4CC-AC2D-9D4D-3C17-D6F76BE55518}"/>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6B3750E4-37EF-12A3-7488-B1D132BB0E6B}"/>
              </a:ext>
            </a:extLst>
          </p:cNvPr>
          <p:cNvSpPr>
            <a:spLocks noGrp="1"/>
          </p:cNvSpPr>
          <p:nvPr>
            <p:ph type="sldNum" sz="quarter" idx="12"/>
          </p:nvPr>
        </p:nvSpPr>
        <p:spPr/>
        <p:txBody>
          <a:bodyPr/>
          <a:lstStyle/>
          <a:p>
            <a:fld id="{1F8ABC87-D80C-4473-9C7B-8FE1F098A0A7}" type="slidenum">
              <a:rPr lang="nb-NO" smtClean="0"/>
              <a:t>‹#›</a:t>
            </a:fld>
            <a:endParaRPr lang="nb-NO"/>
          </a:p>
        </p:txBody>
      </p:sp>
    </p:spTree>
    <p:extLst>
      <p:ext uri="{BB962C8B-B14F-4D97-AF65-F5344CB8AC3E}">
        <p14:creationId xmlns:p14="http://schemas.microsoft.com/office/powerpoint/2010/main" val="1016582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a:extLst>
              <a:ext uri="{FF2B5EF4-FFF2-40B4-BE49-F238E27FC236}">
                <a16:creationId xmlns:a16="http://schemas.microsoft.com/office/drawing/2014/main" id="{333E89B2-9A16-4F34-CF81-73EB35E583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a:extLst>
              <a:ext uri="{FF2B5EF4-FFF2-40B4-BE49-F238E27FC236}">
                <a16:creationId xmlns:a16="http://schemas.microsoft.com/office/drawing/2014/main" id="{87C43EC0-9C8E-7678-2FCE-0B49D9A1EF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a:extLst>
              <a:ext uri="{FF2B5EF4-FFF2-40B4-BE49-F238E27FC236}">
                <a16:creationId xmlns:a16="http://schemas.microsoft.com/office/drawing/2014/main" id="{331C7D5A-B3CA-8DE4-B8A8-AA01C8E0C8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510EACA-F423-4DC9-BFCF-77DD98FAD174}" type="datetimeFigureOut">
              <a:rPr lang="nb-NO" smtClean="0"/>
              <a:t>18.09.2026</a:t>
            </a:fld>
            <a:endParaRPr lang="nb-NO"/>
          </a:p>
        </p:txBody>
      </p:sp>
      <p:sp>
        <p:nvSpPr>
          <p:cNvPr id="5" name="Plassholder for bunntekst 4">
            <a:extLst>
              <a:ext uri="{FF2B5EF4-FFF2-40B4-BE49-F238E27FC236}">
                <a16:creationId xmlns:a16="http://schemas.microsoft.com/office/drawing/2014/main" id="{B1C5C5CE-978C-1EBC-215E-E896CD6F4D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b-NO"/>
          </a:p>
        </p:txBody>
      </p:sp>
      <p:sp>
        <p:nvSpPr>
          <p:cNvPr id="6" name="Plassholder for lysbildenummer 5">
            <a:extLst>
              <a:ext uri="{FF2B5EF4-FFF2-40B4-BE49-F238E27FC236}">
                <a16:creationId xmlns:a16="http://schemas.microsoft.com/office/drawing/2014/main" id="{8371326C-5977-E89D-34C2-371F445751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F8ABC87-D80C-4473-9C7B-8FE1F098A0A7}" type="slidenum">
              <a:rPr lang="nb-NO" smtClean="0"/>
              <a:t>‹#›</a:t>
            </a:fld>
            <a:endParaRPr lang="nb-NO"/>
          </a:p>
        </p:txBody>
      </p:sp>
      <p:sp>
        <p:nvSpPr>
          <p:cNvPr id="8" name="TekstSylinder 7">
            <a:extLst>
              <a:ext uri="{FF2B5EF4-FFF2-40B4-BE49-F238E27FC236}">
                <a16:creationId xmlns:a16="http://schemas.microsoft.com/office/drawing/2014/main" id="{28C8463E-88D7-AF09-3CE8-B54751EFF6F7}"/>
              </a:ext>
            </a:extLst>
          </p:cNvPr>
          <p:cNvSpPr txBox="1"/>
          <p:nvPr userDrawn="1">
            <p:extLst>
              <p:ext uri="{1162E1C5-73C7-4A58-AE30-91384D911F3F}">
                <p184:classification xmlns:p184="http://schemas.microsoft.com/office/powerpoint/2018/4/main" val="ftr"/>
              </p:ext>
            </p:extLst>
          </p:nvPr>
        </p:nvSpPr>
        <p:spPr>
          <a:xfrm>
            <a:off x="5616575" y="6657340"/>
            <a:ext cx="990600" cy="137160"/>
          </a:xfrm>
          <a:prstGeom prst="rect">
            <a:avLst/>
          </a:prstGeom>
        </p:spPr>
        <p:txBody>
          <a:bodyPr horzOverflow="overflow" lIns="0" tIns="0" rIns="0" bIns="0">
            <a:spAutoFit/>
          </a:bodyPr>
          <a:lstStyle/>
          <a:p>
            <a:pPr algn="l"/>
            <a:r>
              <a:rPr lang="nb-NO" sz="900">
                <a:solidFill>
                  <a:srgbClr val="A6A6A6">
                    <a:alpha val="50000"/>
                  </a:srgbClr>
                </a:solidFill>
                <a:latin typeface="Arial" panose="020B0604020202020204" pitchFamily="34" charset="0"/>
                <a:cs typeface="Arial" panose="020B0604020202020204" pitchFamily="34" charset="0"/>
              </a:rPr>
              <a:t>Sensitivity: Internal</a:t>
            </a:r>
          </a:p>
        </p:txBody>
      </p:sp>
    </p:spTree>
    <p:extLst>
      <p:ext uri="{BB962C8B-B14F-4D97-AF65-F5344CB8AC3E}">
        <p14:creationId xmlns:p14="http://schemas.microsoft.com/office/powerpoint/2010/main" val="33356115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73D0ADD4-6E5E-E365-BD1D-50784D400B44}"/>
              </a:ext>
            </a:extLst>
          </p:cNvPr>
          <p:cNvSpPr/>
          <p:nvPr/>
        </p:nvSpPr>
        <p:spPr>
          <a:xfrm>
            <a:off x="0" y="0"/>
            <a:ext cx="12192000" cy="6858000"/>
          </a:xfrm>
          <a:prstGeom prst="rect">
            <a:avLst/>
          </a:prstGeom>
          <a:solidFill>
            <a:srgbClr val="0A19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 name="Rektangel 2">
            <a:extLst>
              <a:ext uri="{FF2B5EF4-FFF2-40B4-BE49-F238E27FC236}">
                <a16:creationId xmlns:a16="http://schemas.microsoft.com/office/drawing/2014/main" id="{B60B1D0C-C170-9919-0354-586D77844F39}"/>
              </a:ext>
            </a:extLst>
          </p:cNvPr>
          <p:cNvSpPr/>
          <p:nvPr/>
        </p:nvSpPr>
        <p:spPr>
          <a:xfrm>
            <a:off x="571500" y="1460500"/>
            <a:ext cx="101600" cy="1841500"/>
          </a:xfrm>
          <a:prstGeom prst="rect">
            <a:avLst/>
          </a:prstGeom>
          <a:solidFill>
            <a:srgbClr val="00BE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4" name="TekstSylinder 3">
            <a:extLst>
              <a:ext uri="{FF2B5EF4-FFF2-40B4-BE49-F238E27FC236}">
                <a16:creationId xmlns:a16="http://schemas.microsoft.com/office/drawing/2014/main" id="{D7D394DD-1AB3-19DD-A2B5-D4428E1FEF0E}"/>
              </a:ext>
            </a:extLst>
          </p:cNvPr>
          <p:cNvSpPr txBox="1"/>
          <p:nvPr/>
        </p:nvSpPr>
        <p:spPr>
          <a:xfrm>
            <a:off x="889000" y="1333500"/>
            <a:ext cx="10668000" cy="523220"/>
          </a:xfrm>
          <a:prstGeom prst="rect">
            <a:avLst/>
          </a:prstGeom>
          <a:noFill/>
        </p:spPr>
        <p:txBody>
          <a:bodyPr vert="horz" wrap="square" rtlCol="0">
            <a:spAutoFit/>
          </a:bodyPr>
          <a:lstStyle/>
          <a:p>
            <a:r>
              <a:rPr lang="nb-NO" sz="2800" b="1">
                <a:solidFill>
                  <a:srgbClr val="FFFFFF"/>
                </a:solidFill>
                <a:latin typeface="Segoe UI" panose="020B0502040204020203" pitchFamily="34" charset="0"/>
              </a:rPr>
              <a:t>Salgsprosessen i Salesforce Lightning</a:t>
            </a:r>
          </a:p>
        </p:txBody>
      </p:sp>
      <p:sp>
        <p:nvSpPr>
          <p:cNvPr id="5" name="TekstSylinder 4">
            <a:extLst>
              <a:ext uri="{FF2B5EF4-FFF2-40B4-BE49-F238E27FC236}">
                <a16:creationId xmlns:a16="http://schemas.microsoft.com/office/drawing/2014/main" id="{B3E02771-559F-62B2-75B1-DAD25116D73D}"/>
              </a:ext>
            </a:extLst>
          </p:cNvPr>
          <p:cNvSpPr txBox="1"/>
          <p:nvPr/>
        </p:nvSpPr>
        <p:spPr>
          <a:xfrm>
            <a:off x="889000" y="1968500"/>
            <a:ext cx="10668000" cy="415498"/>
          </a:xfrm>
          <a:prstGeom prst="rect">
            <a:avLst/>
          </a:prstGeom>
          <a:noFill/>
        </p:spPr>
        <p:txBody>
          <a:bodyPr vert="horz" wrap="square" rtlCol="0">
            <a:spAutoFit/>
          </a:bodyPr>
          <a:lstStyle/>
          <a:p>
            <a:r>
              <a:rPr lang="nb-NO" sz="2100" b="1">
                <a:solidFill>
                  <a:srgbClr val="00BEF0"/>
                </a:solidFill>
                <a:latin typeface="Segoe UI" panose="020B0502040204020203" pitchFamily="34" charset="0"/>
              </a:rPr>
              <a:t>Forenkling av Partnerprosess (FPP &amp; B2B)</a:t>
            </a:r>
          </a:p>
        </p:txBody>
      </p:sp>
      <p:sp>
        <p:nvSpPr>
          <p:cNvPr id="6" name="TekstSylinder 5">
            <a:extLst>
              <a:ext uri="{FF2B5EF4-FFF2-40B4-BE49-F238E27FC236}">
                <a16:creationId xmlns:a16="http://schemas.microsoft.com/office/drawing/2014/main" id="{0CA74555-8DE3-DF9E-3D0B-FD440A075718}"/>
              </a:ext>
            </a:extLst>
          </p:cNvPr>
          <p:cNvSpPr txBox="1"/>
          <p:nvPr/>
        </p:nvSpPr>
        <p:spPr>
          <a:xfrm>
            <a:off x="889000" y="2984500"/>
            <a:ext cx="10668000" cy="477054"/>
          </a:xfrm>
          <a:prstGeom prst="rect">
            <a:avLst/>
          </a:prstGeom>
          <a:noFill/>
        </p:spPr>
        <p:txBody>
          <a:bodyPr vert="horz" wrap="square" rtlCol="0">
            <a:spAutoFit/>
          </a:bodyPr>
          <a:lstStyle/>
          <a:p>
            <a:r>
              <a:rPr lang="nb-NO" sz="1250">
                <a:solidFill>
                  <a:srgbClr val="E2E8F0"/>
                </a:solidFill>
                <a:latin typeface="Segoe UI" panose="020B0502040204020203" pitchFamily="34" charset="0"/>
              </a:rPr>
              <a:t>Standardisert samspill mellom Telenor Salg og Partnere: Fra Suspecting og Verdibasert Salg (VBS) til Quote, Digital Signering og Back-to-Back B2B-avtaler.</a:t>
            </a:r>
          </a:p>
        </p:txBody>
      </p:sp>
      <p:sp>
        <p:nvSpPr>
          <p:cNvPr id="7" name="Rektangel 6">
            <a:extLst>
              <a:ext uri="{FF2B5EF4-FFF2-40B4-BE49-F238E27FC236}">
                <a16:creationId xmlns:a16="http://schemas.microsoft.com/office/drawing/2014/main" id="{354E329C-F190-B1A0-1298-5AA179E1BDF3}"/>
              </a:ext>
            </a:extLst>
          </p:cNvPr>
          <p:cNvSpPr/>
          <p:nvPr/>
        </p:nvSpPr>
        <p:spPr>
          <a:xfrm>
            <a:off x="889000" y="4445000"/>
            <a:ext cx="3302000" cy="1206500"/>
          </a:xfrm>
          <a:prstGeom prst="rect">
            <a:avLst/>
          </a:prstGeom>
          <a:solidFill>
            <a:srgbClr val="112240"/>
          </a:solidFill>
          <a:ln w="15240">
            <a:solidFill>
              <a:srgbClr val="00BE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TekstSylinder 7">
            <a:extLst>
              <a:ext uri="{FF2B5EF4-FFF2-40B4-BE49-F238E27FC236}">
                <a16:creationId xmlns:a16="http://schemas.microsoft.com/office/drawing/2014/main" id="{B4252EC6-B261-D50C-6CA4-E73F4EDA1CDA}"/>
              </a:ext>
            </a:extLst>
          </p:cNvPr>
          <p:cNvSpPr txBox="1"/>
          <p:nvPr/>
        </p:nvSpPr>
        <p:spPr>
          <a:xfrm>
            <a:off x="1079500" y="4572000"/>
            <a:ext cx="2921000" cy="269304"/>
          </a:xfrm>
          <a:prstGeom prst="rect">
            <a:avLst/>
          </a:prstGeom>
          <a:noFill/>
        </p:spPr>
        <p:txBody>
          <a:bodyPr vert="horz" rtlCol="0">
            <a:spAutoFit/>
          </a:bodyPr>
          <a:lstStyle/>
          <a:p>
            <a:r>
              <a:rPr lang="nb-NO" sz="1150" b="1">
                <a:solidFill>
                  <a:srgbClr val="00BEF0"/>
                </a:solidFill>
                <a:latin typeface="Segoe UI" panose="020B0502040204020203" pitchFamily="34" charset="0"/>
              </a:rPr>
              <a:t>6-TRINNS SALGSFLYT</a:t>
            </a:r>
          </a:p>
        </p:txBody>
      </p:sp>
      <p:sp>
        <p:nvSpPr>
          <p:cNvPr id="9" name="TekstSylinder 8">
            <a:extLst>
              <a:ext uri="{FF2B5EF4-FFF2-40B4-BE49-F238E27FC236}">
                <a16:creationId xmlns:a16="http://schemas.microsoft.com/office/drawing/2014/main" id="{0CF137B7-536E-F58D-9410-D911CD6B2CA0}"/>
              </a:ext>
            </a:extLst>
          </p:cNvPr>
          <p:cNvSpPr txBox="1"/>
          <p:nvPr/>
        </p:nvSpPr>
        <p:spPr>
          <a:xfrm>
            <a:off x="1079500" y="4978400"/>
            <a:ext cx="2921000" cy="253916"/>
          </a:xfrm>
          <a:prstGeom prst="rect">
            <a:avLst/>
          </a:prstGeom>
          <a:noFill/>
        </p:spPr>
        <p:txBody>
          <a:bodyPr vert="horz" wrap="square" rtlCol="0">
            <a:spAutoFit/>
          </a:bodyPr>
          <a:lstStyle/>
          <a:p>
            <a:r>
              <a:rPr lang="nb-NO" sz="1050">
                <a:solidFill>
                  <a:srgbClr val="E2E8F0"/>
                </a:solidFill>
                <a:latin typeface="Segoe UI" panose="020B0502040204020203" pitchFamily="34" charset="0"/>
              </a:rPr>
              <a:t>Sømløs koordinering i Lightning</a:t>
            </a:r>
          </a:p>
        </p:txBody>
      </p:sp>
      <p:sp>
        <p:nvSpPr>
          <p:cNvPr id="10" name="Rektangel 9">
            <a:extLst>
              <a:ext uri="{FF2B5EF4-FFF2-40B4-BE49-F238E27FC236}">
                <a16:creationId xmlns:a16="http://schemas.microsoft.com/office/drawing/2014/main" id="{348576A5-A4E5-7D84-2B34-70DD0858D641}"/>
              </a:ext>
            </a:extLst>
          </p:cNvPr>
          <p:cNvSpPr/>
          <p:nvPr/>
        </p:nvSpPr>
        <p:spPr>
          <a:xfrm>
            <a:off x="4445000" y="4445000"/>
            <a:ext cx="3302000" cy="1206500"/>
          </a:xfrm>
          <a:prstGeom prst="rect">
            <a:avLst/>
          </a:prstGeom>
          <a:solidFill>
            <a:srgbClr val="112240"/>
          </a:solidFill>
          <a:ln w="15240">
            <a:solidFill>
              <a:srgbClr val="00BE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1" name="TekstSylinder 10">
            <a:extLst>
              <a:ext uri="{FF2B5EF4-FFF2-40B4-BE49-F238E27FC236}">
                <a16:creationId xmlns:a16="http://schemas.microsoft.com/office/drawing/2014/main" id="{8FE1C6F8-9CD1-37C0-BC90-9EFAE27C4F24}"/>
              </a:ext>
            </a:extLst>
          </p:cNvPr>
          <p:cNvSpPr txBox="1"/>
          <p:nvPr/>
        </p:nvSpPr>
        <p:spPr>
          <a:xfrm>
            <a:off x="4635500" y="4572000"/>
            <a:ext cx="2921000" cy="269304"/>
          </a:xfrm>
          <a:prstGeom prst="rect">
            <a:avLst/>
          </a:prstGeom>
          <a:noFill/>
        </p:spPr>
        <p:txBody>
          <a:bodyPr vert="horz" rtlCol="0">
            <a:spAutoFit/>
          </a:bodyPr>
          <a:lstStyle/>
          <a:p>
            <a:r>
              <a:rPr lang="nb-NO" sz="1150" b="1">
                <a:solidFill>
                  <a:srgbClr val="00BEF0"/>
                </a:solidFill>
                <a:latin typeface="Segoe UI" panose="020B0502040204020203" pitchFamily="34" charset="0"/>
              </a:rPr>
              <a:t>B2B KVALITETSSIKRING</a:t>
            </a:r>
          </a:p>
        </p:txBody>
      </p:sp>
      <p:sp>
        <p:nvSpPr>
          <p:cNvPr id="12" name="TekstSylinder 11">
            <a:extLst>
              <a:ext uri="{FF2B5EF4-FFF2-40B4-BE49-F238E27FC236}">
                <a16:creationId xmlns:a16="http://schemas.microsoft.com/office/drawing/2014/main" id="{23FB7101-76A9-EC8C-2FB6-8187000C56B2}"/>
              </a:ext>
            </a:extLst>
          </p:cNvPr>
          <p:cNvSpPr txBox="1"/>
          <p:nvPr/>
        </p:nvSpPr>
        <p:spPr>
          <a:xfrm>
            <a:off x="4635500" y="4978400"/>
            <a:ext cx="2921000" cy="253916"/>
          </a:xfrm>
          <a:prstGeom prst="rect">
            <a:avLst/>
          </a:prstGeom>
          <a:noFill/>
        </p:spPr>
        <p:txBody>
          <a:bodyPr vert="horz" wrap="square" rtlCol="0">
            <a:spAutoFit/>
          </a:bodyPr>
          <a:lstStyle/>
          <a:p>
            <a:r>
              <a:rPr lang="nb-NO" sz="1050">
                <a:solidFill>
                  <a:srgbClr val="E2E8F0"/>
                </a:solidFill>
                <a:latin typeface="Segoe UI" panose="020B0502040204020203" pitchFamily="34" charset="0"/>
              </a:rPr>
              <a:t>Back-to-Back &amp; direkte DPA</a:t>
            </a:r>
          </a:p>
        </p:txBody>
      </p:sp>
      <p:sp>
        <p:nvSpPr>
          <p:cNvPr id="13" name="Rektangel 12">
            <a:extLst>
              <a:ext uri="{FF2B5EF4-FFF2-40B4-BE49-F238E27FC236}">
                <a16:creationId xmlns:a16="http://schemas.microsoft.com/office/drawing/2014/main" id="{0FC98090-84B6-5A15-FA35-056A344C6BFA}"/>
              </a:ext>
            </a:extLst>
          </p:cNvPr>
          <p:cNvSpPr/>
          <p:nvPr/>
        </p:nvSpPr>
        <p:spPr>
          <a:xfrm>
            <a:off x="8001000" y="4445000"/>
            <a:ext cx="3302000" cy="1206500"/>
          </a:xfrm>
          <a:prstGeom prst="rect">
            <a:avLst/>
          </a:prstGeom>
          <a:solidFill>
            <a:srgbClr val="112240"/>
          </a:solidFill>
          <a:ln w="15240">
            <a:solidFill>
              <a:srgbClr val="00BE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4" name="TekstSylinder 13">
            <a:extLst>
              <a:ext uri="{FF2B5EF4-FFF2-40B4-BE49-F238E27FC236}">
                <a16:creationId xmlns:a16="http://schemas.microsoft.com/office/drawing/2014/main" id="{46A39932-503A-4B65-11D2-40FBFEAC8F9C}"/>
              </a:ext>
            </a:extLst>
          </p:cNvPr>
          <p:cNvSpPr txBox="1"/>
          <p:nvPr/>
        </p:nvSpPr>
        <p:spPr>
          <a:xfrm>
            <a:off x="8191500" y="4572000"/>
            <a:ext cx="2921000" cy="269304"/>
          </a:xfrm>
          <a:prstGeom prst="rect">
            <a:avLst/>
          </a:prstGeom>
          <a:noFill/>
        </p:spPr>
        <p:txBody>
          <a:bodyPr vert="horz" rtlCol="0">
            <a:spAutoFit/>
          </a:bodyPr>
          <a:lstStyle/>
          <a:p>
            <a:r>
              <a:rPr lang="nb-NO" sz="1150" b="1">
                <a:solidFill>
                  <a:srgbClr val="00BEF0"/>
                </a:solidFill>
                <a:latin typeface="Segoe UI" panose="020B0502040204020203" pitchFamily="34" charset="0"/>
              </a:rPr>
              <a:t>VBS &amp; KPI-STYRING</a:t>
            </a:r>
          </a:p>
        </p:txBody>
      </p:sp>
      <p:sp>
        <p:nvSpPr>
          <p:cNvPr id="15" name="TekstSylinder 14">
            <a:extLst>
              <a:ext uri="{FF2B5EF4-FFF2-40B4-BE49-F238E27FC236}">
                <a16:creationId xmlns:a16="http://schemas.microsoft.com/office/drawing/2014/main" id="{B67C168B-37FD-F17D-8E79-63E21C78B207}"/>
              </a:ext>
            </a:extLst>
          </p:cNvPr>
          <p:cNvSpPr txBox="1"/>
          <p:nvPr/>
        </p:nvSpPr>
        <p:spPr>
          <a:xfrm>
            <a:off x="8191500" y="4978400"/>
            <a:ext cx="2921000" cy="253916"/>
          </a:xfrm>
          <a:prstGeom prst="rect">
            <a:avLst/>
          </a:prstGeom>
          <a:noFill/>
        </p:spPr>
        <p:txBody>
          <a:bodyPr vert="horz" wrap="square" rtlCol="0">
            <a:spAutoFit/>
          </a:bodyPr>
          <a:lstStyle/>
          <a:p>
            <a:r>
              <a:rPr lang="nb-NO" sz="1050">
                <a:solidFill>
                  <a:srgbClr val="E2E8F0"/>
                </a:solidFill>
                <a:latin typeface="Segoe UI" panose="020B0502040204020203" pitchFamily="34" charset="0"/>
              </a:rPr>
              <a:t>Verdibasert metodikk &amp; vekst</a:t>
            </a:r>
          </a:p>
        </p:txBody>
      </p:sp>
      <p:sp>
        <p:nvSpPr>
          <p:cNvPr id="16" name="TekstSylinder 15">
            <a:extLst>
              <a:ext uri="{FF2B5EF4-FFF2-40B4-BE49-F238E27FC236}">
                <a16:creationId xmlns:a16="http://schemas.microsoft.com/office/drawing/2014/main" id="{01C6C44D-545E-021E-F279-D3F546943115}"/>
              </a:ext>
            </a:extLst>
          </p:cNvPr>
          <p:cNvSpPr txBox="1"/>
          <p:nvPr/>
        </p:nvSpPr>
        <p:spPr>
          <a:xfrm>
            <a:off x="889000" y="6159500"/>
            <a:ext cx="10414000" cy="238527"/>
          </a:xfrm>
          <a:prstGeom prst="rect">
            <a:avLst/>
          </a:prstGeom>
          <a:noFill/>
        </p:spPr>
        <p:txBody>
          <a:bodyPr vert="horz" rtlCol="0">
            <a:spAutoFit/>
          </a:bodyPr>
          <a:lstStyle/>
          <a:p>
            <a:r>
              <a:rPr lang="nb-NO" sz="950">
                <a:solidFill>
                  <a:srgbClr val="8CA0B9"/>
                </a:solidFill>
                <a:latin typeface="Segoe UI" panose="020B0502040204020203" pitchFamily="34" charset="0"/>
              </a:rPr>
              <a:t>Telenor Norge AS | Fleksibelt Partner Produkt (FPP) &amp; Business Partner Access (BPA)</a:t>
            </a:r>
          </a:p>
        </p:txBody>
      </p:sp>
    </p:spTree>
    <p:extLst>
      <p:ext uri="{BB962C8B-B14F-4D97-AF65-F5344CB8AC3E}">
        <p14:creationId xmlns:p14="http://schemas.microsoft.com/office/powerpoint/2010/main" val="25817260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F4AE521B-A4C7-07B3-DC46-E9AEDCD4D14C}"/>
              </a:ext>
            </a:extLst>
          </p:cNvPr>
          <p:cNvSpPr/>
          <p:nvPr/>
        </p:nvSpPr>
        <p:spPr>
          <a:xfrm>
            <a:off x="0" y="0"/>
            <a:ext cx="12192000" cy="6858000"/>
          </a:xfrm>
          <a:prstGeom prst="rect">
            <a:avLst/>
          </a:prstGeom>
          <a:solidFill>
            <a:srgbClr val="F8FA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 name="TekstSylinder 2">
            <a:extLst>
              <a:ext uri="{FF2B5EF4-FFF2-40B4-BE49-F238E27FC236}">
                <a16:creationId xmlns:a16="http://schemas.microsoft.com/office/drawing/2014/main" id="{179AB2BA-88BC-A1B3-380B-955BAC59BA95}"/>
              </a:ext>
            </a:extLst>
          </p:cNvPr>
          <p:cNvSpPr txBox="1"/>
          <p:nvPr/>
        </p:nvSpPr>
        <p:spPr>
          <a:xfrm>
            <a:off x="571500" y="254000"/>
            <a:ext cx="6350000" cy="153888"/>
          </a:xfrm>
          <a:prstGeom prst="rect">
            <a:avLst/>
          </a:prstGeom>
          <a:noFill/>
        </p:spPr>
        <p:txBody>
          <a:bodyPr vert="horz" wrap="square" lIns="0" tIns="0" rIns="0" bIns="0" rtlCol="0">
            <a:spAutoFit/>
          </a:bodyPr>
          <a:lstStyle/>
          <a:p>
            <a:r>
              <a:rPr lang="nb-NO" sz="1000" b="1">
                <a:solidFill>
                  <a:srgbClr val="0066FF"/>
                </a:solidFill>
                <a:latin typeface="Segoe UI" panose="020B0502040204020203" pitchFamily="34" charset="0"/>
              </a:rPr>
              <a:t>SAMHANDLING &amp; ROLLER</a:t>
            </a:r>
          </a:p>
        </p:txBody>
      </p:sp>
      <p:sp>
        <p:nvSpPr>
          <p:cNvPr id="4" name="TekstSylinder 3">
            <a:extLst>
              <a:ext uri="{FF2B5EF4-FFF2-40B4-BE49-F238E27FC236}">
                <a16:creationId xmlns:a16="http://schemas.microsoft.com/office/drawing/2014/main" id="{1E77821C-9AE7-2D56-F1BF-58A246E562CA}"/>
              </a:ext>
            </a:extLst>
          </p:cNvPr>
          <p:cNvSpPr txBox="1"/>
          <p:nvPr/>
        </p:nvSpPr>
        <p:spPr>
          <a:xfrm>
            <a:off x="571500" y="508000"/>
            <a:ext cx="11049000" cy="307777"/>
          </a:xfrm>
          <a:prstGeom prst="rect">
            <a:avLst/>
          </a:prstGeom>
          <a:noFill/>
        </p:spPr>
        <p:txBody>
          <a:bodyPr vert="horz" wrap="square" lIns="0" tIns="0" rIns="0" bIns="0" rtlCol="0">
            <a:spAutoFit/>
          </a:bodyPr>
          <a:lstStyle/>
          <a:p>
            <a:r>
              <a:rPr lang="nb-NO" sz="2000" b="1">
                <a:solidFill>
                  <a:srgbClr val="0F172A"/>
                </a:solidFill>
                <a:latin typeface="Segoe UI" panose="020B0502040204020203" pitchFamily="34" charset="0"/>
              </a:rPr>
              <a:t>Telenor Salg &amp; Partner: Tydelig Ansvars- og Rollefordeling</a:t>
            </a:r>
          </a:p>
        </p:txBody>
      </p:sp>
      <p:sp>
        <p:nvSpPr>
          <p:cNvPr id="5" name="TekstSylinder 4">
            <a:extLst>
              <a:ext uri="{FF2B5EF4-FFF2-40B4-BE49-F238E27FC236}">
                <a16:creationId xmlns:a16="http://schemas.microsoft.com/office/drawing/2014/main" id="{933577AA-F902-B5DE-9423-8B4D22C2B354}"/>
              </a:ext>
            </a:extLst>
          </p:cNvPr>
          <p:cNvSpPr txBox="1"/>
          <p:nvPr/>
        </p:nvSpPr>
        <p:spPr>
          <a:xfrm>
            <a:off x="571500" y="939800"/>
            <a:ext cx="11049000" cy="169277"/>
          </a:xfrm>
          <a:prstGeom prst="rect">
            <a:avLst/>
          </a:prstGeom>
          <a:noFill/>
        </p:spPr>
        <p:txBody>
          <a:bodyPr vert="horz" wrap="square" lIns="0" tIns="0" rIns="0" bIns="0" rtlCol="0">
            <a:spAutoFit/>
          </a:bodyPr>
          <a:lstStyle/>
          <a:p>
            <a:r>
              <a:rPr lang="nb-NO" sz="1100">
                <a:solidFill>
                  <a:srgbClr val="475569"/>
                </a:solidFill>
                <a:latin typeface="Segoe UI" panose="020B0502040204020203" pitchFamily="34" charset="0"/>
              </a:rPr>
              <a:t>Hvordan kundeansvarlig (KAM) og sertifisert partner utfyller hverandre gjennom hele salgstrakten</a:t>
            </a:r>
          </a:p>
        </p:txBody>
      </p:sp>
      <p:sp>
        <p:nvSpPr>
          <p:cNvPr id="6" name="Rektangel 5">
            <a:extLst>
              <a:ext uri="{FF2B5EF4-FFF2-40B4-BE49-F238E27FC236}">
                <a16:creationId xmlns:a16="http://schemas.microsoft.com/office/drawing/2014/main" id="{32587B7E-9381-C0BC-DED6-009640E249FA}"/>
              </a:ext>
            </a:extLst>
          </p:cNvPr>
          <p:cNvSpPr/>
          <p:nvPr/>
        </p:nvSpPr>
        <p:spPr>
          <a:xfrm>
            <a:off x="571500" y="1333500"/>
            <a:ext cx="3556000" cy="5016500"/>
          </a:xfrm>
          <a:prstGeom prst="rect">
            <a:avLst/>
          </a:prstGeom>
          <a:solidFill>
            <a:srgbClr val="FFFFFF"/>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7" name="Rektangel 6">
            <a:extLst>
              <a:ext uri="{FF2B5EF4-FFF2-40B4-BE49-F238E27FC236}">
                <a16:creationId xmlns:a16="http://schemas.microsoft.com/office/drawing/2014/main" id="{BD32470D-92A2-69A3-3123-D42B00C2C710}"/>
              </a:ext>
            </a:extLst>
          </p:cNvPr>
          <p:cNvSpPr/>
          <p:nvPr/>
        </p:nvSpPr>
        <p:spPr>
          <a:xfrm>
            <a:off x="571500" y="1333500"/>
            <a:ext cx="3556000" cy="533400"/>
          </a:xfrm>
          <a:prstGeom prst="rect">
            <a:avLst/>
          </a:prstGeom>
          <a:solidFill>
            <a:srgbClr val="0066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TekstSylinder 7">
            <a:extLst>
              <a:ext uri="{FF2B5EF4-FFF2-40B4-BE49-F238E27FC236}">
                <a16:creationId xmlns:a16="http://schemas.microsoft.com/office/drawing/2014/main" id="{E01306C9-AEA1-F5AA-4B1A-C5A5243AF86C}"/>
              </a:ext>
            </a:extLst>
          </p:cNvPr>
          <p:cNvSpPr txBox="1"/>
          <p:nvPr/>
        </p:nvSpPr>
        <p:spPr>
          <a:xfrm>
            <a:off x="698500" y="1435100"/>
            <a:ext cx="3302000" cy="269304"/>
          </a:xfrm>
          <a:prstGeom prst="rect">
            <a:avLst/>
          </a:prstGeom>
          <a:noFill/>
        </p:spPr>
        <p:txBody>
          <a:bodyPr vert="horz" rtlCol="0">
            <a:spAutoFit/>
          </a:bodyPr>
          <a:lstStyle/>
          <a:p>
            <a:r>
              <a:rPr lang="nb-NO" sz="1150" b="1">
                <a:solidFill>
                  <a:srgbClr val="FFFFFF"/>
                </a:solidFill>
                <a:latin typeface="Segoe UI" panose="020B0502040204020203" pitchFamily="34" charset="0"/>
              </a:rPr>
              <a:t>Telenor Salg (KAM / Selger)</a:t>
            </a:r>
          </a:p>
        </p:txBody>
      </p:sp>
      <p:sp>
        <p:nvSpPr>
          <p:cNvPr id="9" name="TekstSylinder 8">
            <a:extLst>
              <a:ext uri="{FF2B5EF4-FFF2-40B4-BE49-F238E27FC236}">
                <a16:creationId xmlns:a16="http://schemas.microsoft.com/office/drawing/2014/main" id="{7066553F-24A7-D5E7-F91B-17B28F91E823}"/>
              </a:ext>
            </a:extLst>
          </p:cNvPr>
          <p:cNvSpPr txBox="1"/>
          <p:nvPr/>
        </p:nvSpPr>
        <p:spPr>
          <a:xfrm>
            <a:off x="749300" y="1968500"/>
            <a:ext cx="3200400" cy="2723823"/>
          </a:xfrm>
          <a:prstGeom prst="rect">
            <a:avLst/>
          </a:prstGeom>
          <a:noFill/>
        </p:spPr>
        <p:txBody>
          <a:bodyPr vert="horz" wrap="square" lIns="0" rIns="0" rtlCol="0">
            <a:spAutoFit/>
          </a:bodyPr>
          <a:lstStyle/>
          <a:p>
            <a:r>
              <a:rPr lang="nb-NO" sz="950">
                <a:solidFill>
                  <a:srgbClr val="0F172A"/>
                </a:solidFill>
                <a:latin typeface="Segoe UI" panose="020B0502040204020203" pitchFamily="34" charset="0"/>
              </a:rPr>
              <a:t>• Opportunity: Oppretter i Salesforce med Revenue-verdi
• Kundebehov: Kartlegger beslutningstakere og initielle pains
• Partner-team: Inviterer Partner inn i Opportunity Team
• Quote: Oppretter Quote med FPP-partner og avtalte priser
• B2B-avtale: Signerer Back-to-Back ved kundespesifikke krav
• Kontrakt: Oppretter Contract og starter e-signering (BankID)
• Fakturering: Håndterer Telenor fakturering og kundeoppfølging</a:t>
            </a:r>
          </a:p>
        </p:txBody>
      </p:sp>
      <p:sp>
        <p:nvSpPr>
          <p:cNvPr id="10" name="Rektangel 9">
            <a:extLst>
              <a:ext uri="{FF2B5EF4-FFF2-40B4-BE49-F238E27FC236}">
                <a16:creationId xmlns:a16="http://schemas.microsoft.com/office/drawing/2014/main" id="{2D451497-3C43-38C7-D5B1-C4492CE60C0B}"/>
              </a:ext>
            </a:extLst>
          </p:cNvPr>
          <p:cNvSpPr/>
          <p:nvPr/>
        </p:nvSpPr>
        <p:spPr>
          <a:xfrm>
            <a:off x="4318000" y="1333500"/>
            <a:ext cx="3556000" cy="5016500"/>
          </a:xfrm>
          <a:prstGeom prst="rect">
            <a:avLst/>
          </a:prstGeom>
          <a:solidFill>
            <a:srgbClr val="FFFFFF"/>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1" name="Rektangel 10">
            <a:extLst>
              <a:ext uri="{FF2B5EF4-FFF2-40B4-BE49-F238E27FC236}">
                <a16:creationId xmlns:a16="http://schemas.microsoft.com/office/drawing/2014/main" id="{6F0B39FF-5B71-2D54-5E9D-2F3A57D3D39F}"/>
              </a:ext>
            </a:extLst>
          </p:cNvPr>
          <p:cNvSpPr/>
          <p:nvPr/>
        </p:nvSpPr>
        <p:spPr>
          <a:xfrm>
            <a:off x="4318000" y="1333500"/>
            <a:ext cx="3556000" cy="533400"/>
          </a:xfrm>
          <a:prstGeom prst="rect">
            <a:avLst/>
          </a:prstGeom>
          <a:solidFill>
            <a:srgbClr val="008CC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2" name="TekstSylinder 11">
            <a:extLst>
              <a:ext uri="{FF2B5EF4-FFF2-40B4-BE49-F238E27FC236}">
                <a16:creationId xmlns:a16="http://schemas.microsoft.com/office/drawing/2014/main" id="{9E87EF92-1D94-6012-2EC8-4B1C1F2E32B6}"/>
              </a:ext>
            </a:extLst>
          </p:cNvPr>
          <p:cNvSpPr txBox="1"/>
          <p:nvPr/>
        </p:nvSpPr>
        <p:spPr>
          <a:xfrm>
            <a:off x="4445000" y="1435100"/>
            <a:ext cx="3302000" cy="269304"/>
          </a:xfrm>
          <a:prstGeom prst="rect">
            <a:avLst/>
          </a:prstGeom>
          <a:noFill/>
        </p:spPr>
        <p:txBody>
          <a:bodyPr vert="horz" rtlCol="0">
            <a:spAutoFit/>
          </a:bodyPr>
          <a:lstStyle/>
          <a:p>
            <a:r>
              <a:rPr lang="nb-NO" sz="1150" b="1">
                <a:solidFill>
                  <a:srgbClr val="FFFFFF"/>
                </a:solidFill>
                <a:latin typeface="Segoe UI" panose="020B0502040204020203" pitchFamily="34" charset="0"/>
              </a:rPr>
              <a:t>Partner (Løsningsrådgiver)</a:t>
            </a:r>
          </a:p>
        </p:txBody>
      </p:sp>
      <p:sp>
        <p:nvSpPr>
          <p:cNvPr id="13" name="TekstSylinder 12">
            <a:extLst>
              <a:ext uri="{FF2B5EF4-FFF2-40B4-BE49-F238E27FC236}">
                <a16:creationId xmlns:a16="http://schemas.microsoft.com/office/drawing/2014/main" id="{7E56502E-E496-7856-FF72-380333F1705C}"/>
              </a:ext>
            </a:extLst>
          </p:cNvPr>
          <p:cNvSpPr txBox="1"/>
          <p:nvPr/>
        </p:nvSpPr>
        <p:spPr>
          <a:xfrm>
            <a:off x="4495800" y="1968500"/>
            <a:ext cx="3200400" cy="2285241"/>
          </a:xfrm>
          <a:prstGeom prst="rect">
            <a:avLst/>
          </a:prstGeom>
          <a:noFill/>
        </p:spPr>
        <p:txBody>
          <a:bodyPr vert="horz" wrap="square" lIns="0" rIns="0" rtlCol="0">
            <a:spAutoFit/>
          </a:bodyPr>
          <a:lstStyle/>
          <a:p>
            <a:r>
              <a:rPr lang="nb-NO" sz="950">
                <a:solidFill>
                  <a:srgbClr val="0F172A"/>
                </a:solidFill>
                <a:latin typeface="Segoe UI" panose="020B0502040204020203" pitchFamily="34" charset="0"/>
              </a:rPr>
              <a:t>• Lead-mottak: Mottar lead og igangsetter aktiv kundedialog
• Verdimøter: Samkjører hypoteser og gjennomfører kundemøter
• Tekniske krav: Kartlegger arkitektur, integrasjoner og mål
• Løsningsdesign: Visualiserer arkitektur og forretnings-ROI
• FPP-avtale: Fyller ut og kvalitetssikrer FPP Tjenesteavtale
• Personvern: Inngår direkte DPA (databehandleravtale)
• Produksjon: Igangsetter tjenesteleveranse og teknisk drift</a:t>
            </a:r>
          </a:p>
        </p:txBody>
      </p:sp>
      <p:sp>
        <p:nvSpPr>
          <p:cNvPr id="14" name="Rektangel 13">
            <a:extLst>
              <a:ext uri="{FF2B5EF4-FFF2-40B4-BE49-F238E27FC236}">
                <a16:creationId xmlns:a16="http://schemas.microsoft.com/office/drawing/2014/main" id="{AEF65E83-42F8-26C5-962F-A9F634A8E917}"/>
              </a:ext>
            </a:extLst>
          </p:cNvPr>
          <p:cNvSpPr/>
          <p:nvPr/>
        </p:nvSpPr>
        <p:spPr>
          <a:xfrm>
            <a:off x="8064500" y="1333500"/>
            <a:ext cx="3556000" cy="5016500"/>
          </a:xfrm>
          <a:prstGeom prst="rect">
            <a:avLst/>
          </a:prstGeom>
          <a:solidFill>
            <a:srgbClr val="FFFFFF"/>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5" name="Rektangel 14">
            <a:extLst>
              <a:ext uri="{FF2B5EF4-FFF2-40B4-BE49-F238E27FC236}">
                <a16:creationId xmlns:a16="http://schemas.microsoft.com/office/drawing/2014/main" id="{415E5D38-A5D3-2826-7FEF-55A60C66AC5E}"/>
              </a:ext>
            </a:extLst>
          </p:cNvPr>
          <p:cNvSpPr/>
          <p:nvPr/>
        </p:nvSpPr>
        <p:spPr>
          <a:xfrm>
            <a:off x="8064500" y="1333500"/>
            <a:ext cx="3556000" cy="533400"/>
          </a:xfrm>
          <a:prstGeom prst="rect">
            <a:avLst/>
          </a:prstGeom>
          <a:solidFill>
            <a:srgbClr val="1E29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6" name="TekstSylinder 15">
            <a:extLst>
              <a:ext uri="{FF2B5EF4-FFF2-40B4-BE49-F238E27FC236}">
                <a16:creationId xmlns:a16="http://schemas.microsoft.com/office/drawing/2014/main" id="{A52FD262-09F6-9D73-1819-FF43B8E77A6B}"/>
              </a:ext>
            </a:extLst>
          </p:cNvPr>
          <p:cNvSpPr txBox="1"/>
          <p:nvPr/>
        </p:nvSpPr>
        <p:spPr>
          <a:xfrm>
            <a:off x="8191500" y="1435100"/>
            <a:ext cx="3302000" cy="269304"/>
          </a:xfrm>
          <a:prstGeom prst="rect">
            <a:avLst/>
          </a:prstGeom>
          <a:noFill/>
        </p:spPr>
        <p:txBody>
          <a:bodyPr vert="horz" rtlCol="0">
            <a:spAutoFit/>
          </a:bodyPr>
          <a:lstStyle/>
          <a:p>
            <a:r>
              <a:rPr lang="nb-NO" sz="1150" b="1">
                <a:solidFill>
                  <a:srgbClr val="FFFFFF"/>
                </a:solidFill>
                <a:latin typeface="Segoe UI" panose="020B0502040204020203" pitchFamily="34" charset="0"/>
              </a:rPr>
              <a:t>Felles Ansvar &amp; Kunderelasjon</a:t>
            </a:r>
          </a:p>
        </p:txBody>
      </p:sp>
      <p:sp>
        <p:nvSpPr>
          <p:cNvPr id="17" name="TekstSylinder 16">
            <a:extLst>
              <a:ext uri="{FF2B5EF4-FFF2-40B4-BE49-F238E27FC236}">
                <a16:creationId xmlns:a16="http://schemas.microsoft.com/office/drawing/2014/main" id="{6685334A-A5A1-0859-BEE7-1222E7562DE1}"/>
              </a:ext>
            </a:extLst>
          </p:cNvPr>
          <p:cNvSpPr txBox="1"/>
          <p:nvPr/>
        </p:nvSpPr>
        <p:spPr>
          <a:xfrm>
            <a:off x="8242300" y="1968500"/>
            <a:ext cx="3200400" cy="2577629"/>
          </a:xfrm>
          <a:prstGeom prst="rect">
            <a:avLst/>
          </a:prstGeom>
          <a:noFill/>
        </p:spPr>
        <p:txBody>
          <a:bodyPr vert="horz" wrap="square" lIns="0" rIns="0" rtlCol="0">
            <a:spAutoFit/>
          </a:bodyPr>
          <a:lstStyle/>
          <a:p>
            <a:r>
              <a:rPr lang="nb-NO" sz="950">
                <a:solidFill>
                  <a:srgbClr val="0F172A"/>
                </a:solidFill>
                <a:latin typeface="Segoe UI" panose="020B0502040204020203" pitchFamily="34" charset="0"/>
              </a:rPr>
              <a:t>• Forankring: Felles verdiforslag overfor kundens ledelse
• Tett dialog: Kontinuerlig samhandling mellom KAM og Partner
• Juridisk sjekk: Sikre at alle kundekrav er speilet juridisk
• Pipeline: Gjensidig deling av status, fremdrift og prognoser
• Lost Review: Felles læring og evaluering ved tapte saker
• Kundevekst: Sikre SLA-etterlevelse, videreutvikling og ARPU
• Overlevering: Sømløs overgang fra salg til drift og forvaltning</a:t>
            </a:r>
          </a:p>
        </p:txBody>
      </p:sp>
    </p:spTree>
    <p:extLst>
      <p:ext uri="{BB962C8B-B14F-4D97-AF65-F5344CB8AC3E}">
        <p14:creationId xmlns:p14="http://schemas.microsoft.com/office/powerpoint/2010/main" val="6350458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88338D6A-D74F-7821-AAFB-2E5C8B7FEB9D}"/>
              </a:ext>
            </a:extLst>
          </p:cNvPr>
          <p:cNvSpPr/>
          <p:nvPr/>
        </p:nvSpPr>
        <p:spPr>
          <a:xfrm>
            <a:off x="0" y="0"/>
            <a:ext cx="12192000" cy="6858000"/>
          </a:xfrm>
          <a:prstGeom prst="rect">
            <a:avLst/>
          </a:prstGeom>
          <a:solidFill>
            <a:srgbClr val="F8FA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 name="TekstSylinder 2">
            <a:extLst>
              <a:ext uri="{FF2B5EF4-FFF2-40B4-BE49-F238E27FC236}">
                <a16:creationId xmlns:a16="http://schemas.microsoft.com/office/drawing/2014/main" id="{9B799B89-8CDD-855F-5AE5-024AB64A77B6}"/>
              </a:ext>
            </a:extLst>
          </p:cNvPr>
          <p:cNvSpPr txBox="1"/>
          <p:nvPr/>
        </p:nvSpPr>
        <p:spPr>
          <a:xfrm>
            <a:off x="571500" y="254000"/>
            <a:ext cx="6350000" cy="153888"/>
          </a:xfrm>
          <a:prstGeom prst="rect">
            <a:avLst/>
          </a:prstGeom>
          <a:noFill/>
        </p:spPr>
        <p:txBody>
          <a:bodyPr vert="horz" wrap="square" lIns="0" tIns="0" rIns="0" bIns="0" rtlCol="0">
            <a:spAutoFit/>
          </a:bodyPr>
          <a:lstStyle/>
          <a:p>
            <a:r>
              <a:rPr lang="nb-NO" sz="1000" b="1">
                <a:solidFill>
                  <a:srgbClr val="0066FF"/>
                </a:solidFill>
                <a:latin typeface="Segoe UI" panose="020B0502040204020203" pitchFamily="34" charset="0"/>
              </a:rPr>
              <a:t>HELHETLIG PROSESSFLYT</a:t>
            </a:r>
          </a:p>
        </p:txBody>
      </p:sp>
      <p:sp>
        <p:nvSpPr>
          <p:cNvPr id="4" name="TekstSylinder 3">
            <a:extLst>
              <a:ext uri="{FF2B5EF4-FFF2-40B4-BE49-F238E27FC236}">
                <a16:creationId xmlns:a16="http://schemas.microsoft.com/office/drawing/2014/main" id="{50E9A3A7-F538-F4C2-F82C-8BA5E9C5F9EA}"/>
              </a:ext>
            </a:extLst>
          </p:cNvPr>
          <p:cNvSpPr txBox="1"/>
          <p:nvPr/>
        </p:nvSpPr>
        <p:spPr>
          <a:xfrm>
            <a:off x="571500" y="508000"/>
            <a:ext cx="11049000" cy="307777"/>
          </a:xfrm>
          <a:prstGeom prst="rect">
            <a:avLst/>
          </a:prstGeom>
          <a:noFill/>
        </p:spPr>
        <p:txBody>
          <a:bodyPr vert="horz" wrap="square" lIns="0" tIns="0" rIns="0" bIns="0" rtlCol="0">
            <a:spAutoFit/>
          </a:bodyPr>
          <a:lstStyle/>
          <a:p>
            <a:r>
              <a:rPr lang="nb-NO" sz="2000" b="1">
                <a:solidFill>
                  <a:srgbClr val="0F172A"/>
                </a:solidFill>
                <a:latin typeface="Segoe UI" panose="020B0502040204020203" pitchFamily="34" charset="0"/>
              </a:rPr>
              <a:t>6 Standardiserte Steg i Salesforce Lightning</a:t>
            </a:r>
          </a:p>
        </p:txBody>
      </p:sp>
      <p:sp>
        <p:nvSpPr>
          <p:cNvPr id="5" name="TekstSylinder 4">
            <a:extLst>
              <a:ext uri="{FF2B5EF4-FFF2-40B4-BE49-F238E27FC236}">
                <a16:creationId xmlns:a16="http://schemas.microsoft.com/office/drawing/2014/main" id="{2A20C216-FE86-CDDB-0300-A9321AFDCCC4}"/>
              </a:ext>
            </a:extLst>
          </p:cNvPr>
          <p:cNvSpPr txBox="1"/>
          <p:nvPr/>
        </p:nvSpPr>
        <p:spPr>
          <a:xfrm>
            <a:off x="571500" y="939800"/>
            <a:ext cx="11049000" cy="169277"/>
          </a:xfrm>
          <a:prstGeom prst="rect">
            <a:avLst/>
          </a:prstGeom>
          <a:noFill/>
        </p:spPr>
        <p:txBody>
          <a:bodyPr vert="horz" wrap="square" lIns="0" tIns="0" rIns="0" bIns="0" rtlCol="0">
            <a:spAutoFit/>
          </a:bodyPr>
          <a:lstStyle/>
          <a:p>
            <a:r>
              <a:rPr lang="nb-NO" sz="1100">
                <a:solidFill>
                  <a:srgbClr val="475569"/>
                </a:solidFill>
                <a:latin typeface="Segoe UI" panose="020B0502040204020203" pitchFamily="34" charset="0"/>
              </a:rPr>
              <a:t>End-to-end salgstrakt fra første kundebehovsavklaring til signert kontrakt og produksjonssetting</a:t>
            </a:r>
          </a:p>
        </p:txBody>
      </p:sp>
      <p:sp>
        <p:nvSpPr>
          <p:cNvPr id="6" name="Rektangel 5">
            <a:extLst>
              <a:ext uri="{FF2B5EF4-FFF2-40B4-BE49-F238E27FC236}">
                <a16:creationId xmlns:a16="http://schemas.microsoft.com/office/drawing/2014/main" id="{3A651E78-F6BB-929C-4DFC-2E1BBD6FFCAA}"/>
              </a:ext>
            </a:extLst>
          </p:cNvPr>
          <p:cNvSpPr/>
          <p:nvPr/>
        </p:nvSpPr>
        <p:spPr>
          <a:xfrm>
            <a:off x="571500" y="1397000"/>
            <a:ext cx="1778000" cy="3048000"/>
          </a:xfrm>
          <a:prstGeom prst="rect">
            <a:avLst/>
          </a:prstGeom>
          <a:solidFill>
            <a:srgbClr val="FFFFFF"/>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7" name="Ellipse 6">
            <a:extLst>
              <a:ext uri="{FF2B5EF4-FFF2-40B4-BE49-F238E27FC236}">
                <a16:creationId xmlns:a16="http://schemas.microsoft.com/office/drawing/2014/main" id="{A4736DC8-D870-887D-6BC8-2AF28BA399AB}"/>
              </a:ext>
            </a:extLst>
          </p:cNvPr>
          <p:cNvSpPr/>
          <p:nvPr/>
        </p:nvSpPr>
        <p:spPr>
          <a:xfrm>
            <a:off x="698500" y="1524000"/>
            <a:ext cx="330200" cy="330200"/>
          </a:xfrm>
          <a:prstGeom prst="ellipse">
            <a:avLst/>
          </a:prstGeom>
          <a:solidFill>
            <a:srgbClr val="0066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TekstSylinder 7">
            <a:extLst>
              <a:ext uri="{FF2B5EF4-FFF2-40B4-BE49-F238E27FC236}">
                <a16:creationId xmlns:a16="http://schemas.microsoft.com/office/drawing/2014/main" id="{4CBF9CB0-3744-2560-7B19-038E51AA33E9}"/>
              </a:ext>
            </a:extLst>
          </p:cNvPr>
          <p:cNvSpPr txBox="1"/>
          <p:nvPr/>
        </p:nvSpPr>
        <p:spPr>
          <a:xfrm>
            <a:off x="698500" y="1549400"/>
            <a:ext cx="330200" cy="261610"/>
          </a:xfrm>
          <a:prstGeom prst="rect">
            <a:avLst/>
          </a:prstGeom>
          <a:noFill/>
        </p:spPr>
        <p:txBody>
          <a:bodyPr vert="horz" rtlCol="0">
            <a:spAutoFit/>
          </a:bodyPr>
          <a:lstStyle/>
          <a:p>
            <a:pPr algn="ctr"/>
            <a:r>
              <a:rPr lang="nb-NO" sz="1100" b="1">
                <a:solidFill>
                  <a:srgbClr val="FFFFFF"/>
                </a:solidFill>
                <a:latin typeface="Segoe UI" panose="020B0502040204020203" pitchFamily="34" charset="0"/>
              </a:rPr>
              <a:t>1</a:t>
            </a:r>
          </a:p>
        </p:txBody>
      </p:sp>
      <p:sp>
        <p:nvSpPr>
          <p:cNvPr id="9" name="TekstSylinder 8">
            <a:extLst>
              <a:ext uri="{FF2B5EF4-FFF2-40B4-BE49-F238E27FC236}">
                <a16:creationId xmlns:a16="http://schemas.microsoft.com/office/drawing/2014/main" id="{7E541587-D69F-7535-6592-C25C5023ED9A}"/>
              </a:ext>
            </a:extLst>
          </p:cNvPr>
          <p:cNvSpPr txBox="1"/>
          <p:nvPr/>
        </p:nvSpPr>
        <p:spPr>
          <a:xfrm>
            <a:off x="698500" y="1930400"/>
            <a:ext cx="1524000" cy="261610"/>
          </a:xfrm>
          <a:prstGeom prst="rect">
            <a:avLst/>
          </a:prstGeom>
          <a:noFill/>
        </p:spPr>
        <p:txBody>
          <a:bodyPr vert="horz" wrap="square" lIns="0" rtlCol="0">
            <a:spAutoFit/>
          </a:bodyPr>
          <a:lstStyle/>
          <a:p>
            <a:r>
              <a:rPr lang="nb-NO" sz="1100" b="1">
                <a:solidFill>
                  <a:srgbClr val="0F172A"/>
                </a:solidFill>
                <a:latin typeface="Segoe UI" panose="020B0502040204020203" pitchFamily="34" charset="0"/>
              </a:rPr>
              <a:t>Suspecting</a:t>
            </a:r>
          </a:p>
        </p:txBody>
      </p:sp>
      <p:sp>
        <p:nvSpPr>
          <p:cNvPr id="10" name="TekstSylinder 9">
            <a:extLst>
              <a:ext uri="{FF2B5EF4-FFF2-40B4-BE49-F238E27FC236}">
                <a16:creationId xmlns:a16="http://schemas.microsoft.com/office/drawing/2014/main" id="{21B7E6A6-784B-37AF-84FA-90F65648DAD6}"/>
              </a:ext>
            </a:extLst>
          </p:cNvPr>
          <p:cNvSpPr txBox="1"/>
          <p:nvPr/>
        </p:nvSpPr>
        <p:spPr>
          <a:xfrm>
            <a:off x="698500" y="2413000"/>
            <a:ext cx="1524000" cy="223138"/>
          </a:xfrm>
          <a:prstGeom prst="rect">
            <a:avLst/>
          </a:prstGeom>
          <a:noFill/>
        </p:spPr>
        <p:txBody>
          <a:bodyPr vert="horz" wrap="square" lIns="0" rtlCol="0">
            <a:spAutoFit/>
          </a:bodyPr>
          <a:lstStyle/>
          <a:p>
            <a:r>
              <a:rPr lang="nb-NO" sz="850" b="1">
                <a:solidFill>
                  <a:srgbClr val="0066FF"/>
                </a:solidFill>
                <a:latin typeface="Segoe UI" panose="020B0502040204020203" pitchFamily="34" charset="0"/>
              </a:rPr>
              <a:t>Ansvar: Telenor / Partner</a:t>
            </a:r>
          </a:p>
        </p:txBody>
      </p:sp>
      <p:sp>
        <p:nvSpPr>
          <p:cNvPr id="11" name="TekstSylinder 10">
            <a:extLst>
              <a:ext uri="{FF2B5EF4-FFF2-40B4-BE49-F238E27FC236}">
                <a16:creationId xmlns:a16="http://schemas.microsoft.com/office/drawing/2014/main" id="{8FE16BCD-87D2-0C11-ED69-70A87AE36F6C}"/>
              </a:ext>
            </a:extLst>
          </p:cNvPr>
          <p:cNvSpPr txBox="1"/>
          <p:nvPr/>
        </p:nvSpPr>
        <p:spPr>
          <a:xfrm>
            <a:off x="698500" y="2819400"/>
            <a:ext cx="1524000" cy="353943"/>
          </a:xfrm>
          <a:prstGeom prst="rect">
            <a:avLst/>
          </a:prstGeom>
          <a:noFill/>
        </p:spPr>
        <p:txBody>
          <a:bodyPr vert="horz" wrap="square" lIns="0" rtlCol="0">
            <a:spAutoFit/>
          </a:bodyPr>
          <a:lstStyle/>
          <a:p>
            <a:r>
              <a:rPr lang="nb-NO" sz="850">
                <a:solidFill>
                  <a:srgbClr val="475569"/>
                </a:solidFill>
                <a:latin typeface="Segoe UI" panose="020B0502040204020203" pitchFamily="34" charset="0"/>
              </a:rPr>
              <a:t>Opprette Opportunity &amp; sette Revenue-verdi i kroner</a:t>
            </a:r>
          </a:p>
        </p:txBody>
      </p:sp>
      <p:sp>
        <p:nvSpPr>
          <p:cNvPr id="12" name="Rektangel 11">
            <a:extLst>
              <a:ext uri="{FF2B5EF4-FFF2-40B4-BE49-F238E27FC236}">
                <a16:creationId xmlns:a16="http://schemas.microsoft.com/office/drawing/2014/main" id="{AA617824-F47E-4E67-8B73-FCEEEB955A77}"/>
              </a:ext>
            </a:extLst>
          </p:cNvPr>
          <p:cNvSpPr/>
          <p:nvPr/>
        </p:nvSpPr>
        <p:spPr>
          <a:xfrm>
            <a:off x="2438400" y="1397000"/>
            <a:ext cx="1778000" cy="3048000"/>
          </a:xfrm>
          <a:prstGeom prst="rect">
            <a:avLst/>
          </a:prstGeom>
          <a:solidFill>
            <a:srgbClr val="FFFFFF"/>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3" name="Ellipse 12">
            <a:extLst>
              <a:ext uri="{FF2B5EF4-FFF2-40B4-BE49-F238E27FC236}">
                <a16:creationId xmlns:a16="http://schemas.microsoft.com/office/drawing/2014/main" id="{07D8B162-EB59-473D-2879-52F5A2C7FF27}"/>
              </a:ext>
            </a:extLst>
          </p:cNvPr>
          <p:cNvSpPr/>
          <p:nvPr/>
        </p:nvSpPr>
        <p:spPr>
          <a:xfrm>
            <a:off x="2565400" y="1524000"/>
            <a:ext cx="330200" cy="330200"/>
          </a:xfrm>
          <a:prstGeom prst="ellipse">
            <a:avLst/>
          </a:prstGeom>
          <a:solidFill>
            <a:srgbClr val="0066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4" name="TekstSylinder 13">
            <a:extLst>
              <a:ext uri="{FF2B5EF4-FFF2-40B4-BE49-F238E27FC236}">
                <a16:creationId xmlns:a16="http://schemas.microsoft.com/office/drawing/2014/main" id="{A19918AB-4D7A-0D82-850A-57F71D55A0C3}"/>
              </a:ext>
            </a:extLst>
          </p:cNvPr>
          <p:cNvSpPr txBox="1"/>
          <p:nvPr/>
        </p:nvSpPr>
        <p:spPr>
          <a:xfrm>
            <a:off x="2565400" y="1549400"/>
            <a:ext cx="330200" cy="261610"/>
          </a:xfrm>
          <a:prstGeom prst="rect">
            <a:avLst/>
          </a:prstGeom>
          <a:noFill/>
        </p:spPr>
        <p:txBody>
          <a:bodyPr vert="horz" rtlCol="0">
            <a:spAutoFit/>
          </a:bodyPr>
          <a:lstStyle/>
          <a:p>
            <a:pPr algn="ctr"/>
            <a:r>
              <a:rPr lang="nb-NO" sz="1100" b="1">
                <a:solidFill>
                  <a:srgbClr val="FFFFFF"/>
                </a:solidFill>
                <a:latin typeface="Segoe UI" panose="020B0502040204020203" pitchFamily="34" charset="0"/>
              </a:rPr>
              <a:t>2</a:t>
            </a:r>
          </a:p>
        </p:txBody>
      </p:sp>
      <p:sp>
        <p:nvSpPr>
          <p:cNvPr id="15" name="TekstSylinder 14">
            <a:extLst>
              <a:ext uri="{FF2B5EF4-FFF2-40B4-BE49-F238E27FC236}">
                <a16:creationId xmlns:a16="http://schemas.microsoft.com/office/drawing/2014/main" id="{72953111-8249-BA66-7BB1-1B6F3952E1B9}"/>
              </a:ext>
            </a:extLst>
          </p:cNvPr>
          <p:cNvSpPr txBox="1"/>
          <p:nvPr/>
        </p:nvSpPr>
        <p:spPr>
          <a:xfrm>
            <a:off x="2565400" y="1930400"/>
            <a:ext cx="1524000" cy="261610"/>
          </a:xfrm>
          <a:prstGeom prst="rect">
            <a:avLst/>
          </a:prstGeom>
          <a:noFill/>
        </p:spPr>
        <p:txBody>
          <a:bodyPr vert="horz" wrap="square" lIns="0" rtlCol="0">
            <a:spAutoFit/>
          </a:bodyPr>
          <a:lstStyle/>
          <a:p>
            <a:r>
              <a:rPr lang="nb-NO" sz="1100" b="1">
                <a:solidFill>
                  <a:srgbClr val="0F172A"/>
                </a:solidFill>
                <a:latin typeface="Segoe UI" panose="020B0502040204020203" pitchFamily="34" charset="0"/>
              </a:rPr>
              <a:t>Prospecting</a:t>
            </a:r>
          </a:p>
        </p:txBody>
      </p:sp>
      <p:sp>
        <p:nvSpPr>
          <p:cNvPr id="16" name="TekstSylinder 15">
            <a:extLst>
              <a:ext uri="{FF2B5EF4-FFF2-40B4-BE49-F238E27FC236}">
                <a16:creationId xmlns:a16="http://schemas.microsoft.com/office/drawing/2014/main" id="{F1CDBBF2-781B-ACB4-CD76-DEEA60C1B662}"/>
              </a:ext>
            </a:extLst>
          </p:cNvPr>
          <p:cNvSpPr txBox="1"/>
          <p:nvPr/>
        </p:nvSpPr>
        <p:spPr>
          <a:xfrm>
            <a:off x="2565400" y="2413000"/>
            <a:ext cx="1524000" cy="223138"/>
          </a:xfrm>
          <a:prstGeom prst="rect">
            <a:avLst/>
          </a:prstGeom>
          <a:noFill/>
        </p:spPr>
        <p:txBody>
          <a:bodyPr vert="horz" wrap="square" lIns="0" rtlCol="0">
            <a:spAutoFit/>
          </a:bodyPr>
          <a:lstStyle/>
          <a:p>
            <a:r>
              <a:rPr lang="nb-NO" sz="850" b="1">
                <a:solidFill>
                  <a:srgbClr val="0066FF"/>
                </a:solidFill>
                <a:latin typeface="Segoe UI" panose="020B0502040204020203" pitchFamily="34" charset="0"/>
              </a:rPr>
              <a:t>Ansvar: Telenor / Partner</a:t>
            </a:r>
          </a:p>
        </p:txBody>
      </p:sp>
      <p:sp>
        <p:nvSpPr>
          <p:cNvPr id="17" name="TekstSylinder 16">
            <a:extLst>
              <a:ext uri="{FF2B5EF4-FFF2-40B4-BE49-F238E27FC236}">
                <a16:creationId xmlns:a16="http://schemas.microsoft.com/office/drawing/2014/main" id="{BC1269BE-BB81-D85F-8F19-0067A9133357}"/>
              </a:ext>
            </a:extLst>
          </p:cNvPr>
          <p:cNvSpPr txBox="1"/>
          <p:nvPr/>
        </p:nvSpPr>
        <p:spPr>
          <a:xfrm>
            <a:off x="2565400" y="2819400"/>
            <a:ext cx="1524000" cy="353943"/>
          </a:xfrm>
          <a:prstGeom prst="rect">
            <a:avLst/>
          </a:prstGeom>
          <a:noFill/>
        </p:spPr>
        <p:txBody>
          <a:bodyPr vert="horz" wrap="square" lIns="0" rtlCol="0">
            <a:spAutoFit/>
          </a:bodyPr>
          <a:lstStyle/>
          <a:p>
            <a:r>
              <a:rPr lang="nb-NO" sz="850">
                <a:solidFill>
                  <a:srgbClr val="475569"/>
                </a:solidFill>
                <a:latin typeface="Segoe UI" panose="020B0502040204020203" pitchFamily="34" charset="0"/>
              </a:rPr>
              <a:t>Oppdatere Opportunity Team &amp; booke verdimøte</a:t>
            </a:r>
          </a:p>
        </p:txBody>
      </p:sp>
      <p:sp>
        <p:nvSpPr>
          <p:cNvPr id="18" name="Rektangel 17">
            <a:extLst>
              <a:ext uri="{FF2B5EF4-FFF2-40B4-BE49-F238E27FC236}">
                <a16:creationId xmlns:a16="http://schemas.microsoft.com/office/drawing/2014/main" id="{2B98C183-43E4-7630-BF89-37212F55522C}"/>
              </a:ext>
            </a:extLst>
          </p:cNvPr>
          <p:cNvSpPr/>
          <p:nvPr/>
        </p:nvSpPr>
        <p:spPr>
          <a:xfrm>
            <a:off x="4305300" y="1397000"/>
            <a:ext cx="1778000" cy="3048000"/>
          </a:xfrm>
          <a:prstGeom prst="rect">
            <a:avLst/>
          </a:prstGeom>
          <a:solidFill>
            <a:srgbClr val="FFFFFF"/>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9" name="Ellipse 18">
            <a:extLst>
              <a:ext uri="{FF2B5EF4-FFF2-40B4-BE49-F238E27FC236}">
                <a16:creationId xmlns:a16="http://schemas.microsoft.com/office/drawing/2014/main" id="{F9168E52-123A-392E-9ED6-7240DB0091E3}"/>
              </a:ext>
            </a:extLst>
          </p:cNvPr>
          <p:cNvSpPr/>
          <p:nvPr/>
        </p:nvSpPr>
        <p:spPr>
          <a:xfrm>
            <a:off x="4432300" y="1524000"/>
            <a:ext cx="330200" cy="330200"/>
          </a:xfrm>
          <a:prstGeom prst="ellipse">
            <a:avLst/>
          </a:prstGeom>
          <a:solidFill>
            <a:srgbClr val="008CC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0" name="TekstSylinder 19">
            <a:extLst>
              <a:ext uri="{FF2B5EF4-FFF2-40B4-BE49-F238E27FC236}">
                <a16:creationId xmlns:a16="http://schemas.microsoft.com/office/drawing/2014/main" id="{DEE6C61A-159D-6182-4844-B73556719DDE}"/>
              </a:ext>
            </a:extLst>
          </p:cNvPr>
          <p:cNvSpPr txBox="1"/>
          <p:nvPr/>
        </p:nvSpPr>
        <p:spPr>
          <a:xfrm>
            <a:off x="4432300" y="1549400"/>
            <a:ext cx="330200" cy="261610"/>
          </a:xfrm>
          <a:prstGeom prst="rect">
            <a:avLst/>
          </a:prstGeom>
          <a:noFill/>
        </p:spPr>
        <p:txBody>
          <a:bodyPr vert="horz" rtlCol="0">
            <a:spAutoFit/>
          </a:bodyPr>
          <a:lstStyle/>
          <a:p>
            <a:pPr algn="ctr"/>
            <a:r>
              <a:rPr lang="nb-NO" sz="1100" b="1">
                <a:solidFill>
                  <a:srgbClr val="FFFFFF"/>
                </a:solidFill>
                <a:latin typeface="Segoe UI" panose="020B0502040204020203" pitchFamily="34" charset="0"/>
              </a:rPr>
              <a:t>3</a:t>
            </a:r>
          </a:p>
        </p:txBody>
      </p:sp>
      <p:sp>
        <p:nvSpPr>
          <p:cNvPr id="21" name="TekstSylinder 20">
            <a:extLst>
              <a:ext uri="{FF2B5EF4-FFF2-40B4-BE49-F238E27FC236}">
                <a16:creationId xmlns:a16="http://schemas.microsoft.com/office/drawing/2014/main" id="{7B267DD0-1337-12B4-B325-0647858018EC}"/>
              </a:ext>
            </a:extLst>
          </p:cNvPr>
          <p:cNvSpPr txBox="1"/>
          <p:nvPr/>
        </p:nvSpPr>
        <p:spPr>
          <a:xfrm>
            <a:off x="4432300" y="1930400"/>
            <a:ext cx="1524000" cy="261610"/>
          </a:xfrm>
          <a:prstGeom prst="rect">
            <a:avLst/>
          </a:prstGeom>
          <a:noFill/>
        </p:spPr>
        <p:txBody>
          <a:bodyPr vert="horz" wrap="square" lIns="0" rtlCol="0">
            <a:spAutoFit/>
          </a:bodyPr>
          <a:lstStyle/>
          <a:p>
            <a:r>
              <a:rPr lang="nb-NO" sz="1100" b="1">
                <a:solidFill>
                  <a:srgbClr val="0F172A"/>
                </a:solidFill>
                <a:latin typeface="Segoe UI" panose="020B0502040204020203" pitchFamily="34" charset="0"/>
              </a:rPr>
              <a:t>Kvalifisering</a:t>
            </a:r>
          </a:p>
        </p:txBody>
      </p:sp>
      <p:sp>
        <p:nvSpPr>
          <p:cNvPr id="22" name="TekstSylinder 21">
            <a:extLst>
              <a:ext uri="{FF2B5EF4-FFF2-40B4-BE49-F238E27FC236}">
                <a16:creationId xmlns:a16="http://schemas.microsoft.com/office/drawing/2014/main" id="{B2FA2E0D-36FF-0216-8E88-B49D264B3E5D}"/>
              </a:ext>
            </a:extLst>
          </p:cNvPr>
          <p:cNvSpPr txBox="1"/>
          <p:nvPr/>
        </p:nvSpPr>
        <p:spPr>
          <a:xfrm>
            <a:off x="4432300" y="2413000"/>
            <a:ext cx="1524000" cy="353943"/>
          </a:xfrm>
          <a:prstGeom prst="rect">
            <a:avLst/>
          </a:prstGeom>
          <a:noFill/>
        </p:spPr>
        <p:txBody>
          <a:bodyPr vert="horz" wrap="square" lIns="0" rtlCol="0">
            <a:spAutoFit/>
          </a:bodyPr>
          <a:lstStyle/>
          <a:p>
            <a:r>
              <a:rPr lang="nb-NO" sz="850" b="1">
                <a:solidFill>
                  <a:srgbClr val="0066FF"/>
                </a:solidFill>
                <a:latin typeface="Segoe UI" panose="020B0502040204020203" pitchFamily="34" charset="0"/>
              </a:rPr>
              <a:t>Ansvar: Partner (Løsningsrådgiver)</a:t>
            </a:r>
          </a:p>
        </p:txBody>
      </p:sp>
      <p:sp>
        <p:nvSpPr>
          <p:cNvPr id="23" name="TekstSylinder 22">
            <a:extLst>
              <a:ext uri="{FF2B5EF4-FFF2-40B4-BE49-F238E27FC236}">
                <a16:creationId xmlns:a16="http://schemas.microsoft.com/office/drawing/2014/main" id="{BBC960C7-2E2D-1DE1-F74E-F28439E574E0}"/>
              </a:ext>
            </a:extLst>
          </p:cNvPr>
          <p:cNvSpPr txBox="1"/>
          <p:nvPr/>
        </p:nvSpPr>
        <p:spPr>
          <a:xfrm>
            <a:off x="4432300" y="2819400"/>
            <a:ext cx="1524000" cy="353943"/>
          </a:xfrm>
          <a:prstGeom prst="rect">
            <a:avLst/>
          </a:prstGeom>
          <a:noFill/>
        </p:spPr>
        <p:txBody>
          <a:bodyPr vert="horz" wrap="square" lIns="0" rtlCol="0">
            <a:spAutoFit/>
          </a:bodyPr>
          <a:lstStyle/>
          <a:p>
            <a:r>
              <a:rPr lang="nb-NO" sz="850">
                <a:solidFill>
                  <a:srgbClr val="475569"/>
                </a:solidFill>
                <a:latin typeface="Segoe UI" panose="020B0502040204020203" pitchFamily="34" charset="0"/>
              </a:rPr>
              <a:t>Workshops, arkitektur, ROI &amp; FPP Tjenesteavtale</a:t>
            </a:r>
          </a:p>
        </p:txBody>
      </p:sp>
      <p:sp>
        <p:nvSpPr>
          <p:cNvPr id="24" name="Rektangel 23">
            <a:extLst>
              <a:ext uri="{FF2B5EF4-FFF2-40B4-BE49-F238E27FC236}">
                <a16:creationId xmlns:a16="http://schemas.microsoft.com/office/drawing/2014/main" id="{E3698EF0-C331-BB7A-3439-BDE9FBEE57F2}"/>
              </a:ext>
            </a:extLst>
          </p:cNvPr>
          <p:cNvSpPr/>
          <p:nvPr/>
        </p:nvSpPr>
        <p:spPr>
          <a:xfrm>
            <a:off x="6172200" y="1397000"/>
            <a:ext cx="1778000" cy="3048000"/>
          </a:xfrm>
          <a:prstGeom prst="rect">
            <a:avLst/>
          </a:prstGeom>
          <a:solidFill>
            <a:srgbClr val="FFFFFF"/>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5" name="Ellipse 24">
            <a:extLst>
              <a:ext uri="{FF2B5EF4-FFF2-40B4-BE49-F238E27FC236}">
                <a16:creationId xmlns:a16="http://schemas.microsoft.com/office/drawing/2014/main" id="{FC7AEF00-08FD-790D-7EC9-AFACC9DB9D44}"/>
              </a:ext>
            </a:extLst>
          </p:cNvPr>
          <p:cNvSpPr/>
          <p:nvPr/>
        </p:nvSpPr>
        <p:spPr>
          <a:xfrm>
            <a:off x="6299200" y="1524000"/>
            <a:ext cx="330200" cy="330200"/>
          </a:xfrm>
          <a:prstGeom prst="ellipse">
            <a:avLst/>
          </a:prstGeom>
          <a:solidFill>
            <a:srgbClr val="D9770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6" name="TekstSylinder 25">
            <a:extLst>
              <a:ext uri="{FF2B5EF4-FFF2-40B4-BE49-F238E27FC236}">
                <a16:creationId xmlns:a16="http://schemas.microsoft.com/office/drawing/2014/main" id="{F0055BC5-F3BF-3716-05D0-E0397FF2872C}"/>
              </a:ext>
            </a:extLst>
          </p:cNvPr>
          <p:cNvSpPr txBox="1"/>
          <p:nvPr/>
        </p:nvSpPr>
        <p:spPr>
          <a:xfrm>
            <a:off x="6299200" y="1549400"/>
            <a:ext cx="330200" cy="261610"/>
          </a:xfrm>
          <a:prstGeom prst="rect">
            <a:avLst/>
          </a:prstGeom>
          <a:noFill/>
        </p:spPr>
        <p:txBody>
          <a:bodyPr vert="horz" rtlCol="0">
            <a:spAutoFit/>
          </a:bodyPr>
          <a:lstStyle/>
          <a:p>
            <a:pPr algn="ctr"/>
            <a:r>
              <a:rPr lang="nb-NO" sz="1100" b="1">
                <a:solidFill>
                  <a:srgbClr val="FFFFFF"/>
                </a:solidFill>
                <a:latin typeface="Segoe UI" panose="020B0502040204020203" pitchFamily="34" charset="0"/>
              </a:rPr>
              <a:t>4</a:t>
            </a:r>
          </a:p>
        </p:txBody>
      </p:sp>
      <p:sp>
        <p:nvSpPr>
          <p:cNvPr id="27" name="TekstSylinder 26">
            <a:extLst>
              <a:ext uri="{FF2B5EF4-FFF2-40B4-BE49-F238E27FC236}">
                <a16:creationId xmlns:a16="http://schemas.microsoft.com/office/drawing/2014/main" id="{458EB73C-59B1-A301-334B-8FDEE418FBBE}"/>
              </a:ext>
            </a:extLst>
          </p:cNvPr>
          <p:cNvSpPr txBox="1"/>
          <p:nvPr/>
        </p:nvSpPr>
        <p:spPr>
          <a:xfrm>
            <a:off x="6299200" y="1930400"/>
            <a:ext cx="1524000" cy="430887"/>
          </a:xfrm>
          <a:prstGeom prst="rect">
            <a:avLst/>
          </a:prstGeom>
          <a:noFill/>
        </p:spPr>
        <p:txBody>
          <a:bodyPr vert="horz" wrap="square" lIns="0" rtlCol="0">
            <a:spAutoFit/>
          </a:bodyPr>
          <a:lstStyle/>
          <a:p>
            <a:r>
              <a:rPr lang="nb-NO" sz="1100" b="1">
                <a:solidFill>
                  <a:srgbClr val="0F172A"/>
                </a:solidFill>
                <a:latin typeface="Segoe UI" panose="020B0502040204020203" pitchFamily="34" charset="0"/>
              </a:rPr>
              <a:t>Inngå Kontrakt (Quote)</a:t>
            </a:r>
          </a:p>
        </p:txBody>
      </p:sp>
      <p:sp>
        <p:nvSpPr>
          <p:cNvPr id="28" name="TekstSylinder 27">
            <a:extLst>
              <a:ext uri="{FF2B5EF4-FFF2-40B4-BE49-F238E27FC236}">
                <a16:creationId xmlns:a16="http://schemas.microsoft.com/office/drawing/2014/main" id="{387F1D5D-D67B-2F82-F73E-5E5563CC2568}"/>
              </a:ext>
            </a:extLst>
          </p:cNvPr>
          <p:cNvSpPr txBox="1"/>
          <p:nvPr/>
        </p:nvSpPr>
        <p:spPr>
          <a:xfrm>
            <a:off x="6299200" y="2413000"/>
            <a:ext cx="1524000" cy="223138"/>
          </a:xfrm>
          <a:prstGeom prst="rect">
            <a:avLst/>
          </a:prstGeom>
          <a:noFill/>
        </p:spPr>
        <p:txBody>
          <a:bodyPr vert="horz" wrap="square" lIns="0" rtlCol="0">
            <a:spAutoFit/>
          </a:bodyPr>
          <a:lstStyle/>
          <a:p>
            <a:r>
              <a:rPr lang="nb-NO" sz="850" b="1">
                <a:solidFill>
                  <a:srgbClr val="0066FF"/>
                </a:solidFill>
                <a:latin typeface="Segoe UI" panose="020B0502040204020203" pitchFamily="34" charset="0"/>
              </a:rPr>
              <a:t>Ansvar: Telenor Salg</a:t>
            </a:r>
          </a:p>
        </p:txBody>
      </p:sp>
      <p:sp>
        <p:nvSpPr>
          <p:cNvPr id="29" name="TekstSylinder 28">
            <a:extLst>
              <a:ext uri="{FF2B5EF4-FFF2-40B4-BE49-F238E27FC236}">
                <a16:creationId xmlns:a16="http://schemas.microsoft.com/office/drawing/2014/main" id="{3BF5212C-D54E-44D9-23C1-445FB9E47C62}"/>
              </a:ext>
            </a:extLst>
          </p:cNvPr>
          <p:cNvSpPr txBox="1"/>
          <p:nvPr/>
        </p:nvSpPr>
        <p:spPr>
          <a:xfrm>
            <a:off x="6299200" y="2819400"/>
            <a:ext cx="1524000" cy="353943"/>
          </a:xfrm>
          <a:prstGeom prst="rect">
            <a:avLst/>
          </a:prstGeom>
          <a:noFill/>
        </p:spPr>
        <p:txBody>
          <a:bodyPr vert="horz" wrap="square" lIns="0" rtlCol="0">
            <a:spAutoFit/>
          </a:bodyPr>
          <a:lstStyle/>
          <a:p>
            <a:r>
              <a:rPr lang="en-US" sz="850">
                <a:solidFill>
                  <a:srgbClr val="475569"/>
                </a:solidFill>
                <a:latin typeface="Segoe UI" panose="020B0502040204020203" pitchFamily="34" charset="0"/>
              </a:rPr>
              <a:t>Booke Quote, FPP-produkt &amp; sjekke B2B Back-to-Back</a:t>
            </a:r>
            <a:endParaRPr lang="nb-NO" sz="850">
              <a:solidFill>
                <a:srgbClr val="475569"/>
              </a:solidFill>
              <a:latin typeface="Segoe UI" panose="020B0502040204020203" pitchFamily="34" charset="0"/>
            </a:endParaRPr>
          </a:p>
        </p:txBody>
      </p:sp>
      <p:sp>
        <p:nvSpPr>
          <p:cNvPr id="30" name="Rektangel 29">
            <a:extLst>
              <a:ext uri="{FF2B5EF4-FFF2-40B4-BE49-F238E27FC236}">
                <a16:creationId xmlns:a16="http://schemas.microsoft.com/office/drawing/2014/main" id="{4A76F658-9B95-C591-233E-7CA475DA0E3E}"/>
              </a:ext>
            </a:extLst>
          </p:cNvPr>
          <p:cNvSpPr/>
          <p:nvPr/>
        </p:nvSpPr>
        <p:spPr>
          <a:xfrm>
            <a:off x="8039100" y="1397000"/>
            <a:ext cx="1778000" cy="3048000"/>
          </a:xfrm>
          <a:prstGeom prst="rect">
            <a:avLst/>
          </a:prstGeom>
          <a:solidFill>
            <a:srgbClr val="FFFFFF"/>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1" name="Ellipse 30">
            <a:extLst>
              <a:ext uri="{FF2B5EF4-FFF2-40B4-BE49-F238E27FC236}">
                <a16:creationId xmlns:a16="http://schemas.microsoft.com/office/drawing/2014/main" id="{EAB8102B-B8C3-E6CA-59BC-40D0D3B3A490}"/>
              </a:ext>
            </a:extLst>
          </p:cNvPr>
          <p:cNvSpPr/>
          <p:nvPr/>
        </p:nvSpPr>
        <p:spPr>
          <a:xfrm>
            <a:off x="8166100" y="1524000"/>
            <a:ext cx="330200" cy="330200"/>
          </a:xfrm>
          <a:prstGeom prst="ellipse">
            <a:avLst/>
          </a:prstGeom>
          <a:solidFill>
            <a:srgbClr val="D9770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2" name="TekstSylinder 31">
            <a:extLst>
              <a:ext uri="{FF2B5EF4-FFF2-40B4-BE49-F238E27FC236}">
                <a16:creationId xmlns:a16="http://schemas.microsoft.com/office/drawing/2014/main" id="{A80DB791-285F-D2A1-5943-2A093311D771}"/>
              </a:ext>
            </a:extLst>
          </p:cNvPr>
          <p:cNvSpPr txBox="1"/>
          <p:nvPr/>
        </p:nvSpPr>
        <p:spPr>
          <a:xfrm>
            <a:off x="8166100" y="1549400"/>
            <a:ext cx="330200" cy="261610"/>
          </a:xfrm>
          <a:prstGeom prst="rect">
            <a:avLst/>
          </a:prstGeom>
          <a:noFill/>
        </p:spPr>
        <p:txBody>
          <a:bodyPr vert="horz" rtlCol="0">
            <a:spAutoFit/>
          </a:bodyPr>
          <a:lstStyle/>
          <a:p>
            <a:pPr algn="ctr"/>
            <a:r>
              <a:rPr lang="nb-NO" sz="1100" b="1">
                <a:solidFill>
                  <a:srgbClr val="FFFFFF"/>
                </a:solidFill>
                <a:latin typeface="Segoe UI" panose="020B0502040204020203" pitchFamily="34" charset="0"/>
              </a:rPr>
              <a:t>5</a:t>
            </a:r>
          </a:p>
        </p:txBody>
      </p:sp>
      <p:sp>
        <p:nvSpPr>
          <p:cNvPr id="33" name="TekstSylinder 32">
            <a:extLst>
              <a:ext uri="{FF2B5EF4-FFF2-40B4-BE49-F238E27FC236}">
                <a16:creationId xmlns:a16="http://schemas.microsoft.com/office/drawing/2014/main" id="{08367D64-6EBB-E067-60B7-A8E250F26755}"/>
              </a:ext>
            </a:extLst>
          </p:cNvPr>
          <p:cNvSpPr txBox="1"/>
          <p:nvPr/>
        </p:nvSpPr>
        <p:spPr>
          <a:xfrm>
            <a:off x="8166100" y="1930400"/>
            <a:ext cx="1524000" cy="261610"/>
          </a:xfrm>
          <a:prstGeom prst="rect">
            <a:avLst/>
          </a:prstGeom>
          <a:noFill/>
        </p:spPr>
        <p:txBody>
          <a:bodyPr vert="horz" wrap="square" lIns="0" rtlCol="0">
            <a:spAutoFit/>
          </a:bodyPr>
          <a:lstStyle/>
          <a:p>
            <a:r>
              <a:rPr lang="nb-NO" sz="1100" b="1">
                <a:solidFill>
                  <a:srgbClr val="0F172A"/>
                </a:solidFill>
                <a:latin typeface="Segoe UI" panose="020B0502040204020203" pitchFamily="34" charset="0"/>
              </a:rPr>
              <a:t>Inngå Kontrakt (Sign)</a:t>
            </a:r>
          </a:p>
        </p:txBody>
      </p:sp>
      <p:sp>
        <p:nvSpPr>
          <p:cNvPr id="34" name="TekstSylinder 33">
            <a:extLst>
              <a:ext uri="{FF2B5EF4-FFF2-40B4-BE49-F238E27FC236}">
                <a16:creationId xmlns:a16="http://schemas.microsoft.com/office/drawing/2014/main" id="{5197C883-5605-1875-B54D-F7674783470B}"/>
              </a:ext>
            </a:extLst>
          </p:cNvPr>
          <p:cNvSpPr txBox="1"/>
          <p:nvPr/>
        </p:nvSpPr>
        <p:spPr>
          <a:xfrm>
            <a:off x="8166100" y="2413000"/>
            <a:ext cx="1524000" cy="223138"/>
          </a:xfrm>
          <a:prstGeom prst="rect">
            <a:avLst/>
          </a:prstGeom>
          <a:noFill/>
        </p:spPr>
        <p:txBody>
          <a:bodyPr vert="horz" wrap="square" lIns="0" rtlCol="0">
            <a:spAutoFit/>
          </a:bodyPr>
          <a:lstStyle/>
          <a:p>
            <a:r>
              <a:rPr lang="nb-NO" sz="850" b="1">
                <a:solidFill>
                  <a:srgbClr val="0066FF"/>
                </a:solidFill>
                <a:latin typeface="Segoe UI" panose="020B0502040204020203" pitchFamily="34" charset="0"/>
              </a:rPr>
              <a:t>Ansvar: Telenor Salg</a:t>
            </a:r>
          </a:p>
        </p:txBody>
      </p:sp>
      <p:sp>
        <p:nvSpPr>
          <p:cNvPr id="35" name="TekstSylinder 34">
            <a:extLst>
              <a:ext uri="{FF2B5EF4-FFF2-40B4-BE49-F238E27FC236}">
                <a16:creationId xmlns:a16="http://schemas.microsoft.com/office/drawing/2014/main" id="{08D46D3F-995A-980A-138A-33EAF4A2E4F4}"/>
              </a:ext>
            </a:extLst>
          </p:cNvPr>
          <p:cNvSpPr txBox="1"/>
          <p:nvPr/>
        </p:nvSpPr>
        <p:spPr>
          <a:xfrm>
            <a:off x="8166100" y="2819400"/>
            <a:ext cx="1524000" cy="353943"/>
          </a:xfrm>
          <a:prstGeom prst="rect">
            <a:avLst/>
          </a:prstGeom>
          <a:noFill/>
        </p:spPr>
        <p:txBody>
          <a:bodyPr vert="horz" wrap="square" lIns="0" rtlCol="0">
            <a:spAutoFit/>
          </a:bodyPr>
          <a:lstStyle/>
          <a:p>
            <a:r>
              <a:rPr lang="nb-NO" sz="850">
                <a:solidFill>
                  <a:srgbClr val="475569"/>
                </a:solidFill>
                <a:latin typeface="Segoe UI" panose="020B0502040204020203" pitchFamily="34" charset="0"/>
              </a:rPr>
              <a:t>New Contract, last opp FPP-avtale &amp; e-signering</a:t>
            </a:r>
          </a:p>
        </p:txBody>
      </p:sp>
      <p:sp>
        <p:nvSpPr>
          <p:cNvPr id="36" name="Rektangel 35">
            <a:extLst>
              <a:ext uri="{FF2B5EF4-FFF2-40B4-BE49-F238E27FC236}">
                <a16:creationId xmlns:a16="http://schemas.microsoft.com/office/drawing/2014/main" id="{5DF73D72-E7C5-DD89-1FFF-BE91ABE2AE49}"/>
              </a:ext>
            </a:extLst>
          </p:cNvPr>
          <p:cNvSpPr/>
          <p:nvPr/>
        </p:nvSpPr>
        <p:spPr>
          <a:xfrm>
            <a:off x="9906000" y="1397000"/>
            <a:ext cx="1778000" cy="3048000"/>
          </a:xfrm>
          <a:prstGeom prst="rect">
            <a:avLst/>
          </a:prstGeom>
          <a:solidFill>
            <a:srgbClr val="FFFFFF"/>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7" name="Ellipse 36">
            <a:extLst>
              <a:ext uri="{FF2B5EF4-FFF2-40B4-BE49-F238E27FC236}">
                <a16:creationId xmlns:a16="http://schemas.microsoft.com/office/drawing/2014/main" id="{A4B0A131-4079-F51A-EE30-AB76C6C4A3A0}"/>
              </a:ext>
            </a:extLst>
          </p:cNvPr>
          <p:cNvSpPr/>
          <p:nvPr/>
        </p:nvSpPr>
        <p:spPr>
          <a:xfrm>
            <a:off x="10033000" y="1524000"/>
            <a:ext cx="330200" cy="330200"/>
          </a:xfrm>
          <a:prstGeom prst="ellipse">
            <a:avLst/>
          </a:prstGeom>
          <a:solidFill>
            <a:srgbClr val="0596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8" name="TekstSylinder 37">
            <a:extLst>
              <a:ext uri="{FF2B5EF4-FFF2-40B4-BE49-F238E27FC236}">
                <a16:creationId xmlns:a16="http://schemas.microsoft.com/office/drawing/2014/main" id="{75D148F2-7F94-546E-BFF9-449C19BDB75E}"/>
              </a:ext>
            </a:extLst>
          </p:cNvPr>
          <p:cNvSpPr txBox="1"/>
          <p:nvPr/>
        </p:nvSpPr>
        <p:spPr>
          <a:xfrm>
            <a:off x="10033000" y="1549400"/>
            <a:ext cx="330200" cy="261610"/>
          </a:xfrm>
          <a:prstGeom prst="rect">
            <a:avLst/>
          </a:prstGeom>
          <a:noFill/>
        </p:spPr>
        <p:txBody>
          <a:bodyPr vert="horz" rtlCol="0">
            <a:spAutoFit/>
          </a:bodyPr>
          <a:lstStyle/>
          <a:p>
            <a:pPr algn="ctr"/>
            <a:r>
              <a:rPr lang="nb-NO" sz="1100" b="1">
                <a:solidFill>
                  <a:srgbClr val="FFFFFF"/>
                </a:solidFill>
                <a:latin typeface="Segoe UI" panose="020B0502040204020203" pitchFamily="34" charset="0"/>
              </a:rPr>
              <a:t>6</a:t>
            </a:r>
          </a:p>
        </p:txBody>
      </p:sp>
      <p:sp>
        <p:nvSpPr>
          <p:cNvPr id="39" name="TekstSylinder 38">
            <a:extLst>
              <a:ext uri="{FF2B5EF4-FFF2-40B4-BE49-F238E27FC236}">
                <a16:creationId xmlns:a16="http://schemas.microsoft.com/office/drawing/2014/main" id="{F31EAC62-4262-105B-1701-9688042B1818}"/>
              </a:ext>
            </a:extLst>
          </p:cNvPr>
          <p:cNvSpPr txBox="1"/>
          <p:nvPr/>
        </p:nvSpPr>
        <p:spPr>
          <a:xfrm>
            <a:off x="10033000" y="1930400"/>
            <a:ext cx="1524000" cy="261610"/>
          </a:xfrm>
          <a:prstGeom prst="rect">
            <a:avLst/>
          </a:prstGeom>
          <a:noFill/>
        </p:spPr>
        <p:txBody>
          <a:bodyPr vert="horz" wrap="square" lIns="0" rtlCol="0">
            <a:spAutoFit/>
          </a:bodyPr>
          <a:lstStyle/>
          <a:p>
            <a:r>
              <a:rPr lang="nb-NO" sz="1100" b="1">
                <a:solidFill>
                  <a:srgbClr val="0F172A"/>
                </a:solidFill>
                <a:latin typeface="Segoe UI" panose="020B0502040204020203" pitchFamily="34" charset="0"/>
              </a:rPr>
              <a:t>Closed</a:t>
            </a:r>
          </a:p>
        </p:txBody>
      </p:sp>
      <p:sp>
        <p:nvSpPr>
          <p:cNvPr id="40" name="TekstSylinder 39">
            <a:extLst>
              <a:ext uri="{FF2B5EF4-FFF2-40B4-BE49-F238E27FC236}">
                <a16:creationId xmlns:a16="http://schemas.microsoft.com/office/drawing/2014/main" id="{0BC29B92-077E-028F-7F9D-11A3844E3905}"/>
              </a:ext>
            </a:extLst>
          </p:cNvPr>
          <p:cNvSpPr txBox="1"/>
          <p:nvPr/>
        </p:nvSpPr>
        <p:spPr>
          <a:xfrm>
            <a:off x="10033000" y="2413000"/>
            <a:ext cx="1524000" cy="223138"/>
          </a:xfrm>
          <a:prstGeom prst="rect">
            <a:avLst/>
          </a:prstGeom>
          <a:noFill/>
        </p:spPr>
        <p:txBody>
          <a:bodyPr vert="horz" wrap="square" lIns="0" rtlCol="0">
            <a:spAutoFit/>
          </a:bodyPr>
          <a:lstStyle/>
          <a:p>
            <a:r>
              <a:rPr lang="nb-NO" sz="850" b="1">
                <a:solidFill>
                  <a:srgbClr val="0066FF"/>
                </a:solidFill>
                <a:latin typeface="Segoe UI" panose="020B0502040204020203" pitchFamily="34" charset="0"/>
              </a:rPr>
              <a:t>Ansvar: Telenor / Partner</a:t>
            </a:r>
          </a:p>
        </p:txBody>
      </p:sp>
      <p:sp>
        <p:nvSpPr>
          <p:cNvPr id="41" name="TekstSylinder 40">
            <a:extLst>
              <a:ext uri="{FF2B5EF4-FFF2-40B4-BE49-F238E27FC236}">
                <a16:creationId xmlns:a16="http://schemas.microsoft.com/office/drawing/2014/main" id="{DD6197A3-2431-593D-5183-9019F1B1B68B}"/>
              </a:ext>
            </a:extLst>
          </p:cNvPr>
          <p:cNvSpPr txBox="1"/>
          <p:nvPr/>
        </p:nvSpPr>
        <p:spPr>
          <a:xfrm>
            <a:off x="10033000" y="2819400"/>
            <a:ext cx="1524000" cy="484748"/>
          </a:xfrm>
          <a:prstGeom prst="rect">
            <a:avLst/>
          </a:prstGeom>
          <a:noFill/>
        </p:spPr>
        <p:txBody>
          <a:bodyPr vert="horz" wrap="square" lIns="0" rtlCol="0">
            <a:spAutoFit/>
          </a:bodyPr>
          <a:lstStyle/>
          <a:p>
            <a:r>
              <a:rPr lang="en-US" sz="850">
                <a:solidFill>
                  <a:srgbClr val="475569"/>
                </a:solidFill>
                <a:latin typeface="Segoe UI" panose="020B0502040204020203" pitchFamily="34" charset="0"/>
              </a:rPr>
              <a:t>Closed Won (Produksjon/Faktura) / Closed Lost (Review)</a:t>
            </a:r>
            <a:endParaRPr lang="nb-NO" sz="850">
              <a:solidFill>
                <a:srgbClr val="475569"/>
              </a:solidFill>
              <a:latin typeface="Segoe UI" panose="020B0502040204020203" pitchFamily="34" charset="0"/>
            </a:endParaRPr>
          </a:p>
        </p:txBody>
      </p:sp>
      <p:sp>
        <p:nvSpPr>
          <p:cNvPr id="42" name="Rektangel 41">
            <a:extLst>
              <a:ext uri="{FF2B5EF4-FFF2-40B4-BE49-F238E27FC236}">
                <a16:creationId xmlns:a16="http://schemas.microsoft.com/office/drawing/2014/main" id="{1EDBDF23-84D2-F037-4BF7-F5222420927A}"/>
              </a:ext>
            </a:extLst>
          </p:cNvPr>
          <p:cNvSpPr/>
          <p:nvPr/>
        </p:nvSpPr>
        <p:spPr>
          <a:xfrm>
            <a:off x="571500" y="4635500"/>
            <a:ext cx="11049000" cy="1714500"/>
          </a:xfrm>
          <a:prstGeom prst="rect">
            <a:avLst/>
          </a:prstGeom>
          <a:solidFill>
            <a:srgbClr val="0A19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43" name="TekstSylinder 42">
            <a:extLst>
              <a:ext uri="{FF2B5EF4-FFF2-40B4-BE49-F238E27FC236}">
                <a16:creationId xmlns:a16="http://schemas.microsoft.com/office/drawing/2014/main" id="{2D169968-4015-4415-676F-D9DE91F8BBD0}"/>
              </a:ext>
            </a:extLst>
          </p:cNvPr>
          <p:cNvSpPr txBox="1"/>
          <p:nvPr/>
        </p:nvSpPr>
        <p:spPr>
          <a:xfrm>
            <a:off x="825500" y="4762500"/>
            <a:ext cx="10541000" cy="261610"/>
          </a:xfrm>
          <a:prstGeom prst="rect">
            <a:avLst/>
          </a:prstGeom>
          <a:noFill/>
        </p:spPr>
        <p:txBody>
          <a:bodyPr vert="horz" rtlCol="0">
            <a:spAutoFit/>
          </a:bodyPr>
          <a:lstStyle/>
          <a:p>
            <a:r>
              <a:rPr lang="nb-NO" sz="1100" b="1">
                <a:solidFill>
                  <a:srgbClr val="00BEF0"/>
                </a:solidFill>
                <a:latin typeface="Segoe UI" panose="020B0502040204020203" pitchFamily="34" charset="0"/>
              </a:rPr>
              <a:t>KRITISKE SUKSESSFAKTORER GJENNOM LØPET</a:t>
            </a:r>
          </a:p>
        </p:txBody>
      </p:sp>
      <p:sp>
        <p:nvSpPr>
          <p:cNvPr id="44" name="TekstSylinder 43">
            <a:extLst>
              <a:ext uri="{FF2B5EF4-FFF2-40B4-BE49-F238E27FC236}">
                <a16:creationId xmlns:a16="http://schemas.microsoft.com/office/drawing/2014/main" id="{50E66E96-C784-8D44-C396-5A889AFA651F}"/>
              </a:ext>
            </a:extLst>
          </p:cNvPr>
          <p:cNvSpPr txBox="1"/>
          <p:nvPr/>
        </p:nvSpPr>
        <p:spPr>
          <a:xfrm>
            <a:off x="825500" y="5080000"/>
            <a:ext cx="10541000" cy="192360"/>
          </a:xfrm>
          <a:prstGeom prst="rect">
            <a:avLst/>
          </a:prstGeom>
          <a:noFill/>
        </p:spPr>
        <p:txBody>
          <a:bodyPr vert="horz" lIns="0" tIns="0" rtlCol="0">
            <a:spAutoFit/>
          </a:bodyPr>
          <a:lstStyle/>
          <a:p>
            <a:r>
              <a:rPr lang="nb-NO" sz="950">
                <a:solidFill>
                  <a:srgbClr val="E2E8F0"/>
                </a:solidFill>
                <a:latin typeface="Segoe UI" panose="020B0502040204020203" pitchFamily="34" charset="0"/>
              </a:rPr>
              <a:t>1. Tidlig involvering: Partner kobles på allerede i Steg 2 for å sikre forretningsmessig verdi og teknisk kvalitet.</a:t>
            </a:r>
          </a:p>
        </p:txBody>
      </p:sp>
      <p:sp>
        <p:nvSpPr>
          <p:cNvPr id="45" name="TekstSylinder 44">
            <a:extLst>
              <a:ext uri="{FF2B5EF4-FFF2-40B4-BE49-F238E27FC236}">
                <a16:creationId xmlns:a16="http://schemas.microsoft.com/office/drawing/2014/main" id="{574E8456-1185-3D1F-6DEC-6FEB0DF2160C}"/>
              </a:ext>
            </a:extLst>
          </p:cNvPr>
          <p:cNvSpPr txBox="1"/>
          <p:nvPr/>
        </p:nvSpPr>
        <p:spPr>
          <a:xfrm>
            <a:off x="825500" y="5359400"/>
            <a:ext cx="10541000" cy="192360"/>
          </a:xfrm>
          <a:prstGeom prst="rect">
            <a:avLst/>
          </a:prstGeom>
          <a:noFill/>
        </p:spPr>
        <p:txBody>
          <a:bodyPr vert="horz" lIns="0" tIns="0" rtlCol="0">
            <a:spAutoFit/>
          </a:bodyPr>
          <a:lstStyle/>
          <a:p>
            <a:r>
              <a:rPr lang="nb-NO" sz="950">
                <a:solidFill>
                  <a:srgbClr val="E2E8F0"/>
                </a:solidFill>
                <a:latin typeface="Segoe UI" panose="020B0502040204020203" pitchFamily="34" charset="0"/>
              </a:rPr>
              <a:t>2. Revenue-disiplin: Opportunity må alltid ha registrert kundeverdi i Revenue (kroner) for nøyaktig pipeline-styring.</a:t>
            </a:r>
          </a:p>
        </p:txBody>
      </p:sp>
      <p:sp>
        <p:nvSpPr>
          <p:cNvPr id="46" name="TekstSylinder 45">
            <a:extLst>
              <a:ext uri="{FF2B5EF4-FFF2-40B4-BE49-F238E27FC236}">
                <a16:creationId xmlns:a16="http://schemas.microsoft.com/office/drawing/2014/main" id="{E998E610-743F-4589-DBE8-017BCFE92F07}"/>
              </a:ext>
            </a:extLst>
          </p:cNvPr>
          <p:cNvSpPr txBox="1"/>
          <p:nvPr/>
        </p:nvSpPr>
        <p:spPr>
          <a:xfrm>
            <a:off x="825500" y="5638800"/>
            <a:ext cx="10541000" cy="192360"/>
          </a:xfrm>
          <a:prstGeom prst="rect">
            <a:avLst/>
          </a:prstGeom>
          <a:noFill/>
        </p:spPr>
        <p:txBody>
          <a:bodyPr vert="horz" lIns="0" tIns="0" rtlCol="0">
            <a:spAutoFit/>
          </a:bodyPr>
          <a:lstStyle/>
          <a:p>
            <a:r>
              <a:rPr lang="nb-NO" sz="950">
                <a:solidFill>
                  <a:srgbClr val="E2E8F0"/>
                </a:solidFill>
                <a:latin typeface="Segoe UI" panose="020B0502040204020203" pitchFamily="34" charset="0"/>
              </a:rPr>
              <a:t>3. Juridisk back-to-back: Dersom kundespesifikk avtale = JA må B2B-avtale etableres parallelt med Quote i Steg 4.</a:t>
            </a:r>
          </a:p>
        </p:txBody>
      </p:sp>
      <p:sp>
        <p:nvSpPr>
          <p:cNvPr id="47" name="TekstSylinder 46">
            <a:extLst>
              <a:ext uri="{FF2B5EF4-FFF2-40B4-BE49-F238E27FC236}">
                <a16:creationId xmlns:a16="http://schemas.microsoft.com/office/drawing/2014/main" id="{34792724-CD70-4979-1F5C-C52ED7DAAB25}"/>
              </a:ext>
            </a:extLst>
          </p:cNvPr>
          <p:cNvSpPr txBox="1"/>
          <p:nvPr/>
        </p:nvSpPr>
        <p:spPr>
          <a:xfrm>
            <a:off x="825500" y="5918200"/>
            <a:ext cx="10541000" cy="192360"/>
          </a:xfrm>
          <a:prstGeom prst="rect">
            <a:avLst/>
          </a:prstGeom>
          <a:noFill/>
        </p:spPr>
        <p:txBody>
          <a:bodyPr vert="horz" lIns="0" tIns="0" rtlCol="0">
            <a:spAutoFit/>
          </a:bodyPr>
          <a:lstStyle/>
          <a:p>
            <a:r>
              <a:rPr lang="nb-NO" sz="950">
                <a:solidFill>
                  <a:srgbClr val="E2E8F0"/>
                </a:solidFill>
                <a:latin typeface="Segoe UI" panose="020B0502040204020203" pitchFamily="34" charset="0"/>
              </a:rPr>
              <a:t>4. 100% Digital flyt: Full elektronisk signering (BankID/DocuSign) sikrer rask closing og automatisk arkivering i Salesforce.</a:t>
            </a:r>
          </a:p>
        </p:txBody>
      </p:sp>
    </p:spTree>
    <p:extLst>
      <p:ext uri="{BB962C8B-B14F-4D97-AF65-F5344CB8AC3E}">
        <p14:creationId xmlns:p14="http://schemas.microsoft.com/office/powerpoint/2010/main" val="8624497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A32ED077-95CD-00F9-30E3-6C2E5FDC3167}"/>
              </a:ext>
            </a:extLst>
          </p:cNvPr>
          <p:cNvSpPr/>
          <p:nvPr/>
        </p:nvSpPr>
        <p:spPr>
          <a:xfrm>
            <a:off x="0" y="0"/>
            <a:ext cx="12192000" cy="6858000"/>
          </a:xfrm>
          <a:prstGeom prst="rect">
            <a:avLst/>
          </a:prstGeom>
          <a:solidFill>
            <a:srgbClr val="F8FA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 name="TekstSylinder 2">
            <a:extLst>
              <a:ext uri="{FF2B5EF4-FFF2-40B4-BE49-F238E27FC236}">
                <a16:creationId xmlns:a16="http://schemas.microsoft.com/office/drawing/2014/main" id="{DF0F8A9C-D331-BF8A-B9FD-11C2AB063D97}"/>
              </a:ext>
            </a:extLst>
          </p:cNvPr>
          <p:cNvSpPr txBox="1"/>
          <p:nvPr/>
        </p:nvSpPr>
        <p:spPr>
          <a:xfrm>
            <a:off x="571500" y="254000"/>
            <a:ext cx="6350000" cy="153888"/>
          </a:xfrm>
          <a:prstGeom prst="rect">
            <a:avLst/>
          </a:prstGeom>
          <a:noFill/>
        </p:spPr>
        <p:txBody>
          <a:bodyPr vert="horz" wrap="square" lIns="0" tIns="0" rIns="0" bIns="0" rtlCol="0">
            <a:spAutoFit/>
          </a:bodyPr>
          <a:lstStyle/>
          <a:p>
            <a:r>
              <a:rPr lang="nb-NO" sz="1000" b="1">
                <a:solidFill>
                  <a:srgbClr val="0066FF"/>
                </a:solidFill>
                <a:latin typeface="Segoe UI" panose="020B0502040204020203" pitchFamily="34" charset="0"/>
              </a:rPr>
              <a:t>STEG 1 | SALESFORCE SALGSSTEG: SUSPECTING</a:t>
            </a:r>
          </a:p>
        </p:txBody>
      </p:sp>
      <p:sp>
        <p:nvSpPr>
          <p:cNvPr id="4" name="TekstSylinder 3">
            <a:extLst>
              <a:ext uri="{FF2B5EF4-FFF2-40B4-BE49-F238E27FC236}">
                <a16:creationId xmlns:a16="http://schemas.microsoft.com/office/drawing/2014/main" id="{DE103394-9C7C-846E-CA81-089B586CF1B7}"/>
              </a:ext>
            </a:extLst>
          </p:cNvPr>
          <p:cNvSpPr txBox="1"/>
          <p:nvPr/>
        </p:nvSpPr>
        <p:spPr>
          <a:xfrm>
            <a:off x="571500" y="508000"/>
            <a:ext cx="11049000" cy="307777"/>
          </a:xfrm>
          <a:prstGeom prst="rect">
            <a:avLst/>
          </a:prstGeom>
          <a:noFill/>
        </p:spPr>
        <p:txBody>
          <a:bodyPr vert="horz" wrap="square" lIns="0" tIns="0" rIns="0" bIns="0" rtlCol="0">
            <a:spAutoFit/>
          </a:bodyPr>
          <a:lstStyle/>
          <a:p>
            <a:r>
              <a:rPr lang="nb-NO" sz="2000" b="1">
                <a:solidFill>
                  <a:srgbClr val="0F172A"/>
                </a:solidFill>
                <a:latin typeface="Segoe UI" panose="020B0502040204020203" pitchFamily="34" charset="0"/>
              </a:rPr>
              <a:t>Igangsette Kunde- og Behovsavklaring</a:t>
            </a:r>
          </a:p>
        </p:txBody>
      </p:sp>
      <p:sp>
        <p:nvSpPr>
          <p:cNvPr id="5" name="TekstSylinder 4">
            <a:extLst>
              <a:ext uri="{FF2B5EF4-FFF2-40B4-BE49-F238E27FC236}">
                <a16:creationId xmlns:a16="http://schemas.microsoft.com/office/drawing/2014/main" id="{82DE3609-6BA4-FA6E-8F31-9B8142A88642}"/>
              </a:ext>
            </a:extLst>
          </p:cNvPr>
          <p:cNvSpPr txBox="1"/>
          <p:nvPr/>
        </p:nvSpPr>
        <p:spPr>
          <a:xfrm>
            <a:off x="571500" y="939800"/>
            <a:ext cx="11049000" cy="169277"/>
          </a:xfrm>
          <a:prstGeom prst="rect">
            <a:avLst/>
          </a:prstGeom>
          <a:noFill/>
        </p:spPr>
        <p:txBody>
          <a:bodyPr vert="horz" wrap="square" lIns="0" tIns="0" rIns="0" bIns="0" rtlCol="0">
            <a:spAutoFit/>
          </a:bodyPr>
          <a:lstStyle/>
          <a:p>
            <a:r>
              <a:rPr lang="nb-NO" sz="1100">
                <a:solidFill>
                  <a:srgbClr val="475569"/>
                </a:solidFill>
                <a:latin typeface="Segoe UI" panose="020B0502040204020203" pitchFamily="34" charset="0"/>
              </a:rPr>
              <a:t>Hovedansvar: Telenor Salg / Partner | Fokus: Kvalifisere lead, opprette Opportunity og sette Revenue</a:t>
            </a:r>
          </a:p>
        </p:txBody>
      </p:sp>
      <p:sp>
        <p:nvSpPr>
          <p:cNvPr id="6" name="Rektangel 5">
            <a:extLst>
              <a:ext uri="{FF2B5EF4-FFF2-40B4-BE49-F238E27FC236}">
                <a16:creationId xmlns:a16="http://schemas.microsoft.com/office/drawing/2014/main" id="{EBC162F9-004C-2E69-DBE3-C314DF2C3E90}"/>
              </a:ext>
            </a:extLst>
          </p:cNvPr>
          <p:cNvSpPr/>
          <p:nvPr/>
        </p:nvSpPr>
        <p:spPr>
          <a:xfrm>
            <a:off x="571500" y="1397000"/>
            <a:ext cx="5334000" cy="4953000"/>
          </a:xfrm>
          <a:prstGeom prst="rect">
            <a:avLst/>
          </a:prstGeom>
          <a:solidFill>
            <a:srgbClr val="FFFFFF"/>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7" name="Rektangel 6">
            <a:extLst>
              <a:ext uri="{FF2B5EF4-FFF2-40B4-BE49-F238E27FC236}">
                <a16:creationId xmlns:a16="http://schemas.microsoft.com/office/drawing/2014/main" id="{43168F69-F683-A39B-BDB4-F9111BAFF2BD}"/>
              </a:ext>
            </a:extLst>
          </p:cNvPr>
          <p:cNvSpPr/>
          <p:nvPr/>
        </p:nvSpPr>
        <p:spPr>
          <a:xfrm>
            <a:off x="571500" y="1397000"/>
            <a:ext cx="5334000" cy="444500"/>
          </a:xfrm>
          <a:prstGeom prst="rect">
            <a:avLst/>
          </a:prstGeom>
          <a:solidFill>
            <a:srgbClr val="0066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TekstSylinder 7">
            <a:extLst>
              <a:ext uri="{FF2B5EF4-FFF2-40B4-BE49-F238E27FC236}">
                <a16:creationId xmlns:a16="http://schemas.microsoft.com/office/drawing/2014/main" id="{241BB57F-4959-2001-7020-805CBDA8A225}"/>
              </a:ext>
            </a:extLst>
          </p:cNvPr>
          <p:cNvSpPr txBox="1"/>
          <p:nvPr/>
        </p:nvSpPr>
        <p:spPr>
          <a:xfrm>
            <a:off x="698500" y="1473200"/>
            <a:ext cx="5080000" cy="261610"/>
          </a:xfrm>
          <a:prstGeom prst="rect">
            <a:avLst/>
          </a:prstGeom>
          <a:noFill/>
        </p:spPr>
        <p:txBody>
          <a:bodyPr vert="horz" rtlCol="0">
            <a:spAutoFit/>
          </a:bodyPr>
          <a:lstStyle/>
          <a:p>
            <a:r>
              <a:rPr lang="nb-NO" sz="1100" b="1">
                <a:solidFill>
                  <a:srgbClr val="FFFFFF"/>
                </a:solidFill>
                <a:latin typeface="Segoe UI" panose="020B0502040204020203" pitchFamily="34" charset="0"/>
              </a:rPr>
              <a:t>Klikkvei i Salesforce Lightning</a:t>
            </a:r>
          </a:p>
        </p:txBody>
      </p:sp>
      <p:sp>
        <p:nvSpPr>
          <p:cNvPr id="9" name="TekstSylinder 8">
            <a:extLst>
              <a:ext uri="{FF2B5EF4-FFF2-40B4-BE49-F238E27FC236}">
                <a16:creationId xmlns:a16="http://schemas.microsoft.com/office/drawing/2014/main" id="{5B96C50D-F17C-50DB-B9E5-6A95472139CC}"/>
              </a:ext>
            </a:extLst>
          </p:cNvPr>
          <p:cNvSpPr txBox="1"/>
          <p:nvPr/>
        </p:nvSpPr>
        <p:spPr>
          <a:xfrm>
            <a:off x="762000" y="1968500"/>
            <a:ext cx="4953000" cy="1261884"/>
          </a:xfrm>
          <a:prstGeom prst="rect">
            <a:avLst/>
          </a:prstGeom>
          <a:noFill/>
        </p:spPr>
        <p:txBody>
          <a:bodyPr vert="horz" wrap="square" lIns="0" rtlCol="0">
            <a:spAutoFit/>
          </a:bodyPr>
          <a:lstStyle/>
          <a:p>
            <a:r>
              <a:rPr lang="nb-NO" sz="950">
                <a:solidFill>
                  <a:srgbClr val="0F172A"/>
                </a:solidFill>
                <a:latin typeface="Segoe UI" panose="020B0502040204020203" pitchFamily="34" charset="0"/>
              </a:rPr>
              <a:t>1. Velg Kunde: Søk opp kunden og verifiser eksisterende kundeforhold.
2. Velg Opportunity: Klikk New Opportunity og legg inn beskrivende navn.
3. Velg Close Date: Sett realistisk forventet lukkedato for salgsmuligheten.
4. Velg Salgssteg: Sett salgsstadiet til 'Suspecting'.
5. Velg Kilde: Registrer Opportunity Source (Innkommende, Kampanje, Anbud etc.).
6. Velg Probability: Angi estimert sannsynlighet for konvertering.
7. Kundebehovsanalyse: Igangsett og dokumenter primære behovsområder.
8. Revenue-krav: PÅKREVD: Må quote inn kundeverdier i Revenue (kroner)!</a:t>
            </a:r>
          </a:p>
        </p:txBody>
      </p:sp>
      <p:sp>
        <p:nvSpPr>
          <p:cNvPr id="10" name="Rektangel 9">
            <a:extLst>
              <a:ext uri="{FF2B5EF4-FFF2-40B4-BE49-F238E27FC236}">
                <a16:creationId xmlns:a16="http://schemas.microsoft.com/office/drawing/2014/main" id="{961AB812-96A0-6465-13E3-F2D840444BAF}"/>
              </a:ext>
            </a:extLst>
          </p:cNvPr>
          <p:cNvSpPr/>
          <p:nvPr/>
        </p:nvSpPr>
        <p:spPr>
          <a:xfrm>
            <a:off x="6286500" y="1397000"/>
            <a:ext cx="5334000" cy="4953000"/>
          </a:xfrm>
          <a:prstGeom prst="rect">
            <a:avLst/>
          </a:prstGeom>
          <a:solidFill>
            <a:srgbClr val="FFFFFF"/>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1" name="Rektangel 10">
            <a:extLst>
              <a:ext uri="{FF2B5EF4-FFF2-40B4-BE49-F238E27FC236}">
                <a16:creationId xmlns:a16="http://schemas.microsoft.com/office/drawing/2014/main" id="{550B7D14-AA81-8D91-D1E1-7E932C738009}"/>
              </a:ext>
            </a:extLst>
          </p:cNvPr>
          <p:cNvSpPr/>
          <p:nvPr/>
        </p:nvSpPr>
        <p:spPr>
          <a:xfrm>
            <a:off x="6286500" y="1397000"/>
            <a:ext cx="5334000" cy="444500"/>
          </a:xfrm>
          <a:prstGeom prst="rect">
            <a:avLst/>
          </a:prstGeom>
          <a:solidFill>
            <a:srgbClr val="1E29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2" name="TekstSylinder 11">
            <a:extLst>
              <a:ext uri="{FF2B5EF4-FFF2-40B4-BE49-F238E27FC236}">
                <a16:creationId xmlns:a16="http://schemas.microsoft.com/office/drawing/2014/main" id="{1895692C-3567-0008-F913-F08CAD35C6F7}"/>
              </a:ext>
            </a:extLst>
          </p:cNvPr>
          <p:cNvSpPr txBox="1"/>
          <p:nvPr/>
        </p:nvSpPr>
        <p:spPr>
          <a:xfrm>
            <a:off x="6413500" y="1473200"/>
            <a:ext cx="5080000" cy="261610"/>
          </a:xfrm>
          <a:prstGeom prst="rect">
            <a:avLst/>
          </a:prstGeom>
          <a:noFill/>
        </p:spPr>
        <p:txBody>
          <a:bodyPr vert="horz" rtlCol="0">
            <a:spAutoFit/>
          </a:bodyPr>
          <a:lstStyle/>
          <a:p>
            <a:r>
              <a:rPr lang="nb-NO" sz="1100" b="1">
                <a:solidFill>
                  <a:srgbClr val="FFFFFF"/>
                </a:solidFill>
                <a:latin typeface="Segoe UI" panose="020B0502040204020203" pitchFamily="34" charset="0"/>
              </a:rPr>
              <a:t>Faglig Salgsveiledning &amp; VBS Sjekkpunkter</a:t>
            </a:r>
          </a:p>
        </p:txBody>
      </p:sp>
      <p:sp>
        <p:nvSpPr>
          <p:cNvPr id="13" name="TekstSylinder 12">
            <a:extLst>
              <a:ext uri="{FF2B5EF4-FFF2-40B4-BE49-F238E27FC236}">
                <a16:creationId xmlns:a16="http://schemas.microsoft.com/office/drawing/2014/main" id="{CC2D6A30-CBB7-847D-6001-FA624472F258}"/>
              </a:ext>
            </a:extLst>
          </p:cNvPr>
          <p:cNvSpPr txBox="1"/>
          <p:nvPr/>
        </p:nvSpPr>
        <p:spPr>
          <a:xfrm>
            <a:off x="6477000" y="1968500"/>
            <a:ext cx="4953000" cy="2285241"/>
          </a:xfrm>
          <a:prstGeom prst="rect">
            <a:avLst/>
          </a:prstGeom>
          <a:noFill/>
        </p:spPr>
        <p:txBody>
          <a:bodyPr vert="horz" wrap="square" lIns="0" rtlCol="0">
            <a:spAutoFit/>
          </a:bodyPr>
          <a:lstStyle/>
          <a:p>
            <a:r>
              <a:rPr lang="nb-NO" sz="950">
                <a:solidFill>
                  <a:srgbClr val="0F172A"/>
                </a:solidFill>
                <a:latin typeface="Segoe UI" panose="020B0502040204020203" pitchFamily="34" charset="0"/>
              </a:rPr>
              <a:t>a. Kartlegge volum og historikk:
   Innhent historiske data om eksisterende forbruk, lisenser, abonnementer og trafikkprofiler.
b. Identifisere relevante stakeholdere:
   Kartlegg nøkkelpersoner hos kunden (IT-sjef, CFO, innkjøpsansvarlig, daglig leder) og sentrale påvirkere.
c. Formulere verdihypoteser (VBS):
   Utarbeid hypoteser om forretningsverdi, effektivisering, kostnadsreduksjon og moderniseringsgevinster.
d. Førstegangsdialog &amp; Møteplanlegging:
   Gjennomfør introsamtale, vekk interesse med skreddersydde hypoteser og forbered kobling mot sertifisert partner.</a:t>
            </a:r>
          </a:p>
        </p:txBody>
      </p:sp>
    </p:spTree>
    <p:extLst>
      <p:ext uri="{BB962C8B-B14F-4D97-AF65-F5344CB8AC3E}">
        <p14:creationId xmlns:p14="http://schemas.microsoft.com/office/powerpoint/2010/main" val="937261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75F88107-75F0-15A6-361A-0DFB442BBFF0}"/>
              </a:ext>
            </a:extLst>
          </p:cNvPr>
          <p:cNvSpPr/>
          <p:nvPr/>
        </p:nvSpPr>
        <p:spPr>
          <a:xfrm>
            <a:off x="0" y="0"/>
            <a:ext cx="12192000" cy="6858000"/>
          </a:xfrm>
          <a:prstGeom prst="rect">
            <a:avLst/>
          </a:prstGeom>
          <a:solidFill>
            <a:srgbClr val="F8FA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 name="TekstSylinder 2">
            <a:extLst>
              <a:ext uri="{FF2B5EF4-FFF2-40B4-BE49-F238E27FC236}">
                <a16:creationId xmlns:a16="http://schemas.microsoft.com/office/drawing/2014/main" id="{8F342DDB-85EF-BCAD-622C-7747DD0F0ABC}"/>
              </a:ext>
            </a:extLst>
          </p:cNvPr>
          <p:cNvSpPr txBox="1"/>
          <p:nvPr/>
        </p:nvSpPr>
        <p:spPr>
          <a:xfrm>
            <a:off x="571500" y="254000"/>
            <a:ext cx="6350000" cy="153888"/>
          </a:xfrm>
          <a:prstGeom prst="rect">
            <a:avLst/>
          </a:prstGeom>
          <a:noFill/>
        </p:spPr>
        <p:txBody>
          <a:bodyPr vert="horz" wrap="square" lIns="0" tIns="0" rIns="0" bIns="0" rtlCol="0">
            <a:spAutoFit/>
          </a:bodyPr>
          <a:lstStyle/>
          <a:p>
            <a:r>
              <a:rPr lang="nb-NO" sz="1000" b="1">
                <a:solidFill>
                  <a:srgbClr val="0066FF"/>
                </a:solidFill>
                <a:latin typeface="Segoe UI" panose="020B0502040204020203" pitchFamily="34" charset="0"/>
              </a:rPr>
              <a:t>STEG 2 | SALESFORCE SALGSSTEG: PROSPECTING</a:t>
            </a:r>
          </a:p>
        </p:txBody>
      </p:sp>
      <p:sp>
        <p:nvSpPr>
          <p:cNvPr id="4" name="TekstSylinder 3">
            <a:extLst>
              <a:ext uri="{FF2B5EF4-FFF2-40B4-BE49-F238E27FC236}">
                <a16:creationId xmlns:a16="http://schemas.microsoft.com/office/drawing/2014/main" id="{29EED369-01F8-A8C9-C62E-4EF412FC36CE}"/>
              </a:ext>
            </a:extLst>
          </p:cNvPr>
          <p:cNvSpPr txBox="1"/>
          <p:nvPr/>
        </p:nvSpPr>
        <p:spPr>
          <a:xfrm>
            <a:off x="571500" y="508000"/>
            <a:ext cx="11049000" cy="307777"/>
          </a:xfrm>
          <a:prstGeom prst="rect">
            <a:avLst/>
          </a:prstGeom>
          <a:noFill/>
        </p:spPr>
        <p:txBody>
          <a:bodyPr vert="horz" wrap="square" lIns="0" tIns="0" rIns="0" bIns="0" rtlCol="0">
            <a:spAutoFit/>
          </a:bodyPr>
          <a:lstStyle/>
          <a:p>
            <a:r>
              <a:rPr lang="nb-NO" sz="2000" b="1">
                <a:solidFill>
                  <a:srgbClr val="0F172A"/>
                </a:solidFill>
                <a:latin typeface="Segoe UI" panose="020B0502040204020203" pitchFamily="34" charset="0"/>
              </a:rPr>
              <a:t>Lead Sendes til Partner &amp; Etablering av Opportunity Team</a:t>
            </a:r>
          </a:p>
        </p:txBody>
      </p:sp>
      <p:sp>
        <p:nvSpPr>
          <p:cNvPr id="5" name="TekstSylinder 4">
            <a:extLst>
              <a:ext uri="{FF2B5EF4-FFF2-40B4-BE49-F238E27FC236}">
                <a16:creationId xmlns:a16="http://schemas.microsoft.com/office/drawing/2014/main" id="{E44462D3-ADBB-7E53-13EB-CF231C59BDA0}"/>
              </a:ext>
            </a:extLst>
          </p:cNvPr>
          <p:cNvSpPr txBox="1"/>
          <p:nvPr/>
        </p:nvSpPr>
        <p:spPr>
          <a:xfrm>
            <a:off x="571500" y="939800"/>
            <a:ext cx="11049000" cy="169277"/>
          </a:xfrm>
          <a:prstGeom prst="rect">
            <a:avLst/>
          </a:prstGeom>
          <a:noFill/>
        </p:spPr>
        <p:txBody>
          <a:bodyPr vert="horz" wrap="square" lIns="0" tIns="0" rIns="0" bIns="0" rtlCol="0">
            <a:spAutoFit/>
          </a:bodyPr>
          <a:lstStyle/>
          <a:p>
            <a:r>
              <a:rPr lang="nb-NO" sz="1100">
                <a:solidFill>
                  <a:srgbClr val="475569"/>
                </a:solidFill>
                <a:latin typeface="Segoe UI" panose="020B0502040204020203" pitchFamily="34" charset="0"/>
              </a:rPr>
              <a:t>Hovedansvar: Telenor Salg / Partner | Fokus: Kvalifisere pains, koble på partner og samkjøre verdihypoteser</a:t>
            </a:r>
          </a:p>
        </p:txBody>
      </p:sp>
      <p:sp>
        <p:nvSpPr>
          <p:cNvPr id="6" name="Rektangel 5">
            <a:extLst>
              <a:ext uri="{FF2B5EF4-FFF2-40B4-BE49-F238E27FC236}">
                <a16:creationId xmlns:a16="http://schemas.microsoft.com/office/drawing/2014/main" id="{B0BBF167-2D4B-E446-A221-8E2489CDADC4}"/>
              </a:ext>
            </a:extLst>
          </p:cNvPr>
          <p:cNvSpPr/>
          <p:nvPr/>
        </p:nvSpPr>
        <p:spPr>
          <a:xfrm>
            <a:off x="571500" y="1397000"/>
            <a:ext cx="5334000" cy="4953000"/>
          </a:xfrm>
          <a:prstGeom prst="rect">
            <a:avLst/>
          </a:prstGeom>
          <a:solidFill>
            <a:srgbClr val="FFFFFF"/>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7" name="Rektangel 6">
            <a:extLst>
              <a:ext uri="{FF2B5EF4-FFF2-40B4-BE49-F238E27FC236}">
                <a16:creationId xmlns:a16="http://schemas.microsoft.com/office/drawing/2014/main" id="{7FFA75B0-065E-FC98-887C-BA73A4FB052F}"/>
              </a:ext>
            </a:extLst>
          </p:cNvPr>
          <p:cNvSpPr/>
          <p:nvPr/>
        </p:nvSpPr>
        <p:spPr>
          <a:xfrm>
            <a:off x="571500" y="1397000"/>
            <a:ext cx="5334000" cy="444500"/>
          </a:xfrm>
          <a:prstGeom prst="rect">
            <a:avLst/>
          </a:prstGeom>
          <a:solidFill>
            <a:srgbClr val="0066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TekstSylinder 7">
            <a:extLst>
              <a:ext uri="{FF2B5EF4-FFF2-40B4-BE49-F238E27FC236}">
                <a16:creationId xmlns:a16="http://schemas.microsoft.com/office/drawing/2014/main" id="{3F53F3C6-165B-2851-1143-2338CA1AB8F4}"/>
              </a:ext>
            </a:extLst>
          </p:cNvPr>
          <p:cNvSpPr txBox="1"/>
          <p:nvPr/>
        </p:nvSpPr>
        <p:spPr>
          <a:xfrm>
            <a:off x="698500" y="1473200"/>
            <a:ext cx="5080000" cy="261610"/>
          </a:xfrm>
          <a:prstGeom prst="rect">
            <a:avLst/>
          </a:prstGeom>
          <a:noFill/>
        </p:spPr>
        <p:txBody>
          <a:bodyPr vert="horz" rtlCol="0">
            <a:spAutoFit/>
          </a:bodyPr>
          <a:lstStyle/>
          <a:p>
            <a:r>
              <a:rPr lang="nb-NO" sz="1100" b="1">
                <a:solidFill>
                  <a:srgbClr val="FFFFFF"/>
                </a:solidFill>
                <a:latin typeface="Segoe UI" panose="020B0502040204020203" pitchFamily="34" charset="0"/>
              </a:rPr>
              <a:t>Samhandling &amp; Handlinger i Salesforce</a:t>
            </a:r>
          </a:p>
        </p:txBody>
      </p:sp>
      <p:sp>
        <p:nvSpPr>
          <p:cNvPr id="9" name="TekstSylinder 8">
            <a:extLst>
              <a:ext uri="{FF2B5EF4-FFF2-40B4-BE49-F238E27FC236}">
                <a16:creationId xmlns:a16="http://schemas.microsoft.com/office/drawing/2014/main" id="{CD54E570-9333-CBBC-60CE-0EDFD92F0B18}"/>
              </a:ext>
            </a:extLst>
          </p:cNvPr>
          <p:cNvSpPr txBox="1"/>
          <p:nvPr/>
        </p:nvSpPr>
        <p:spPr>
          <a:xfrm>
            <a:off x="762000" y="1968500"/>
            <a:ext cx="4953000" cy="1261884"/>
          </a:xfrm>
          <a:prstGeom prst="rect">
            <a:avLst/>
          </a:prstGeom>
          <a:noFill/>
        </p:spPr>
        <p:txBody>
          <a:bodyPr vert="horz" wrap="square" lIns="0" rtlCol="0">
            <a:spAutoFit/>
          </a:bodyPr>
          <a:lstStyle/>
          <a:p>
            <a:r>
              <a:rPr lang="nb-NO" sz="950">
                <a:solidFill>
                  <a:srgbClr val="0F172A"/>
                </a:solidFill>
                <a:latin typeface="Segoe UI" panose="020B0502040204020203" pitchFamily="34" charset="0"/>
              </a:rPr>
              <a:t>1. Telenor: Avklarer formelle beslutningstakere og budsjetteiere hos kunden.
2. Telenor: Dokumenterer kartlagte pains og forretningsbehov i Salesforce.
3. Telenor: Inviterer inn sertifisert partner til videre behovs- og løsningsavklaring.
4. Telenor: Oppdaterer 'Opportunity Team' i Salesforce med partnerressurser.
5. Partner: Mottar lead, aksepterer oppgaven og igangsetter aktiv kundedialog.
6. Partner &amp; Telenor: Samkjører verdihypoteser, definerer felles strategi og forbereder kundemøte.
7. Partner: Gjennomfører og booker formelt verdimøte med kundens nøkkelpersoner.</a:t>
            </a:r>
          </a:p>
        </p:txBody>
      </p:sp>
      <p:sp>
        <p:nvSpPr>
          <p:cNvPr id="10" name="Rektangel 9">
            <a:extLst>
              <a:ext uri="{FF2B5EF4-FFF2-40B4-BE49-F238E27FC236}">
                <a16:creationId xmlns:a16="http://schemas.microsoft.com/office/drawing/2014/main" id="{A8D3E59E-3807-EF7B-7F3A-A7B47A6A7C3D}"/>
              </a:ext>
            </a:extLst>
          </p:cNvPr>
          <p:cNvSpPr/>
          <p:nvPr/>
        </p:nvSpPr>
        <p:spPr>
          <a:xfrm>
            <a:off x="6286500" y="1397000"/>
            <a:ext cx="5334000" cy="4953000"/>
          </a:xfrm>
          <a:prstGeom prst="rect">
            <a:avLst/>
          </a:prstGeom>
          <a:solidFill>
            <a:srgbClr val="FFFFFF"/>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1" name="Rektangel 10">
            <a:extLst>
              <a:ext uri="{FF2B5EF4-FFF2-40B4-BE49-F238E27FC236}">
                <a16:creationId xmlns:a16="http://schemas.microsoft.com/office/drawing/2014/main" id="{828F9712-448D-1291-30E4-B73D5D55EE02}"/>
              </a:ext>
            </a:extLst>
          </p:cNvPr>
          <p:cNvSpPr/>
          <p:nvPr/>
        </p:nvSpPr>
        <p:spPr>
          <a:xfrm>
            <a:off x="6286500" y="1397000"/>
            <a:ext cx="5334000" cy="444500"/>
          </a:xfrm>
          <a:prstGeom prst="rect">
            <a:avLst/>
          </a:prstGeom>
          <a:solidFill>
            <a:srgbClr val="1E29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2" name="TekstSylinder 11">
            <a:extLst>
              <a:ext uri="{FF2B5EF4-FFF2-40B4-BE49-F238E27FC236}">
                <a16:creationId xmlns:a16="http://schemas.microsoft.com/office/drawing/2014/main" id="{866C2D14-8404-3623-1272-793EC0024AF2}"/>
              </a:ext>
            </a:extLst>
          </p:cNvPr>
          <p:cNvSpPr txBox="1"/>
          <p:nvPr/>
        </p:nvSpPr>
        <p:spPr>
          <a:xfrm>
            <a:off x="6413500" y="1473200"/>
            <a:ext cx="5080000" cy="261610"/>
          </a:xfrm>
          <a:prstGeom prst="rect">
            <a:avLst/>
          </a:prstGeom>
          <a:noFill/>
        </p:spPr>
        <p:txBody>
          <a:bodyPr vert="horz" rtlCol="0">
            <a:spAutoFit/>
          </a:bodyPr>
          <a:lstStyle/>
          <a:p>
            <a:r>
              <a:rPr lang="nb-NO" sz="1100" b="1">
                <a:solidFill>
                  <a:srgbClr val="FFFFFF"/>
                </a:solidFill>
                <a:latin typeface="Segoe UI" panose="020B0502040204020203" pitchFamily="34" charset="0"/>
              </a:rPr>
              <a:t>Veiledning &amp; Kritiske VBS-Spørsmål</a:t>
            </a:r>
          </a:p>
        </p:txBody>
      </p:sp>
      <p:sp>
        <p:nvSpPr>
          <p:cNvPr id="13" name="TekstSylinder 12">
            <a:extLst>
              <a:ext uri="{FF2B5EF4-FFF2-40B4-BE49-F238E27FC236}">
                <a16:creationId xmlns:a16="http://schemas.microsoft.com/office/drawing/2014/main" id="{368611B5-7EA9-D94D-EF60-C2593949EFC7}"/>
              </a:ext>
            </a:extLst>
          </p:cNvPr>
          <p:cNvSpPr txBox="1"/>
          <p:nvPr/>
        </p:nvSpPr>
        <p:spPr>
          <a:xfrm>
            <a:off x="6477000" y="1968500"/>
            <a:ext cx="4953000" cy="1846659"/>
          </a:xfrm>
          <a:prstGeom prst="rect">
            <a:avLst/>
          </a:prstGeom>
          <a:noFill/>
        </p:spPr>
        <p:txBody>
          <a:bodyPr vert="horz" wrap="square" lIns="0" rtlCol="0">
            <a:spAutoFit/>
          </a:bodyPr>
          <a:lstStyle/>
          <a:p>
            <a:r>
              <a:rPr lang="nb-NO" sz="950">
                <a:solidFill>
                  <a:srgbClr val="0F172A"/>
                </a:solidFill>
                <a:latin typeface="Segoe UI" panose="020B0502040204020203" pitchFamily="34" charset="0"/>
              </a:rPr>
              <a:t>a. Etablere interessentdialog:
   Sikre tidlig forankring hos de som påvirker og godkjenner investeringen.
b. Kartlegge kundens utfordringer (pains):
   Identifisere flaskehalser, systembegrensninger og ønskede forretningsgevinster.
c. Tilpasse kjøpsprosess til salgsprosess:
   Avstemme beslutningstidslinje, milepæler, styrebehandlinger og budsjettfrister.
d. Samkjøre verdihypoteser:
   Definere felles hypotese om hvordan Telenor + Partner-løsningen løser kundens utfordringer.</a:t>
            </a:r>
          </a:p>
        </p:txBody>
      </p:sp>
    </p:spTree>
    <p:extLst>
      <p:ext uri="{BB962C8B-B14F-4D97-AF65-F5344CB8AC3E}">
        <p14:creationId xmlns:p14="http://schemas.microsoft.com/office/powerpoint/2010/main" val="34711228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E4D63F1A-6E78-05A5-327B-88C19CF9BC47}"/>
              </a:ext>
            </a:extLst>
          </p:cNvPr>
          <p:cNvSpPr/>
          <p:nvPr/>
        </p:nvSpPr>
        <p:spPr>
          <a:xfrm>
            <a:off x="0" y="0"/>
            <a:ext cx="12192000" cy="6858000"/>
          </a:xfrm>
          <a:prstGeom prst="rect">
            <a:avLst/>
          </a:prstGeom>
          <a:solidFill>
            <a:srgbClr val="F8FA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 name="TekstSylinder 2">
            <a:extLst>
              <a:ext uri="{FF2B5EF4-FFF2-40B4-BE49-F238E27FC236}">
                <a16:creationId xmlns:a16="http://schemas.microsoft.com/office/drawing/2014/main" id="{33393004-DF79-CE61-DFC0-84B1110A8AD4}"/>
              </a:ext>
            </a:extLst>
          </p:cNvPr>
          <p:cNvSpPr txBox="1"/>
          <p:nvPr/>
        </p:nvSpPr>
        <p:spPr>
          <a:xfrm>
            <a:off x="571500" y="254000"/>
            <a:ext cx="6350000" cy="153888"/>
          </a:xfrm>
          <a:prstGeom prst="rect">
            <a:avLst/>
          </a:prstGeom>
          <a:noFill/>
        </p:spPr>
        <p:txBody>
          <a:bodyPr vert="horz" wrap="square" lIns="0" tIns="0" rIns="0" bIns="0" rtlCol="0">
            <a:spAutoFit/>
          </a:bodyPr>
          <a:lstStyle/>
          <a:p>
            <a:r>
              <a:rPr lang="nb-NO" sz="1000" b="1">
                <a:solidFill>
                  <a:srgbClr val="0066FF"/>
                </a:solidFill>
                <a:latin typeface="Segoe UI" panose="020B0502040204020203" pitchFamily="34" charset="0"/>
              </a:rPr>
              <a:t>STEG 3 | SALESFORCE SALGSSTEG: KVALIFISERING / UTARBEIDE TILBUD</a:t>
            </a:r>
          </a:p>
        </p:txBody>
      </p:sp>
      <p:sp>
        <p:nvSpPr>
          <p:cNvPr id="4" name="TekstSylinder 3">
            <a:extLst>
              <a:ext uri="{FF2B5EF4-FFF2-40B4-BE49-F238E27FC236}">
                <a16:creationId xmlns:a16="http://schemas.microsoft.com/office/drawing/2014/main" id="{C30056BD-863F-2875-0F13-94537F34FC90}"/>
              </a:ext>
            </a:extLst>
          </p:cNvPr>
          <p:cNvSpPr txBox="1"/>
          <p:nvPr/>
        </p:nvSpPr>
        <p:spPr>
          <a:xfrm>
            <a:off x="571500" y="508000"/>
            <a:ext cx="11049000" cy="307777"/>
          </a:xfrm>
          <a:prstGeom prst="rect">
            <a:avLst/>
          </a:prstGeom>
          <a:noFill/>
        </p:spPr>
        <p:txBody>
          <a:bodyPr vert="horz" wrap="square" lIns="0" tIns="0" rIns="0" bIns="0" rtlCol="0">
            <a:spAutoFit/>
          </a:bodyPr>
          <a:lstStyle/>
          <a:p>
            <a:r>
              <a:rPr lang="nb-NO" sz="2000" b="1">
                <a:solidFill>
                  <a:srgbClr val="0F172A"/>
                </a:solidFill>
                <a:latin typeface="Segoe UI" panose="020B0502040204020203" pitchFamily="34" charset="0"/>
              </a:rPr>
              <a:t>Partner Utarbeider Løsningsdesign, ROI &amp; FPP Tjenesteavtale</a:t>
            </a:r>
          </a:p>
        </p:txBody>
      </p:sp>
      <p:sp>
        <p:nvSpPr>
          <p:cNvPr id="5" name="TekstSylinder 4">
            <a:extLst>
              <a:ext uri="{FF2B5EF4-FFF2-40B4-BE49-F238E27FC236}">
                <a16:creationId xmlns:a16="http://schemas.microsoft.com/office/drawing/2014/main" id="{4C3C37D6-AABC-B88C-16EB-E92E7AFC6DED}"/>
              </a:ext>
            </a:extLst>
          </p:cNvPr>
          <p:cNvSpPr txBox="1"/>
          <p:nvPr/>
        </p:nvSpPr>
        <p:spPr>
          <a:xfrm>
            <a:off x="571500" y="939800"/>
            <a:ext cx="11049000" cy="169277"/>
          </a:xfrm>
          <a:prstGeom prst="rect">
            <a:avLst/>
          </a:prstGeom>
          <a:noFill/>
        </p:spPr>
        <p:txBody>
          <a:bodyPr vert="horz" wrap="square" lIns="0" tIns="0" rIns="0" bIns="0" rtlCol="0">
            <a:spAutoFit/>
          </a:bodyPr>
          <a:lstStyle/>
          <a:p>
            <a:r>
              <a:rPr lang="nb-NO" sz="1100">
                <a:solidFill>
                  <a:srgbClr val="475569"/>
                </a:solidFill>
                <a:latin typeface="Segoe UI" panose="020B0502040204020203" pitchFamily="34" charset="0"/>
              </a:rPr>
              <a:t>Hovedansvar: Partner (Løsningsrådgiver) | Fokus: Workshops, løsningsarkitektur, forretningscase og avtaleunderlag</a:t>
            </a:r>
          </a:p>
        </p:txBody>
      </p:sp>
      <p:sp>
        <p:nvSpPr>
          <p:cNvPr id="6" name="Rektangel 5">
            <a:extLst>
              <a:ext uri="{FF2B5EF4-FFF2-40B4-BE49-F238E27FC236}">
                <a16:creationId xmlns:a16="http://schemas.microsoft.com/office/drawing/2014/main" id="{FCED87CA-8BE8-77CF-9C9A-932469E7E4B0}"/>
              </a:ext>
            </a:extLst>
          </p:cNvPr>
          <p:cNvSpPr/>
          <p:nvPr/>
        </p:nvSpPr>
        <p:spPr>
          <a:xfrm>
            <a:off x="571500" y="1397000"/>
            <a:ext cx="5334000" cy="4953000"/>
          </a:xfrm>
          <a:prstGeom prst="rect">
            <a:avLst/>
          </a:prstGeom>
          <a:solidFill>
            <a:srgbClr val="FFFFFF"/>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7" name="Rektangel 6">
            <a:extLst>
              <a:ext uri="{FF2B5EF4-FFF2-40B4-BE49-F238E27FC236}">
                <a16:creationId xmlns:a16="http://schemas.microsoft.com/office/drawing/2014/main" id="{A76358F3-F7F8-C258-B6F5-3BC8C12533BA}"/>
              </a:ext>
            </a:extLst>
          </p:cNvPr>
          <p:cNvSpPr/>
          <p:nvPr/>
        </p:nvSpPr>
        <p:spPr>
          <a:xfrm>
            <a:off x="571500" y="1397000"/>
            <a:ext cx="5334000" cy="444500"/>
          </a:xfrm>
          <a:prstGeom prst="rect">
            <a:avLst/>
          </a:prstGeom>
          <a:solidFill>
            <a:srgbClr val="008CC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TekstSylinder 7">
            <a:extLst>
              <a:ext uri="{FF2B5EF4-FFF2-40B4-BE49-F238E27FC236}">
                <a16:creationId xmlns:a16="http://schemas.microsoft.com/office/drawing/2014/main" id="{6C5A8EE3-D8BE-21B2-B85F-4FB85A3C7E22}"/>
              </a:ext>
            </a:extLst>
          </p:cNvPr>
          <p:cNvSpPr txBox="1"/>
          <p:nvPr/>
        </p:nvSpPr>
        <p:spPr>
          <a:xfrm>
            <a:off x="698500" y="1473200"/>
            <a:ext cx="5080000" cy="261610"/>
          </a:xfrm>
          <a:prstGeom prst="rect">
            <a:avLst/>
          </a:prstGeom>
          <a:noFill/>
        </p:spPr>
        <p:txBody>
          <a:bodyPr vert="horz" rtlCol="0">
            <a:spAutoFit/>
          </a:bodyPr>
          <a:lstStyle/>
          <a:p>
            <a:r>
              <a:rPr lang="nb-NO" sz="1100" b="1">
                <a:solidFill>
                  <a:srgbClr val="FFFFFF"/>
                </a:solidFill>
                <a:latin typeface="Segoe UI" panose="020B0502040204020203" pitchFamily="34" charset="0"/>
              </a:rPr>
              <a:t>Partnerens Leveranser &amp; Handlinger</a:t>
            </a:r>
          </a:p>
        </p:txBody>
      </p:sp>
      <p:sp>
        <p:nvSpPr>
          <p:cNvPr id="9" name="TekstSylinder 8">
            <a:extLst>
              <a:ext uri="{FF2B5EF4-FFF2-40B4-BE49-F238E27FC236}">
                <a16:creationId xmlns:a16="http://schemas.microsoft.com/office/drawing/2014/main" id="{EDB52462-6568-4B38-8853-D466DDFD84F2}"/>
              </a:ext>
            </a:extLst>
          </p:cNvPr>
          <p:cNvSpPr txBox="1"/>
          <p:nvPr/>
        </p:nvSpPr>
        <p:spPr>
          <a:xfrm>
            <a:off x="762000" y="1968500"/>
            <a:ext cx="4953000" cy="1554272"/>
          </a:xfrm>
          <a:prstGeom prst="rect">
            <a:avLst/>
          </a:prstGeom>
          <a:noFill/>
        </p:spPr>
        <p:txBody>
          <a:bodyPr vert="horz" wrap="square" lIns="0" rtlCol="0">
            <a:spAutoFit/>
          </a:bodyPr>
          <a:lstStyle/>
          <a:p>
            <a:r>
              <a:rPr lang="nb-NO" sz="950">
                <a:solidFill>
                  <a:srgbClr val="0F172A"/>
                </a:solidFill>
                <a:latin typeface="Segoe UI" panose="020B0502040204020203" pitchFamily="34" charset="0"/>
              </a:rPr>
              <a:t>1. Workshops &amp; Intervjuer: Kartlegger tekniske krav, integrasjonspunkter, sikkerhetskrav og suksesskriterier.
2. Visualisere Løsning: Beskriver High-Level Design (HLD), arkitektur, komponenter og ansvarsmatrise.
3. Forretningscase &amp; ROI: Utarbeider forretningsmessig verdi og ROI-kalkyle som bekreftes av kunden.
4. Fylle ut FPP Tjenesteavtale: Oppdaterer 'FPP Telenor Tjenesteavtale' med nøyaktige priser, tjenesteomfang og opsjoner.
5. Oversendelse: Sender ferdig kvalitetssikret FPP Tjenesteavtale og løsningsvedlegg til Telenor KAM.</a:t>
            </a:r>
          </a:p>
        </p:txBody>
      </p:sp>
      <p:sp>
        <p:nvSpPr>
          <p:cNvPr id="10" name="Rektangel 9">
            <a:extLst>
              <a:ext uri="{FF2B5EF4-FFF2-40B4-BE49-F238E27FC236}">
                <a16:creationId xmlns:a16="http://schemas.microsoft.com/office/drawing/2014/main" id="{487543E6-9B4D-A518-6F0B-B94B74222054}"/>
              </a:ext>
            </a:extLst>
          </p:cNvPr>
          <p:cNvSpPr/>
          <p:nvPr/>
        </p:nvSpPr>
        <p:spPr>
          <a:xfrm>
            <a:off x="6286500" y="1397000"/>
            <a:ext cx="5334000" cy="4953000"/>
          </a:xfrm>
          <a:prstGeom prst="rect">
            <a:avLst/>
          </a:prstGeom>
          <a:solidFill>
            <a:srgbClr val="FFFFFF"/>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1" name="Rektangel 10">
            <a:extLst>
              <a:ext uri="{FF2B5EF4-FFF2-40B4-BE49-F238E27FC236}">
                <a16:creationId xmlns:a16="http://schemas.microsoft.com/office/drawing/2014/main" id="{7E03CC3E-8EF8-A4F4-BE36-6CD7FB19CE70}"/>
              </a:ext>
            </a:extLst>
          </p:cNvPr>
          <p:cNvSpPr/>
          <p:nvPr/>
        </p:nvSpPr>
        <p:spPr>
          <a:xfrm>
            <a:off x="6286500" y="1397000"/>
            <a:ext cx="5334000" cy="444500"/>
          </a:xfrm>
          <a:prstGeom prst="rect">
            <a:avLst/>
          </a:prstGeom>
          <a:solidFill>
            <a:srgbClr val="1E29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2" name="TekstSylinder 11">
            <a:extLst>
              <a:ext uri="{FF2B5EF4-FFF2-40B4-BE49-F238E27FC236}">
                <a16:creationId xmlns:a16="http://schemas.microsoft.com/office/drawing/2014/main" id="{4EA1B96C-8236-76F8-1D92-3C41DCF189EE}"/>
              </a:ext>
            </a:extLst>
          </p:cNvPr>
          <p:cNvSpPr txBox="1"/>
          <p:nvPr/>
        </p:nvSpPr>
        <p:spPr>
          <a:xfrm>
            <a:off x="6413500" y="1473200"/>
            <a:ext cx="5080000" cy="261610"/>
          </a:xfrm>
          <a:prstGeom prst="rect">
            <a:avLst/>
          </a:prstGeom>
          <a:noFill/>
        </p:spPr>
        <p:txBody>
          <a:bodyPr vert="horz" rtlCol="0">
            <a:spAutoFit/>
          </a:bodyPr>
          <a:lstStyle/>
          <a:p>
            <a:r>
              <a:rPr lang="nb-NO" sz="1100" b="1">
                <a:solidFill>
                  <a:srgbClr val="FFFFFF"/>
                </a:solidFill>
                <a:latin typeface="Segoe UI" panose="020B0502040204020203" pitchFamily="34" charset="0"/>
              </a:rPr>
              <a:t>Veiledning &amp; Kvalitetssikring</a:t>
            </a:r>
          </a:p>
        </p:txBody>
      </p:sp>
      <p:sp>
        <p:nvSpPr>
          <p:cNvPr id="13" name="TekstSylinder 12">
            <a:extLst>
              <a:ext uri="{FF2B5EF4-FFF2-40B4-BE49-F238E27FC236}">
                <a16:creationId xmlns:a16="http://schemas.microsoft.com/office/drawing/2014/main" id="{E6763719-71FE-8610-E39C-E67307696D76}"/>
              </a:ext>
            </a:extLst>
          </p:cNvPr>
          <p:cNvSpPr txBox="1"/>
          <p:nvPr/>
        </p:nvSpPr>
        <p:spPr>
          <a:xfrm>
            <a:off x="6477000" y="1968500"/>
            <a:ext cx="4953000" cy="1992853"/>
          </a:xfrm>
          <a:prstGeom prst="rect">
            <a:avLst/>
          </a:prstGeom>
          <a:noFill/>
        </p:spPr>
        <p:txBody>
          <a:bodyPr vert="horz" wrap="square" lIns="0" rtlCol="0">
            <a:spAutoFit/>
          </a:bodyPr>
          <a:lstStyle/>
          <a:p>
            <a:r>
              <a:rPr lang="nb-NO" sz="950">
                <a:solidFill>
                  <a:srgbClr val="0F172A"/>
                </a:solidFill>
                <a:latin typeface="Segoe UI" panose="020B0502040204020203" pitchFamily="34" charset="0"/>
              </a:rPr>
              <a:t>a. Sikre felles situasjonsforståelse:
   Samkjøre salgsstrategi, verdiforslag og kundetilnærming mellom Telenor og Partner.
b. Knytte løsning direkte til kundens mål:
   Tydeliggjøre hvordan teknologivalgene løser spesifikke forretningsbehov og gir gevinster for beslutningstakere.
c. Løsningsarkitektur &amp; Ansvarsforhold:
   Definere klare grensesnitt mellom Telenor nettverk/infrastruktur og Partnerens programvare/tjenester.
d. Konkurransedyktig tilbudsunderlag:
   Sikre komplett tilbudspakke med transparent prisstruktur og forutsigbarhet.</a:t>
            </a:r>
          </a:p>
        </p:txBody>
      </p:sp>
    </p:spTree>
    <p:extLst>
      <p:ext uri="{BB962C8B-B14F-4D97-AF65-F5344CB8AC3E}">
        <p14:creationId xmlns:p14="http://schemas.microsoft.com/office/powerpoint/2010/main" val="20116380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311E05F7-D9B8-5FE3-D763-186DAB8F6718}"/>
              </a:ext>
            </a:extLst>
          </p:cNvPr>
          <p:cNvSpPr/>
          <p:nvPr/>
        </p:nvSpPr>
        <p:spPr>
          <a:xfrm>
            <a:off x="0" y="0"/>
            <a:ext cx="12192000" cy="6858000"/>
          </a:xfrm>
          <a:prstGeom prst="rect">
            <a:avLst/>
          </a:prstGeom>
          <a:solidFill>
            <a:srgbClr val="F8FA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 name="TekstSylinder 2">
            <a:extLst>
              <a:ext uri="{FF2B5EF4-FFF2-40B4-BE49-F238E27FC236}">
                <a16:creationId xmlns:a16="http://schemas.microsoft.com/office/drawing/2014/main" id="{D8221791-25B1-7706-9174-A9CD5D63E1BC}"/>
              </a:ext>
            </a:extLst>
          </p:cNvPr>
          <p:cNvSpPr txBox="1"/>
          <p:nvPr/>
        </p:nvSpPr>
        <p:spPr>
          <a:xfrm>
            <a:off x="571500" y="254000"/>
            <a:ext cx="6350000" cy="153888"/>
          </a:xfrm>
          <a:prstGeom prst="rect">
            <a:avLst/>
          </a:prstGeom>
          <a:noFill/>
        </p:spPr>
        <p:txBody>
          <a:bodyPr vert="horz" wrap="square" lIns="0" tIns="0" rIns="0" bIns="0" rtlCol="0">
            <a:spAutoFit/>
          </a:bodyPr>
          <a:lstStyle/>
          <a:p>
            <a:r>
              <a:rPr lang="nb-NO" sz="1000" b="1">
                <a:solidFill>
                  <a:srgbClr val="0066FF"/>
                </a:solidFill>
                <a:latin typeface="Segoe UI" panose="020B0502040204020203" pitchFamily="34" charset="0"/>
              </a:rPr>
              <a:t>STEG 4 | SALESFORCE SALGSSTEG: INNGÅ KONTRAKT</a:t>
            </a:r>
          </a:p>
        </p:txBody>
      </p:sp>
      <p:sp>
        <p:nvSpPr>
          <p:cNvPr id="4" name="TekstSylinder 3">
            <a:extLst>
              <a:ext uri="{FF2B5EF4-FFF2-40B4-BE49-F238E27FC236}">
                <a16:creationId xmlns:a16="http://schemas.microsoft.com/office/drawing/2014/main" id="{1D7698CF-80FE-3B33-356A-A99F513B38F9}"/>
              </a:ext>
            </a:extLst>
          </p:cNvPr>
          <p:cNvSpPr txBox="1"/>
          <p:nvPr/>
        </p:nvSpPr>
        <p:spPr>
          <a:xfrm>
            <a:off x="571500" y="508000"/>
            <a:ext cx="11049000" cy="307777"/>
          </a:xfrm>
          <a:prstGeom prst="rect">
            <a:avLst/>
          </a:prstGeom>
          <a:noFill/>
        </p:spPr>
        <p:txBody>
          <a:bodyPr vert="horz" wrap="square" lIns="0" tIns="0" rIns="0" bIns="0" rtlCol="0">
            <a:spAutoFit/>
          </a:bodyPr>
          <a:lstStyle/>
          <a:p>
            <a:r>
              <a:rPr lang="en-US" sz="2000" b="1">
                <a:solidFill>
                  <a:srgbClr val="0F172A"/>
                </a:solidFill>
                <a:latin typeface="Segoe UI" panose="020B0502040204020203" pitchFamily="34" charset="0"/>
              </a:rPr>
              <a:t>Booke Salget via Quote &amp; B2B Back-to-Back Avsjekk</a:t>
            </a:r>
            <a:endParaRPr lang="nb-NO" sz="2000" b="1">
              <a:solidFill>
                <a:srgbClr val="0F172A"/>
              </a:solidFill>
              <a:latin typeface="Segoe UI" panose="020B0502040204020203" pitchFamily="34" charset="0"/>
            </a:endParaRPr>
          </a:p>
        </p:txBody>
      </p:sp>
      <p:sp>
        <p:nvSpPr>
          <p:cNvPr id="5" name="TekstSylinder 4">
            <a:extLst>
              <a:ext uri="{FF2B5EF4-FFF2-40B4-BE49-F238E27FC236}">
                <a16:creationId xmlns:a16="http://schemas.microsoft.com/office/drawing/2014/main" id="{CD36A71A-81EE-7D61-1B1E-F2A20E9504A6}"/>
              </a:ext>
            </a:extLst>
          </p:cNvPr>
          <p:cNvSpPr txBox="1"/>
          <p:nvPr/>
        </p:nvSpPr>
        <p:spPr>
          <a:xfrm>
            <a:off x="571500" y="939800"/>
            <a:ext cx="11049000" cy="169277"/>
          </a:xfrm>
          <a:prstGeom prst="rect">
            <a:avLst/>
          </a:prstGeom>
          <a:noFill/>
        </p:spPr>
        <p:txBody>
          <a:bodyPr vert="horz" wrap="square" lIns="0" tIns="0" rIns="0" bIns="0" rtlCol="0">
            <a:spAutoFit/>
          </a:bodyPr>
          <a:lstStyle/>
          <a:p>
            <a:r>
              <a:rPr lang="nb-NO" sz="1100">
                <a:solidFill>
                  <a:srgbClr val="475569"/>
                </a:solidFill>
                <a:latin typeface="Segoe UI" panose="020B0502040204020203" pitchFamily="34" charset="0"/>
              </a:rPr>
              <a:t>Hovedansvar: Telenor Salg (KAM) | Fokus: Quote-opprettelse, FPP produktvalg, prisregistrering og B2B-trigger</a:t>
            </a:r>
          </a:p>
        </p:txBody>
      </p:sp>
      <p:sp>
        <p:nvSpPr>
          <p:cNvPr id="6" name="Rektangel 5">
            <a:extLst>
              <a:ext uri="{FF2B5EF4-FFF2-40B4-BE49-F238E27FC236}">
                <a16:creationId xmlns:a16="http://schemas.microsoft.com/office/drawing/2014/main" id="{E35FE574-82CE-2373-3A9E-82711CD15878}"/>
              </a:ext>
            </a:extLst>
          </p:cNvPr>
          <p:cNvSpPr/>
          <p:nvPr/>
        </p:nvSpPr>
        <p:spPr>
          <a:xfrm>
            <a:off x="571500" y="1397000"/>
            <a:ext cx="5334000" cy="4953000"/>
          </a:xfrm>
          <a:prstGeom prst="rect">
            <a:avLst/>
          </a:prstGeom>
          <a:solidFill>
            <a:srgbClr val="FFFFFF"/>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7" name="Rektangel 6">
            <a:extLst>
              <a:ext uri="{FF2B5EF4-FFF2-40B4-BE49-F238E27FC236}">
                <a16:creationId xmlns:a16="http://schemas.microsoft.com/office/drawing/2014/main" id="{AFA5370B-0556-5F92-1211-18745FFD41CA}"/>
              </a:ext>
            </a:extLst>
          </p:cNvPr>
          <p:cNvSpPr/>
          <p:nvPr/>
        </p:nvSpPr>
        <p:spPr>
          <a:xfrm>
            <a:off x="571500" y="1397000"/>
            <a:ext cx="5334000" cy="444500"/>
          </a:xfrm>
          <a:prstGeom prst="rect">
            <a:avLst/>
          </a:prstGeom>
          <a:solidFill>
            <a:srgbClr val="D9770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TekstSylinder 7">
            <a:extLst>
              <a:ext uri="{FF2B5EF4-FFF2-40B4-BE49-F238E27FC236}">
                <a16:creationId xmlns:a16="http://schemas.microsoft.com/office/drawing/2014/main" id="{9527A965-B888-D2C0-2B57-6939DDDCE324}"/>
              </a:ext>
            </a:extLst>
          </p:cNvPr>
          <p:cNvSpPr txBox="1"/>
          <p:nvPr/>
        </p:nvSpPr>
        <p:spPr>
          <a:xfrm>
            <a:off x="698500" y="1473200"/>
            <a:ext cx="5080000" cy="261610"/>
          </a:xfrm>
          <a:prstGeom prst="rect">
            <a:avLst/>
          </a:prstGeom>
          <a:noFill/>
        </p:spPr>
        <p:txBody>
          <a:bodyPr vert="horz" rtlCol="0">
            <a:spAutoFit/>
          </a:bodyPr>
          <a:lstStyle/>
          <a:p>
            <a:r>
              <a:rPr lang="nb-NO" sz="1100" b="1">
                <a:solidFill>
                  <a:srgbClr val="FFFFFF"/>
                </a:solidFill>
                <a:latin typeface="Segoe UI" panose="020B0502040204020203" pitchFamily="34" charset="0"/>
              </a:rPr>
              <a:t>Klikkvei for Quote i Salesforce</a:t>
            </a:r>
          </a:p>
        </p:txBody>
      </p:sp>
      <p:sp>
        <p:nvSpPr>
          <p:cNvPr id="9" name="TekstSylinder 8">
            <a:extLst>
              <a:ext uri="{FF2B5EF4-FFF2-40B4-BE49-F238E27FC236}">
                <a16:creationId xmlns:a16="http://schemas.microsoft.com/office/drawing/2014/main" id="{A9C625A3-719B-1CBC-101F-7CE117A62B6D}"/>
              </a:ext>
            </a:extLst>
          </p:cNvPr>
          <p:cNvSpPr txBox="1"/>
          <p:nvPr/>
        </p:nvSpPr>
        <p:spPr>
          <a:xfrm>
            <a:off x="762000" y="1968500"/>
            <a:ext cx="4953000" cy="1261884"/>
          </a:xfrm>
          <a:prstGeom prst="rect">
            <a:avLst/>
          </a:prstGeom>
          <a:noFill/>
        </p:spPr>
        <p:txBody>
          <a:bodyPr vert="horz" wrap="square" lIns="0" rtlCol="0">
            <a:spAutoFit/>
          </a:bodyPr>
          <a:lstStyle/>
          <a:p>
            <a:r>
              <a:rPr lang="nb-NO" sz="950">
                <a:solidFill>
                  <a:srgbClr val="0F172A"/>
                </a:solidFill>
                <a:latin typeface="Segoe UI" panose="020B0502040204020203" pitchFamily="34" charset="0"/>
              </a:rPr>
              <a:t>1. Velg Quote: Klikk 'New Quote' på aktuell Opportunity og gi beskrivende Quote-navn.
2. Godkjenning: Sett 'Pricing approval not Required' (for standard FPP-satser).
3. Lagre: Lagre Quoten og åpne den.
4. Add Produkt: Søk etter 'FPP' i produktkatalogen.
5. Velg Produkt: Velg aktuell 'FPP Partner' fra listen.
6. Trykk Next: Legg inn avtalte priser, antall lisenser/enheter, type og SLA.
7. Fullfør: Quoten er booket og synkronisert med Opportunity.
8. Sende Tilbud: Formell oversendelse til kunde m/kopi til KAM &amp; muntlig aksept.</a:t>
            </a:r>
          </a:p>
        </p:txBody>
      </p:sp>
      <p:sp>
        <p:nvSpPr>
          <p:cNvPr id="10" name="Rektangel 9">
            <a:extLst>
              <a:ext uri="{FF2B5EF4-FFF2-40B4-BE49-F238E27FC236}">
                <a16:creationId xmlns:a16="http://schemas.microsoft.com/office/drawing/2014/main" id="{9F5F2D7C-8187-3ACF-29AE-635A71272AD2}"/>
              </a:ext>
            </a:extLst>
          </p:cNvPr>
          <p:cNvSpPr/>
          <p:nvPr/>
        </p:nvSpPr>
        <p:spPr>
          <a:xfrm>
            <a:off x="6286500" y="1397000"/>
            <a:ext cx="5334000" cy="4953000"/>
          </a:xfrm>
          <a:prstGeom prst="rect">
            <a:avLst/>
          </a:prstGeom>
          <a:solidFill>
            <a:srgbClr val="FFFFFF"/>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1" name="Rektangel 10">
            <a:extLst>
              <a:ext uri="{FF2B5EF4-FFF2-40B4-BE49-F238E27FC236}">
                <a16:creationId xmlns:a16="http://schemas.microsoft.com/office/drawing/2014/main" id="{7082BC75-7B73-12E2-FBBE-959F10F035BD}"/>
              </a:ext>
            </a:extLst>
          </p:cNvPr>
          <p:cNvSpPr/>
          <p:nvPr/>
        </p:nvSpPr>
        <p:spPr>
          <a:xfrm>
            <a:off x="6286500" y="1397000"/>
            <a:ext cx="5334000" cy="444500"/>
          </a:xfrm>
          <a:prstGeom prst="rect">
            <a:avLst/>
          </a:prstGeom>
          <a:solidFill>
            <a:srgbClr val="0A19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2" name="TekstSylinder 11">
            <a:extLst>
              <a:ext uri="{FF2B5EF4-FFF2-40B4-BE49-F238E27FC236}">
                <a16:creationId xmlns:a16="http://schemas.microsoft.com/office/drawing/2014/main" id="{7A1FCA80-1255-5CE3-E0A3-0F026EF8BC77}"/>
              </a:ext>
            </a:extLst>
          </p:cNvPr>
          <p:cNvSpPr txBox="1"/>
          <p:nvPr/>
        </p:nvSpPr>
        <p:spPr>
          <a:xfrm>
            <a:off x="6413500" y="1473200"/>
            <a:ext cx="5080000" cy="261610"/>
          </a:xfrm>
          <a:prstGeom prst="rect">
            <a:avLst/>
          </a:prstGeom>
          <a:noFill/>
        </p:spPr>
        <p:txBody>
          <a:bodyPr vert="horz" rtlCol="0">
            <a:spAutoFit/>
          </a:bodyPr>
          <a:lstStyle/>
          <a:p>
            <a:r>
              <a:rPr lang="nb-NO" sz="1100" b="1">
                <a:solidFill>
                  <a:srgbClr val="00BEF0"/>
                </a:solidFill>
                <a:latin typeface="Segoe UI" panose="020B0502040204020203" pitchFamily="34" charset="0"/>
              </a:rPr>
              <a:t>KRITISK KRAV: B2B Back-to-Back Avtale</a:t>
            </a:r>
          </a:p>
        </p:txBody>
      </p:sp>
      <p:sp>
        <p:nvSpPr>
          <p:cNvPr id="13" name="TekstSylinder 12">
            <a:extLst>
              <a:ext uri="{FF2B5EF4-FFF2-40B4-BE49-F238E27FC236}">
                <a16:creationId xmlns:a16="http://schemas.microsoft.com/office/drawing/2014/main" id="{5EED69BF-A76F-C529-DA62-7F33B9E33E52}"/>
              </a:ext>
            </a:extLst>
          </p:cNvPr>
          <p:cNvSpPr txBox="1"/>
          <p:nvPr/>
        </p:nvSpPr>
        <p:spPr>
          <a:xfrm>
            <a:off x="6477000" y="1968500"/>
            <a:ext cx="4953000" cy="2285241"/>
          </a:xfrm>
          <a:prstGeom prst="rect">
            <a:avLst/>
          </a:prstGeom>
          <a:noFill/>
        </p:spPr>
        <p:txBody>
          <a:bodyPr vert="horz" wrap="square" lIns="0" rtlCol="0">
            <a:spAutoFit/>
          </a:bodyPr>
          <a:lstStyle/>
          <a:p>
            <a:r>
              <a:rPr lang="nb-NO" sz="950">
                <a:solidFill>
                  <a:srgbClr val="0F172A"/>
                </a:solidFill>
                <a:latin typeface="Segoe UI" panose="020B0502040204020203" pitchFamily="34" charset="0"/>
              </a:rPr>
              <a:t>VURDERING AV KUNDESPESIFIKK AVTALE:
Dersom avtalen inneholder:
• Kundespesifikke krav eller avvik fra standardvilkår
• Spesielle SLA-forpliktelser eller responstider
• Spesialtilpasset integrasjon / leveranse
-&gt; TRIGGER = JA:
Det MÅ etableres og signeres en formell Back-to-Back B2B-avtale mellom Telenor og Partner!
Hensikt &amp; Risikoavlastning:
• Speiler samtlige kundekrav overfor partneren.
• Sikrer at Telenor ikke sitter med udekket drifts- eller finansiell risiko.
• Partner inngår direkte DPA mot kunden.</a:t>
            </a:r>
          </a:p>
        </p:txBody>
      </p:sp>
    </p:spTree>
    <p:extLst>
      <p:ext uri="{BB962C8B-B14F-4D97-AF65-F5344CB8AC3E}">
        <p14:creationId xmlns:p14="http://schemas.microsoft.com/office/powerpoint/2010/main" val="18747161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405C5B76-5763-6456-C65A-C7FFA6311BD3}"/>
              </a:ext>
            </a:extLst>
          </p:cNvPr>
          <p:cNvSpPr/>
          <p:nvPr/>
        </p:nvSpPr>
        <p:spPr>
          <a:xfrm>
            <a:off x="0" y="0"/>
            <a:ext cx="12192000" cy="6858000"/>
          </a:xfrm>
          <a:prstGeom prst="rect">
            <a:avLst/>
          </a:prstGeom>
          <a:solidFill>
            <a:srgbClr val="F8FA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 name="TekstSylinder 2">
            <a:extLst>
              <a:ext uri="{FF2B5EF4-FFF2-40B4-BE49-F238E27FC236}">
                <a16:creationId xmlns:a16="http://schemas.microsoft.com/office/drawing/2014/main" id="{1ECCC29C-AF56-F2EC-C504-69C42A3C2839}"/>
              </a:ext>
            </a:extLst>
          </p:cNvPr>
          <p:cNvSpPr txBox="1"/>
          <p:nvPr/>
        </p:nvSpPr>
        <p:spPr>
          <a:xfrm>
            <a:off x="571500" y="254000"/>
            <a:ext cx="6350000" cy="153888"/>
          </a:xfrm>
          <a:prstGeom prst="rect">
            <a:avLst/>
          </a:prstGeom>
          <a:noFill/>
        </p:spPr>
        <p:txBody>
          <a:bodyPr vert="horz" wrap="square" lIns="0" tIns="0" rIns="0" bIns="0" rtlCol="0">
            <a:spAutoFit/>
          </a:bodyPr>
          <a:lstStyle/>
          <a:p>
            <a:r>
              <a:rPr lang="nb-NO" sz="1000" b="1">
                <a:solidFill>
                  <a:srgbClr val="0066FF"/>
                </a:solidFill>
                <a:latin typeface="Segoe UI" panose="020B0502040204020203" pitchFamily="34" charset="0"/>
              </a:rPr>
              <a:t>STEG 5 | SALESFORCE SALGSSTEG: INNGÅ KONTRAKT (SIGNERING)</a:t>
            </a:r>
          </a:p>
        </p:txBody>
      </p:sp>
      <p:sp>
        <p:nvSpPr>
          <p:cNvPr id="4" name="TekstSylinder 3">
            <a:extLst>
              <a:ext uri="{FF2B5EF4-FFF2-40B4-BE49-F238E27FC236}">
                <a16:creationId xmlns:a16="http://schemas.microsoft.com/office/drawing/2014/main" id="{02835055-0CDE-68F8-1665-752D49DE2268}"/>
              </a:ext>
            </a:extLst>
          </p:cNvPr>
          <p:cNvSpPr txBox="1"/>
          <p:nvPr/>
        </p:nvSpPr>
        <p:spPr>
          <a:xfrm>
            <a:off x="571500" y="508000"/>
            <a:ext cx="11049000" cy="307777"/>
          </a:xfrm>
          <a:prstGeom prst="rect">
            <a:avLst/>
          </a:prstGeom>
          <a:noFill/>
        </p:spPr>
        <p:txBody>
          <a:bodyPr vert="horz" wrap="square" lIns="0" tIns="0" rIns="0" bIns="0" rtlCol="0">
            <a:spAutoFit/>
          </a:bodyPr>
          <a:lstStyle/>
          <a:p>
            <a:r>
              <a:rPr lang="nb-NO" sz="2000" b="1">
                <a:solidFill>
                  <a:srgbClr val="0F172A"/>
                </a:solidFill>
                <a:latin typeface="Segoe UI" panose="020B0502040204020203" pitchFamily="34" charset="0"/>
              </a:rPr>
              <a:t>Digital E-Signering &amp; Kontraktsadministrasjon</a:t>
            </a:r>
          </a:p>
        </p:txBody>
      </p:sp>
      <p:sp>
        <p:nvSpPr>
          <p:cNvPr id="5" name="TekstSylinder 4">
            <a:extLst>
              <a:ext uri="{FF2B5EF4-FFF2-40B4-BE49-F238E27FC236}">
                <a16:creationId xmlns:a16="http://schemas.microsoft.com/office/drawing/2014/main" id="{7DC68743-1ADA-AAF9-ACCD-3F4EB4A00992}"/>
              </a:ext>
            </a:extLst>
          </p:cNvPr>
          <p:cNvSpPr txBox="1"/>
          <p:nvPr/>
        </p:nvSpPr>
        <p:spPr>
          <a:xfrm>
            <a:off x="571500" y="939800"/>
            <a:ext cx="11049000" cy="169277"/>
          </a:xfrm>
          <a:prstGeom prst="rect">
            <a:avLst/>
          </a:prstGeom>
          <a:noFill/>
        </p:spPr>
        <p:txBody>
          <a:bodyPr vert="horz" wrap="square" lIns="0" tIns="0" rIns="0" bIns="0" rtlCol="0">
            <a:spAutoFit/>
          </a:bodyPr>
          <a:lstStyle/>
          <a:p>
            <a:r>
              <a:rPr lang="nb-NO" sz="1100">
                <a:solidFill>
                  <a:srgbClr val="475569"/>
                </a:solidFill>
                <a:latin typeface="Segoe UI" panose="020B0502040204020203" pitchFamily="34" charset="0"/>
              </a:rPr>
              <a:t>Hovedansvar: Telenor Salg (KAM) | Fokus: Contract opprettelse, opplasting under Documents og BankID / DocuSign</a:t>
            </a:r>
          </a:p>
        </p:txBody>
      </p:sp>
      <p:sp>
        <p:nvSpPr>
          <p:cNvPr id="6" name="Rektangel 5">
            <a:extLst>
              <a:ext uri="{FF2B5EF4-FFF2-40B4-BE49-F238E27FC236}">
                <a16:creationId xmlns:a16="http://schemas.microsoft.com/office/drawing/2014/main" id="{4AEC6AD4-E67B-18E9-245F-E91FF65CCA0A}"/>
              </a:ext>
            </a:extLst>
          </p:cNvPr>
          <p:cNvSpPr/>
          <p:nvPr/>
        </p:nvSpPr>
        <p:spPr>
          <a:xfrm>
            <a:off x="571500" y="1397000"/>
            <a:ext cx="5334000" cy="4953000"/>
          </a:xfrm>
          <a:prstGeom prst="rect">
            <a:avLst/>
          </a:prstGeom>
          <a:solidFill>
            <a:srgbClr val="FFFFFF"/>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7" name="Rektangel 6">
            <a:extLst>
              <a:ext uri="{FF2B5EF4-FFF2-40B4-BE49-F238E27FC236}">
                <a16:creationId xmlns:a16="http://schemas.microsoft.com/office/drawing/2014/main" id="{783C16F6-160B-B294-4C2B-2A9DF7BEBBD8}"/>
              </a:ext>
            </a:extLst>
          </p:cNvPr>
          <p:cNvSpPr/>
          <p:nvPr/>
        </p:nvSpPr>
        <p:spPr>
          <a:xfrm>
            <a:off x="571500" y="1397000"/>
            <a:ext cx="5334000" cy="444500"/>
          </a:xfrm>
          <a:prstGeom prst="rect">
            <a:avLst/>
          </a:prstGeom>
          <a:solidFill>
            <a:srgbClr val="D9770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TekstSylinder 7">
            <a:extLst>
              <a:ext uri="{FF2B5EF4-FFF2-40B4-BE49-F238E27FC236}">
                <a16:creationId xmlns:a16="http://schemas.microsoft.com/office/drawing/2014/main" id="{B88E6BD8-E556-C23A-035A-A3E6C4A6B167}"/>
              </a:ext>
            </a:extLst>
          </p:cNvPr>
          <p:cNvSpPr txBox="1"/>
          <p:nvPr/>
        </p:nvSpPr>
        <p:spPr>
          <a:xfrm>
            <a:off x="698500" y="1473200"/>
            <a:ext cx="5080000" cy="261610"/>
          </a:xfrm>
          <a:prstGeom prst="rect">
            <a:avLst/>
          </a:prstGeom>
          <a:noFill/>
        </p:spPr>
        <p:txBody>
          <a:bodyPr vert="horz" rtlCol="0">
            <a:spAutoFit/>
          </a:bodyPr>
          <a:lstStyle/>
          <a:p>
            <a:r>
              <a:rPr lang="nb-NO" sz="1100" b="1">
                <a:solidFill>
                  <a:srgbClr val="FFFFFF"/>
                </a:solidFill>
                <a:latin typeface="Segoe UI" panose="020B0502040204020203" pitchFamily="34" charset="0"/>
              </a:rPr>
              <a:t>Klikkvei for Kontrakt &amp; Signering</a:t>
            </a:r>
          </a:p>
        </p:txBody>
      </p:sp>
      <p:sp>
        <p:nvSpPr>
          <p:cNvPr id="9" name="TekstSylinder 8">
            <a:extLst>
              <a:ext uri="{FF2B5EF4-FFF2-40B4-BE49-F238E27FC236}">
                <a16:creationId xmlns:a16="http://schemas.microsoft.com/office/drawing/2014/main" id="{D386B066-07D3-9F43-AAC3-7E7A4797DDFA}"/>
              </a:ext>
            </a:extLst>
          </p:cNvPr>
          <p:cNvSpPr txBox="1"/>
          <p:nvPr/>
        </p:nvSpPr>
        <p:spPr>
          <a:xfrm>
            <a:off x="762000" y="1968500"/>
            <a:ext cx="4953000" cy="1554272"/>
          </a:xfrm>
          <a:prstGeom prst="rect">
            <a:avLst/>
          </a:prstGeom>
          <a:noFill/>
        </p:spPr>
        <p:txBody>
          <a:bodyPr vert="horz" wrap="square" lIns="0" rtlCol="0">
            <a:spAutoFit/>
          </a:bodyPr>
          <a:lstStyle/>
          <a:p>
            <a:r>
              <a:rPr lang="nb-NO" sz="950">
                <a:solidFill>
                  <a:srgbClr val="0F172A"/>
                </a:solidFill>
                <a:latin typeface="Segoe UI" panose="020B0502040204020203" pitchFamily="34" charset="0"/>
              </a:rPr>
              <a:t>1. Velg New Contract: Gå til kunden og opprett ny Contract.
2. Avtaledatoer: Sett gyldig startdato og eventuell binding/sluttdato.
3. Agreement Between: Sett feltet til 'Kunde og Telenor'.
4. Kontraktstype: Velg 'Kundekontrakt'.
5. Åpne Kontrakten: Gå inn på Contracts og åpne den nyopprettede kontrakten.
6. Last Opp Dokument: Last opp utfylt 'FPP Telenor Tjenesteavtale' under Documents.
7. Start Digital Signature: Klikk på knappen for e-signering.
8. Intern Signatør: Velg Telenor person med gyldig signeringsfullmakt / mandat.
9. Ekstern Signatør: Velg kundens bemyndigede kontaktperson.
10. Submit: Avtalen distribueres til e-signering (BankID / DocuSign).</a:t>
            </a:r>
          </a:p>
        </p:txBody>
      </p:sp>
      <p:sp>
        <p:nvSpPr>
          <p:cNvPr id="10" name="Rektangel 9">
            <a:extLst>
              <a:ext uri="{FF2B5EF4-FFF2-40B4-BE49-F238E27FC236}">
                <a16:creationId xmlns:a16="http://schemas.microsoft.com/office/drawing/2014/main" id="{B7F063A4-23F6-B587-2786-66883B842FDC}"/>
              </a:ext>
            </a:extLst>
          </p:cNvPr>
          <p:cNvSpPr/>
          <p:nvPr/>
        </p:nvSpPr>
        <p:spPr>
          <a:xfrm>
            <a:off x="6286500" y="1397000"/>
            <a:ext cx="5334000" cy="4953000"/>
          </a:xfrm>
          <a:prstGeom prst="rect">
            <a:avLst/>
          </a:prstGeom>
          <a:solidFill>
            <a:srgbClr val="FFFFFF"/>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1" name="Rektangel 10">
            <a:extLst>
              <a:ext uri="{FF2B5EF4-FFF2-40B4-BE49-F238E27FC236}">
                <a16:creationId xmlns:a16="http://schemas.microsoft.com/office/drawing/2014/main" id="{4B358C26-02BD-C96E-924F-C31361536460}"/>
              </a:ext>
            </a:extLst>
          </p:cNvPr>
          <p:cNvSpPr/>
          <p:nvPr/>
        </p:nvSpPr>
        <p:spPr>
          <a:xfrm>
            <a:off x="6286500" y="1397000"/>
            <a:ext cx="5334000" cy="444500"/>
          </a:xfrm>
          <a:prstGeom prst="rect">
            <a:avLst/>
          </a:prstGeom>
          <a:solidFill>
            <a:srgbClr val="1E29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2" name="TekstSylinder 11">
            <a:extLst>
              <a:ext uri="{FF2B5EF4-FFF2-40B4-BE49-F238E27FC236}">
                <a16:creationId xmlns:a16="http://schemas.microsoft.com/office/drawing/2014/main" id="{6CBDA87B-C47D-1183-D198-A49FEA86CE98}"/>
              </a:ext>
            </a:extLst>
          </p:cNvPr>
          <p:cNvSpPr txBox="1"/>
          <p:nvPr/>
        </p:nvSpPr>
        <p:spPr>
          <a:xfrm>
            <a:off x="6413500" y="1473200"/>
            <a:ext cx="5080000" cy="261610"/>
          </a:xfrm>
          <a:prstGeom prst="rect">
            <a:avLst/>
          </a:prstGeom>
          <a:noFill/>
        </p:spPr>
        <p:txBody>
          <a:bodyPr vert="horz" rtlCol="0">
            <a:spAutoFit/>
          </a:bodyPr>
          <a:lstStyle/>
          <a:p>
            <a:r>
              <a:rPr lang="nb-NO" sz="1100" b="1">
                <a:solidFill>
                  <a:srgbClr val="FFFFFF"/>
                </a:solidFill>
                <a:latin typeface="Segoe UI" panose="020B0502040204020203" pitchFamily="34" charset="0"/>
              </a:rPr>
              <a:t>Kvalitetssikring &amp; Sikker Signeringsflyt</a:t>
            </a:r>
          </a:p>
        </p:txBody>
      </p:sp>
      <p:sp>
        <p:nvSpPr>
          <p:cNvPr id="13" name="TekstSylinder 12">
            <a:extLst>
              <a:ext uri="{FF2B5EF4-FFF2-40B4-BE49-F238E27FC236}">
                <a16:creationId xmlns:a16="http://schemas.microsoft.com/office/drawing/2014/main" id="{50058523-DFE9-610A-1BF1-2DA423029A34}"/>
              </a:ext>
            </a:extLst>
          </p:cNvPr>
          <p:cNvSpPr txBox="1"/>
          <p:nvPr/>
        </p:nvSpPr>
        <p:spPr>
          <a:xfrm>
            <a:off x="6477000" y="1968500"/>
            <a:ext cx="4953000" cy="1992853"/>
          </a:xfrm>
          <a:prstGeom prst="rect">
            <a:avLst/>
          </a:prstGeom>
          <a:noFill/>
        </p:spPr>
        <p:txBody>
          <a:bodyPr vert="horz" wrap="square" lIns="0" rtlCol="0">
            <a:spAutoFit/>
          </a:bodyPr>
          <a:lstStyle/>
          <a:p>
            <a:r>
              <a:rPr lang="nb-NO" sz="950">
                <a:solidFill>
                  <a:srgbClr val="0F172A"/>
                </a:solidFill>
                <a:latin typeface="Segoe UI" panose="020B0502040204020203" pitchFamily="34" charset="0"/>
              </a:rPr>
              <a:t>a. Sluttforhandlinger:
   Avklare siste detaljer rundt oppstartsdato, leveranseplan og eventuelle særskilte kundeønsker.
b. Mandatsjekk:
   Verifisere at intern Telenor-signatør har tilstrekkelig fullmakt ihht. Telenors signeringsmatrise og avtaleverdi.
c. Signaturvalidering:
   Sikre at begge parter signerer med gyldig BankID / DocuSign.
d. Automatisk Arkivering:
   Når begge parter har signert, lagres signert PDF automatisk i Salesforce Contracts.</a:t>
            </a:r>
          </a:p>
        </p:txBody>
      </p:sp>
    </p:spTree>
    <p:extLst>
      <p:ext uri="{BB962C8B-B14F-4D97-AF65-F5344CB8AC3E}">
        <p14:creationId xmlns:p14="http://schemas.microsoft.com/office/powerpoint/2010/main" val="11066668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6F159C6E-5181-4D9D-1CA1-A166AF010150}"/>
              </a:ext>
            </a:extLst>
          </p:cNvPr>
          <p:cNvSpPr/>
          <p:nvPr/>
        </p:nvSpPr>
        <p:spPr>
          <a:xfrm>
            <a:off x="0" y="0"/>
            <a:ext cx="12192000" cy="6858000"/>
          </a:xfrm>
          <a:prstGeom prst="rect">
            <a:avLst/>
          </a:prstGeom>
          <a:solidFill>
            <a:srgbClr val="F8FA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 name="TekstSylinder 2">
            <a:extLst>
              <a:ext uri="{FF2B5EF4-FFF2-40B4-BE49-F238E27FC236}">
                <a16:creationId xmlns:a16="http://schemas.microsoft.com/office/drawing/2014/main" id="{785E1696-79F1-28C9-2428-593BB26755C7}"/>
              </a:ext>
            </a:extLst>
          </p:cNvPr>
          <p:cNvSpPr txBox="1"/>
          <p:nvPr/>
        </p:nvSpPr>
        <p:spPr>
          <a:xfrm>
            <a:off x="571500" y="254000"/>
            <a:ext cx="6350000" cy="153888"/>
          </a:xfrm>
          <a:prstGeom prst="rect">
            <a:avLst/>
          </a:prstGeom>
          <a:noFill/>
        </p:spPr>
        <p:txBody>
          <a:bodyPr vert="horz" wrap="square" lIns="0" tIns="0" rIns="0" bIns="0" rtlCol="0">
            <a:spAutoFit/>
          </a:bodyPr>
          <a:lstStyle/>
          <a:p>
            <a:r>
              <a:rPr lang="nb-NO" sz="1000" b="1">
                <a:solidFill>
                  <a:srgbClr val="0066FF"/>
                </a:solidFill>
                <a:latin typeface="Segoe UI" panose="020B0502040204020203" pitchFamily="34" charset="0"/>
              </a:rPr>
              <a:t>STEG 6 | SALESFORCE SALGSSTEG: CLOSED</a:t>
            </a:r>
          </a:p>
        </p:txBody>
      </p:sp>
      <p:sp>
        <p:nvSpPr>
          <p:cNvPr id="4" name="TekstSylinder 3">
            <a:extLst>
              <a:ext uri="{FF2B5EF4-FFF2-40B4-BE49-F238E27FC236}">
                <a16:creationId xmlns:a16="http://schemas.microsoft.com/office/drawing/2014/main" id="{4EF91C7B-7256-303A-3903-B287BDF54370}"/>
              </a:ext>
            </a:extLst>
          </p:cNvPr>
          <p:cNvSpPr txBox="1"/>
          <p:nvPr/>
        </p:nvSpPr>
        <p:spPr>
          <a:xfrm>
            <a:off x="571500" y="508000"/>
            <a:ext cx="11049000" cy="307777"/>
          </a:xfrm>
          <a:prstGeom prst="rect">
            <a:avLst/>
          </a:prstGeom>
          <a:noFill/>
        </p:spPr>
        <p:txBody>
          <a:bodyPr vert="horz" wrap="square" lIns="0" tIns="0" rIns="0" bIns="0" rtlCol="0">
            <a:spAutoFit/>
          </a:bodyPr>
          <a:lstStyle/>
          <a:p>
            <a:r>
              <a:rPr lang="nb-NO" sz="2000" b="1">
                <a:solidFill>
                  <a:srgbClr val="0F172A"/>
                </a:solidFill>
                <a:latin typeface="Segoe UI" panose="020B0502040204020203" pitchFamily="34" charset="0"/>
              </a:rPr>
              <a:t>Produksjonssetting (Won) vs. Tapsanalyse (Lost)</a:t>
            </a:r>
          </a:p>
        </p:txBody>
      </p:sp>
      <p:sp>
        <p:nvSpPr>
          <p:cNvPr id="5" name="TekstSylinder 4">
            <a:extLst>
              <a:ext uri="{FF2B5EF4-FFF2-40B4-BE49-F238E27FC236}">
                <a16:creationId xmlns:a16="http://schemas.microsoft.com/office/drawing/2014/main" id="{FABBA99C-E5D2-0551-905D-1874C90E9004}"/>
              </a:ext>
            </a:extLst>
          </p:cNvPr>
          <p:cNvSpPr txBox="1"/>
          <p:nvPr/>
        </p:nvSpPr>
        <p:spPr>
          <a:xfrm>
            <a:off x="571500" y="939800"/>
            <a:ext cx="11049000" cy="169277"/>
          </a:xfrm>
          <a:prstGeom prst="rect">
            <a:avLst/>
          </a:prstGeom>
          <a:noFill/>
        </p:spPr>
        <p:txBody>
          <a:bodyPr vert="horz" wrap="square" lIns="0" tIns="0" rIns="0" bIns="0" rtlCol="0">
            <a:spAutoFit/>
          </a:bodyPr>
          <a:lstStyle/>
          <a:p>
            <a:r>
              <a:rPr lang="nb-NO" sz="1100">
                <a:solidFill>
                  <a:srgbClr val="475569"/>
                </a:solidFill>
                <a:latin typeface="Segoe UI" panose="020B0502040204020203" pitchFamily="34" charset="0"/>
              </a:rPr>
              <a:t>Hovedansvar: Telenor Salg &amp; Partner | Fokus: Sømløs leveranse, korrekt fakturering og systematisk læring</a:t>
            </a:r>
          </a:p>
        </p:txBody>
      </p:sp>
      <p:sp>
        <p:nvSpPr>
          <p:cNvPr id="6" name="Rektangel 5">
            <a:extLst>
              <a:ext uri="{FF2B5EF4-FFF2-40B4-BE49-F238E27FC236}">
                <a16:creationId xmlns:a16="http://schemas.microsoft.com/office/drawing/2014/main" id="{D02742F8-08BD-FD12-4A2E-7CB7BFC6C00B}"/>
              </a:ext>
            </a:extLst>
          </p:cNvPr>
          <p:cNvSpPr/>
          <p:nvPr/>
        </p:nvSpPr>
        <p:spPr>
          <a:xfrm>
            <a:off x="571500" y="1397000"/>
            <a:ext cx="5334000" cy="4953000"/>
          </a:xfrm>
          <a:prstGeom prst="rect">
            <a:avLst/>
          </a:prstGeom>
          <a:solidFill>
            <a:srgbClr val="FFFFFF"/>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7" name="Rektangel 6">
            <a:extLst>
              <a:ext uri="{FF2B5EF4-FFF2-40B4-BE49-F238E27FC236}">
                <a16:creationId xmlns:a16="http://schemas.microsoft.com/office/drawing/2014/main" id="{499CD3EC-C6F3-0562-469A-86F767D79F32}"/>
              </a:ext>
            </a:extLst>
          </p:cNvPr>
          <p:cNvSpPr/>
          <p:nvPr/>
        </p:nvSpPr>
        <p:spPr>
          <a:xfrm>
            <a:off x="571500" y="1397000"/>
            <a:ext cx="5334000" cy="444500"/>
          </a:xfrm>
          <a:prstGeom prst="rect">
            <a:avLst/>
          </a:prstGeom>
          <a:solidFill>
            <a:srgbClr val="05966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TekstSylinder 7">
            <a:extLst>
              <a:ext uri="{FF2B5EF4-FFF2-40B4-BE49-F238E27FC236}">
                <a16:creationId xmlns:a16="http://schemas.microsoft.com/office/drawing/2014/main" id="{2CF22321-E0F4-2871-6F59-E6C85D0CB7E9}"/>
              </a:ext>
            </a:extLst>
          </p:cNvPr>
          <p:cNvSpPr txBox="1"/>
          <p:nvPr/>
        </p:nvSpPr>
        <p:spPr>
          <a:xfrm>
            <a:off x="698500" y="1473200"/>
            <a:ext cx="5080000" cy="261610"/>
          </a:xfrm>
          <a:prstGeom prst="rect">
            <a:avLst/>
          </a:prstGeom>
          <a:noFill/>
        </p:spPr>
        <p:txBody>
          <a:bodyPr vert="horz" rtlCol="0">
            <a:spAutoFit/>
          </a:bodyPr>
          <a:lstStyle/>
          <a:p>
            <a:r>
              <a:rPr lang="nb-NO" sz="1100" b="1">
                <a:solidFill>
                  <a:srgbClr val="FFFFFF"/>
                </a:solidFill>
                <a:latin typeface="Segoe UI" panose="020B0502040204020203" pitchFamily="34" charset="0"/>
              </a:rPr>
              <a:t>CLOSED WON: Produksjonssetting &amp; Onboarding</a:t>
            </a:r>
          </a:p>
        </p:txBody>
      </p:sp>
      <p:sp>
        <p:nvSpPr>
          <p:cNvPr id="9" name="TekstSylinder 8">
            <a:extLst>
              <a:ext uri="{FF2B5EF4-FFF2-40B4-BE49-F238E27FC236}">
                <a16:creationId xmlns:a16="http://schemas.microsoft.com/office/drawing/2014/main" id="{5A24BD7B-C3C5-BDEF-40B1-97A9B71846B5}"/>
              </a:ext>
            </a:extLst>
          </p:cNvPr>
          <p:cNvSpPr txBox="1"/>
          <p:nvPr/>
        </p:nvSpPr>
        <p:spPr>
          <a:xfrm>
            <a:off x="762000" y="1968500"/>
            <a:ext cx="4953000" cy="1992853"/>
          </a:xfrm>
          <a:prstGeom prst="rect">
            <a:avLst/>
          </a:prstGeom>
          <a:noFill/>
        </p:spPr>
        <p:txBody>
          <a:bodyPr vert="horz" wrap="square" lIns="0" rtlCol="0">
            <a:spAutoFit/>
          </a:bodyPr>
          <a:lstStyle/>
          <a:p>
            <a:r>
              <a:rPr lang="nb-NO" sz="950">
                <a:solidFill>
                  <a:srgbClr val="0F172A"/>
                </a:solidFill>
                <a:latin typeface="Segoe UI" panose="020B0502040204020203" pitchFamily="34" charset="0"/>
              </a:rPr>
              <a:t>1. Signert Kontrakt til Partner:
   Telenor oversender kopi av ferdig signert avtale til Partner for umiddelbar teknisk provisjonering.
2. Fakturering via Telenor:
   Faktureringslinjer aktiveres i Telenors systemer ihht. avtalt prisstruktur og betalingsplan.
3. Tjenesteproduksjon via Partner:
   Partner klargjør systemer, brukere, integrasjoner og leverer avtalt tjeneste til kunden.
4. Onboarding &amp; Opplæring:
   Partner og Telenor gjennomfører oppstartsmøte og sikrer god brukeropplæring hos kunden.</a:t>
            </a:r>
          </a:p>
        </p:txBody>
      </p:sp>
      <p:sp>
        <p:nvSpPr>
          <p:cNvPr id="10" name="Rektangel 9">
            <a:extLst>
              <a:ext uri="{FF2B5EF4-FFF2-40B4-BE49-F238E27FC236}">
                <a16:creationId xmlns:a16="http://schemas.microsoft.com/office/drawing/2014/main" id="{97BD9B59-FC03-0EF6-9962-F0C979E6966B}"/>
              </a:ext>
            </a:extLst>
          </p:cNvPr>
          <p:cNvSpPr/>
          <p:nvPr/>
        </p:nvSpPr>
        <p:spPr>
          <a:xfrm>
            <a:off x="6286500" y="1397000"/>
            <a:ext cx="5334000" cy="4953000"/>
          </a:xfrm>
          <a:prstGeom prst="rect">
            <a:avLst/>
          </a:prstGeom>
          <a:solidFill>
            <a:srgbClr val="FFFFFF"/>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1" name="Rektangel 10">
            <a:extLst>
              <a:ext uri="{FF2B5EF4-FFF2-40B4-BE49-F238E27FC236}">
                <a16:creationId xmlns:a16="http://schemas.microsoft.com/office/drawing/2014/main" id="{49C6450F-D92E-1F50-B4F5-C3F165CC58D1}"/>
              </a:ext>
            </a:extLst>
          </p:cNvPr>
          <p:cNvSpPr/>
          <p:nvPr/>
        </p:nvSpPr>
        <p:spPr>
          <a:xfrm>
            <a:off x="6286500" y="1397000"/>
            <a:ext cx="5334000" cy="444500"/>
          </a:xfrm>
          <a:prstGeom prst="rect">
            <a:avLst/>
          </a:prstGeom>
          <a:solidFill>
            <a:srgbClr val="DC26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2" name="TekstSylinder 11">
            <a:extLst>
              <a:ext uri="{FF2B5EF4-FFF2-40B4-BE49-F238E27FC236}">
                <a16:creationId xmlns:a16="http://schemas.microsoft.com/office/drawing/2014/main" id="{6624B16A-8B4A-ACFC-47F5-F7CE578AFE0A}"/>
              </a:ext>
            </a:extLst>
          </p:cNvPr>
          <p:cNvSpPr txBox="1"/>
          <p:nvPr/>
        </p:nvSpPr>
        <p:spPr>
          <a:xfrm>
            <a:off x="6413500" y="1473200"/>
            <a:ext cx="5080000" cy="261610"/>
          </a:xfrm>
          <a:prstGeom prst="rect">
            <a:avLst/>
          </a:prstGeom>
          <a:noFill/>
        </p:spPr>
        <p:txBody>
          <a:bodyPr vert="horz" rtlCol="0">
            <a:spAutoFit/>
          </a:bodyPr>
          <a:lstStyle/>
          <a:p>
            <a:r>
              <a:rPr lang="en-US" sz="1100" b="1">
                <a:solidFill>
                  <a:srgbClr val="FFFFFF"/>
                </a:solidFill>
                <a:latin typeface="Segoe UI" panose="020B0502040204020203" pitchFamily="34" charset="0"/>
              </a:rPr>
              <a:t>CLOSED LOST: Felles Lost Review &amp; Læring</a:t>
            </a:r>
            <a:endParaRPr lang="nb-NO" sz="1100" b="1">
              <a:solidFill>
                <a:srgbClr val="FFFFFF"/>
              </a:solidFill>
              <a:latin typeface="Segoe UI" panose="020B0502040204020203" pitchFamily="34" charset="0"/>
            </a:endParaRPr>
          </a:p>
        </p:txBody>
      </p:sp>
      <p:sp>
        <p:nvSpPr>
          <p:cNvPr id="13" name="TekstSylinder 12">
            <a:extLst>
              <a:ext uri="{FF2B5EF4-FFF2-40B4-BE49-F238E27FC236}">
                <a16:creationId xmlns:a16="http://schemas.microsoft.com/office/drawing/2014/main" id="{D304BF8A-AA24-0531-DF60-263AE512AA75}"/>
              </a:ext>
            </a:extLst>
          </p:cNvPr>
          <p:cNvSpPr txBox="1"/>
          <p:nvPr/>
        </p:nvSpPr>
        <p:spPr>
          <a:xfrm>
            <a:off x="6477000" y="1968500"/>
            <a:ext cx="4953000" cy="2139047"/>
          </a:xfrm>
          <a:prstGeom prst="rect">
            <a:avLst/>
          </a:prstGeom>
          <a:noFill/>
        </p:spPr>
        <p:txBody>
          <a:bodyPr vert="horz" wrap="square" lIns="0" rtlCol="0">
            <a:spAutoFit/>
          </a:bodyPr>
          <a:lstStyle/>
          <a:p>
            <a:r>
              <a:rPr lang="nb-NO" sz="950">
                <a:solidFill>
                  <a:srgbClr val="0F172A"/>
                </a:solidFill>
                <a:latin typeface="Segoe UI" panose="020B0502040204020203" pitchFamily="34" charset="0"/>
              </a:rPr>
              <a:t>1. Statusoppdatering i Salesforce:
   Opportunity settes formelt til 'Closed Lost' med spesifisering av primær tapsårsak.
2. Felles Lost Review:
   Telenor KAM og Partner Løsningsrådgiver gjennomfører et kort evalueringsmøte innen 5 virkedager.
3. Rotårsaksanalyse:
   • Hvorfor tapte vi? (Pris, funksjonalitet, timing, konkurrent?)
   • Hvilke signaler ble oversett i Steg 1-3?
4. Lessons Learned:
   Dokumentere læringspunkter for å forbedre fremtidige felles verdiforslag og vinnersjanser.</a:t>
            </a:r>
          </a:p>
        </p:txBody>
      </p:sp>
    </p:spTree>
    <p:extLst>
      <p:ext uri="{BB962C8B-B14F-4D97-AF65-F5344CB8AC3E}">
        <p14:creationId xmlns:p14="http://schemas.microsoft.com/office/powerpoint/2010/main" val="23618495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6928EBE6-36C2-60ED-20C5-D248B17169B0}"/>
              </a:ext>
            </a:extLst>
          </p:cNvPr>
          <p:cNvSpPr/>
          <p:nvPr/>
        </p:nvSpPr>
        <p:spPr>
          <a:xfrm>
            <a:off x="0" y="0"/>
            <a:ext cx="12192000" cy="6858000"/>
          </a:xfrm>
          <a:prstGeom prst="rect">
            <a:avLst/>
          </a:prstGeom>
          <a:solidFill>
            <a:srgbClr val="F8FA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 name="TekstSylinder 2">
            <a:extLst>
              <a:ext uri="{FF2B5EF4-FFF2-40B4-BE49-F238E27FC236}">
                <a16:creationId xmlns:a16="http://schemas.microsoft.com/office/drawing/2014/main" id="{D1219661-AAE9-86B5-B530-9907315809D0}"/>
              </a:ext>
            </a:extLst>
          </p:cNvPr>
          <p:cNvSpPr txBox="1"/>
          <p:nvPr/>
        </p:nvSpPr>
        <p:spPr>
          <a:xfrm>
            <a:off x="571500" y="254000"/>
            <a:ext cx="6350000" cy="153888"/>
          </a:xfrm>
          <a:prstGeom prst="rect">
            <a:avLst/>
          </a:prstGeom>
          <a:noFill/>
        </p:spPr>
        <p:txBody>
          <a:bodyPr vert="horz" wrap="square" lIns="0" tIns="0" rIns="0" bIns="0" rtlCol="0">
            <a:spAutoFit/>
          </a:bodyPr>
          <a:lstStyle/>
          <a:p>
            <a:r>
              <a:rPr lang="nb-NO" sz="1000" b="1">
                <a:solidFill>
                  <a:srgbClr val="0066FF"/>
                </a:solidFill>
                <a:latin typeface="Segoe UI" panose="020B0502040204020203" pitchFamily="34" charset="0"/>
              </a:rPr>
              <a:t>JURIDISK RAMMEVERK &amp; RISIKOAVLASTNING</a:t>
            </a:r>
          </a:p>
        </p:txBody>
      </p:sp>
      <p:sp>
        <p:nvSpPr>
          <p:cNvPr id="4" name="TekstSylinder 3">
            <a:extLst>
              <a:ext uri="{FF2B5EF4-FFF2-40B4-BE49-F238E27FC236}">
                <a16:creationId xmlns:a16="http://schemas.microsoft.com/office/drawing/2014/main" id="{4BCFFF31-0867-951B-9365-34B38B91681D}"/>
              </a:ext>
            </a:extLst>
          </p:cNvPr>
          <p:cNvSpPr txBox="1"/>
          <p:nvPr/>
        </p:nvSpPr>
        <p:spPr>
          <a:xfrm>
            <a:off x="571500" y="508000"/>
            <a:ext cx="11049000" cy="307777"/>
          </a:xfrm>
          <a:prstGeom prst="rect">
            <a:avLst/>
          </a:prstGeom>
          <a:noFill/>
        </p:spPr>
        <p:txBody>
          <a:bodyPr vert="horz" wrap="square" lIns="0" tIns="0" rIns="0" bIns="0" rtlCol="0">
            <a:spAutoFit/>
          </a:bodyPr>
          <a:lstStyle/>
          <a:p>
            <a:r>
              <a:rPr lang="nb-NO" sz="2000" b="1">
                <a:solidFill>
                  <a:srgbClr val="0F172A"/>
                </a:solidFill>
                <a:latin typeface="Segoe UI" panose="020B0502040204020203" pitchFamily="34" charset="0"/>
              </a:rPr>
              <a:t>B2B Back-to-Back Avtaler &amp; 4-Trinns Sikring</a:t>
            </a:r>
          </a:p>
        </p:txBody>
      </p:sp>
      <p:sp>
        <p:nvSpPr>
          <p:cNvPr id="5" name="TekstSylinder 4">
            <a:extLst>
              <a:ext uri="{FF2B5EF4-FFF2-40B4-BE49-F238E27FC236}">
                <a16:creationId xmlns:a16="http://schemas.microsoft.com/office/drawing/2014/main" id="{34DD5748-0088-9290-6062-B41FAE36D5FE}"/>
              </a:ext>
            </a:extLst>
          </p:cNvPr>
          <p:cNvSpPr txBox="1"/>
          <p:nvPr/>
        </p:nvSpPr>
        <p:spPr>
          <a:xfrm>
            <a:off x="571500" y="939800"/>
            <a:ext cx="11049000" cy="169277"/>
          </a:xfrm>
          <a:prstGeom prst="rect">
            <a:avLst/>
          </a:prstGeom>
          <a:noFill/>
        </p:spPr>
        <p:txBody>
          <a:bodyPr vert="horz" wrap="square" lIns="0" tIns="0" rIns="0" bIns="0" rtlCol="0">
            <a:spAutoFit/>
          </a:bodyPr>
          <a:lstStyle/>
          <a:p>
            <a:r>
              <a:rPr lang="nb-NO" sz="1100">
                <a:solidFill>
                  <a:srgbClr val="475569"/>
                </a:solidFill>
                <a:latin typeface="Segoe UI" panose="020B0502040204020203" pitchFamily="34" charset="0"/>
              </a:rPr>
              <a:t>Når en kundeavtale avviker fra standardvilkår utløses krav om formell B2B-avtale</a:t>
            </a:r>
          </a:p>
        </p:txBody>
      </p:sp>
      <p:sp>
        <p:nvSpPr>
          <p:cNvPr id="6" name="Rektangel 5">
            <a:extLst>
              <a:ext uri="{FF2B5EF4-FFF2-40B4-BE49-F238E27FC236}">
                <a16:creationId xmlns:a16="http://schemas.microsoft.com/office/drawing/2014/main" id="{E7092F6E-CF6D-4E80-CE28-B6D9323A5B43}"/>
              </a:ext>
            </a:extLst>
          </p:cNvPr>
          <p:cNvSpPr/>
          <p:nvPr/>
        </p:nvSpPr>
        <p:spPr>
          <a:xfrm>
            <a:off x="571500" y="1333500"/>
            <a:ext cx="11049000" cy="863600"/>
          </a:xfrm>
          <a:prstGeom prst="rect">
            <a:avLst/>
          </a:prstGeom>
          <a:solidFill>
            <a:srgbClr val="0A192F"/>
          </a:solidFill>
          <a:ln w="19050">
            <a:solidFill>
              <a:srgbClr val="00BE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7" name="TekstSylinder 6">
            <a:extLst>
              <a:ext uri="{FF2B5EF4-FFF2-40B4-BE49-F238E27FC236}">
                <a16:creationId xmlns:a16="http://schemas.microsoft.com/office/drawing/2014/main" id="{8FF29D99-45A4-3555-9477-158FF1B01E6F}"/>
              </a:ext>
            </a:extLst>
          </p:cNvPr>
          <p:cNvSpPr txBox="1"/>
          <p:nvPr/>
        </p:nvSpPr>
        <p:spPr>
          <a:xfrm>
            <a:off x="762000" y="1397000"/>
            <a:ext cx="10668000" cy="269304"/>
          </a:xfrm>
          <a:prstGeom prst="rect">
            <a:avLst/>
          </a:prstGeom>
          <a:noFill/>
        </p:spPr>
        <p:txBody>
          <a:bodyPr vert="horz" rtlCol="0">
            <a:spAutoFit/>
          </a:bodyPr>
          <a:lstStyle/>
          <a:p>
            <a:r>
              <a:rPr lang="nb-NO" sz="1150" b="1">
                <a:solidFill>
                  <a:srgbClr val="00BEF0"/>
                </a:solidFill>
                <a:latin typeface="Segoe UI" panose="020B0502040204020203" pitchFamily="34" charset="0"/>
              </a:rPr>
              <a:t>TRIGGER FOR B2B-AVTALE: Kundespesifikk avtale = JA</a:t>
            </a:r>
          </a:p>
        </p:txBody>
      </p:sp>
      <p:sp>
        <p:nvSpPr>
          <p:cNvPr id="8" name="TekstSylinder 7">
            <a:extLst>
              <a:ext uri="{FF2B5EF4-FFF2-40B4-BE49-F238E27FC236}">
                <a16:creationId xmlns:a16="http://schemas.microsoft.com/office/drawing/2014/main" id="{94E56FC8-29B1-7C23-B46B-67D238DD8000}"/>
              </a:ext>
            </a:extLst>
          </p:cNvPr>
          <p:cNvSpPr txBox="1"/>
          <p:nvPr/>
        </p:nvSpPr>
        <p:spPr>
          <a:xfrm>
            <a:off x="762000" y="1701800"/>
            <a:ext cx="10668000" cy="246221"/>
          </a:xfrm>
          <a:prstGeom prst="rect">
            <a:avLst/>
          </a:prstGeom>
          <a:noFill/>
        </p:spPr>
        <p:txBody>
          <a:bodyPr vert="horz" wrap="square" rtlCol="0">
            <a:spAutoFit/>
          </a:bodyPr>
          <a:lstStyle/>
          <a:p>
            <a:r>
              <a:rPr lang="nb-NO" sz="1000">
                <a:solidFill>
                  <a:srgbClr val="E2E8F0"/>
                </a:solidFill>
                <a:latin typeface="Segoe UI" panose="020B0502040204020203" pitchFamily="34" charset="0"/>
              </a:rPr>
              <a:t>Dersom det foreligger kundespesifikke krav, særskilte SLA-er eller avvik fra standardvilkår, MÅ det etableres en Back-to-Back B2B-avtale mellom Telenor og Partner.</a:t>
            </a:r>
          </a:p>
        </p:txBody>
      </p:sp>
      <p:sp>
        <p:nvSpPr>
          <p:cNvPr id="9" name="Rektangel 8">
            <a:extLst>
              <a:ext uri="{FF2B5EF4-FFF2-40B4-BE49-F238E27FC236}">
                <a16:creationId xmlns:a16="http://schemas.microsoft.com/office/drawing/2014/main" id="{CC6DFACD-025B-C517-50C0-7CFA335DA5EC}"/>
              </a:ext>
            </a:extLst>
          </p:cNvPr>
          <p:cNvSpPr/>
          <p:nvPr/>
        </p:nvSpPr>
        <p:spPr>
          <a:xfrm>
            <a:off x="571500" y="2349500"/>
            <a:ext cx="2667000" cy="4000500"/>
          </a:xfrm>
          <a:prstGeom prst="rect">
            <a:avLst/>
          </a:prstGeom>
          <a:solidFill>
            <a:srgbClr val="FFFFFF"/>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0" name="Ellipse 9">
            <a:extLst>
              <a:ext uri="{FF2B5EF4-FFF2-40B4-BE49-F238E27FC236}">
                <a16:creationId xmlns:a16="http://schemas.microsoft.com/office/drawing/2014/main" id="{62FD52E7-7F40-DD73-791A-153CFFA29895}"/>
              </a:ext>
            </a:extLst>
          </p:cNvPr>
          <p:cNvSpPr/>
          <p:nvPr/>
        </p:nvSpPr>
        <p:spPr>
          <a:xfrm>
            <a:off x="762000" y="2514600"/>
            <a:ext cx="381000" cy="381000"/>
          </a:xfrm>
          <a:prstGeom prst="ellipse">
            <a:avLst/>
          </a:prstGeom>
          <a:solidFill>
            <a:srgbClr val="0066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1" name="TekstSylinder 10">
            <a:extLst>
              <a:ext uri="{FF2B5EF4-FFF2-40B4-BE49-F238E27FC236}">
                <a16:creationId xmlns:a16="http://schemas.microsoft.com/office/drawing/2014/main" id="{69E10316-AF08-0FD1-42A2-594A895FDD03}"/>
              </a:ext>
            </a:extLst>
          </p:cNvPr>
          <p:cNvSpPr txBox="1"/>
          <p:nvPr/>
        </p:nvSpPr>
        <p:spPr>
          <a:xfrm>
            <a:off x="762000" y="2552700"/>
            <a:ext cx="381000" cy="276999"/>
          </a:xfrm>
          <a:prstGeom prst="rect">
            <a:avLst/>
          </a:prstGeom>
          <a:noFill/>
        </p:spPr>
        <p:txBody>
          <a:bodyPr vert="horz" rtlCol="0">
            <a:spAutoFit/>
          </a:bodyPr>
          <a:lstStyle/>
          <a:p>
            <a:pPr algn="ctr"/>
            <a:r>
              <a:rPr lang="nb-NO" sz="1200" b="1">
                <a:solidFill>
                  <a:srgbClr val="FFFFFF"/>
                </a:solidFill>
                <a:latin typeface="Segoe UI" panose="020B0502040204020203" pitchFamily="34" charset="0"/>
              </a:rPr>
              <a:t>1</a:t>
            </a:r>
          </a:p>
        </p:txBody>
      </p:sp>
      <p:sp>
        <p:nvSpPr>
          <p:cNvPr id="12" name="TekstSylinder 11">
            <a:extLst>
              <a:ext uri="{FF2B5EF4-FFF2-40B4-BE49-F238E27FC236}">
                <a16:creationId xmlns:a16="http://schemas.microsoft.com/office/drawing/2014/main" id="{E9AD61FD-9413-6B3C-B50A-859FD337F74B}"/>
              </a:ext>
            </a:extLst>
          </p:cNvPr>
          <p:cNvSpPr txBox="1"/>
          <p:nvPr/>
        </p:nvSpPr>
        <p:spPr>
          <a:xfrm>
            <a:off x="762000" y="3022600"/>
            <a:ext cx="2286000" cy="261610"/>
          </a:xfrm>
          <a:prstGeom prst="rect">
            <a:avLst/>
          </a:prstGeom>
          <a:noFill/>
        </p:spPr>
        <p:txBody>
          <a:bodyPr vert="horz" wrap="square" lIns="0" rtlCol="0">
            <a:spAutoFit/>
          </a:bodyPr>
          <a:lstStyle/>
          <a:p>
            <a:r>
              <a:rPr lang="nb-NO" sz="1100" b="1">
                <a:solidFill>
                  <a:srgbClr val="0F172A"/>
                </a:solidFill>
                <a:latin typeface="Segoe UI" panose="020B0502040204020203" pitchFamily="34" charset="0"/>
              </a:rPr>
              <a:t>Back-to-Back Avtale</a:t>
            </a:r>
          </a:p>
        </p:txBody>
      </p:sp>
      <p:sp>
        <p:nvSpPr>
          <p:cNvPr id="13" name="TekstSylinder 12">
            <a:extLst>
              <a:ext uri="{FF2B5EF4-FFF2-40B4-BE49-F238E27FC236}">
                <a16:creationId xmlns:a16="http://schemas.microsoft.com/office/drawing/2014/main" id="{2BF4D2D0-152F-0E87-EC22-13184B56DE72}"/>
              </a:ext>
            </a:extLst>
          </p:cNvPr>
          <p:cNvSpPr txBox="1"/>
          <p:nvPr/>
        </p:nvSpPr>
        <p:spPr>
          <a:xfrm>
            <a:off x="762000" y="3657600"/>
            <a:ext cx="2286000" cy="530915"/>
          </a:xfrm>
          <a:prstGeom prst="rect">
            <a:avLst/>
          </a:prstGeom>
          <a:noFill/>
        </p:spPr>
        <p:txBody>
          <a:bodyPr vert="horz" wrap="square" lIns="0" rtlCol="0">
            <a:spAutoFit/>
          </a:bodyPr>
          <a:lstStyle/>
          <a:p>
            <a:r>
              <a:rPr lang="nb-NO" sz="950">
                <a:solidFill>
                  <a:srgbClr val="475569"/>
                </a:solidFill>
                <a:latin typeface="Segoe UI" panose="020B0502040204020203" pitchFamily="34" charset="0"/>
              </a:rPr>
              <a:t>Speiler alle kundekrav overfor partneren slik at Telenor ikke sitter med udekket juridisk eller driftsmessig risiko.</a:t>
            </a:r>
          </a:p>
        </p:txBody>
      </p:sp>
      <p:sp>
        <p:nvSpPr>
          <p:cNvPr id="14" name="Rektangel 13">
            <a:extLst>
              <a:ext uri="{FF2B5EF4-FFF2-40B4-BE49-F238E27FC236}">
                <a16:creationId xmlns:a16="http://schemas.microsoft.com/office/drawing/2014/main" id="{D1E71B97-6171-8A19-162B-197DB882FBCB}"/>
              </a:ext>
            </a:extLst>
          </p:cNvPr>
          <p:cNvSpPr/>
          <p:nvPr/>
        </p:nvSpPr>
        <p:spPr>
          <a:xfrm>
            <a:off x="3390900" y="2349500"/>
            <a:ext cx="2667000" cy="4000500"/>
          </a:xfrm>
          <a:prstGeom prst="rect">
            <a:avLst/>
          </a:prstGeom>
          <a:solidFill>
            <a:srgbClr val="FFFFFF"/>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5" name="Ellipse 14">
            <a:extLst>
              <a:ext uri="{FF2B5EF4-FFF2-40B4-BE49-F238E27FC236}">
                <a16:creationId xmlns:a16="http://schemas.microsoft.com/office/drawing/2014/main" id="{9451201A-E87B-5915-56BC-5E264DF30464}"/>
              </a:ext>
            </a:extLst>
          </p:cNvPr>
          <p:cNvSpPr/>
          <p:nvPr/>
        </p:nvSpPr>
        <p:spPr>
          <a:xfrm>
            <a:off x="3581400" y="2514600"/>
            <a:ext cx="381000" cy="381000"/>
          </a:xfrm>
          <a:prstGeom prst="ellipse">
            <a:avLst/>
          </a:prstGeom>
          <a:solidFill>
            <a:srgbClr val="0066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6" name="TekstSylinder 15">
            <a:extLst>
              <a:ext uri="{FF2B5EF4-FFF2-40B4-BE49-F238E27FC236}">
                <a16:creationId xmlns:a16="http://schemas.microsoft.com/office/drawing/2014/main" id="{6D2EA1C1-EFB2-9551-760C-B18A26B8EAC1}"/>
              </a:ext>
            </a:extLst>
          </p:cNvPr>
          <p:cNvSpPr txBox="1"/>
          <p:nvPr/>
        </p:nvSpPr>
        <p:spPr>
          <a:xfrm>
            <a:off x="3581400" y="2552700"/>
            <a:ext cx="381000" cy="276999"/>
          </a:xfrm>
          <a:prstGeom prst="rect">
            <a:avLst/>
          </a:prstGeom>
          <a:noFill/>
        </p:spPr>
        <p:txBody>
          <a:bodyPr vert="horz" rtlCol="0">
            <a:spAutoFit/>
          </a:bodyPr>
          <a:lstStyle/>
          <a:p>
            <a:pPr algn="ctr"/>
            <a:r>
              <a:rPr lang="nb-NO" sz="1200" b="1">
                <a:solidFill>
                  <a:srgbClr val="FFFFFF"/>
                </a:solidFill>
                <a:latin typeface="Segoe UI" panose="020B0502040204020203" pitchFamily="34" charset="0"/>
              </a:rPr>
              <a:t>2</a:t>
            </a:r>
          </a:p>
        </p:txBody>
      </p:sp>
      <p:sp>
        <p:nvSpPr>
          <p:cNvPr id="17" name="TekstSylinder 16">
            <a:extLst>
              <a:ext uri="{FF2B5EF4-FFF2-40B4-BE49-F238E27FC236}">
                <a16:creationId xmlns:a16="http://schemas.microsoft.com/office/drawing/2014/main" id="{1E22C3A9-87CD-C850-0AF2-4155FBDD62CE}"/>
              </a:ext>
            </a:extLst>
          </p:cNvPr>
          <p:cNvSpPr txBox="1"/>
          <p:nvPr/>
        </p:nvSpPr>
        <p:spPr>
          <a:xfrm>
            <a:off x="3581400" y="3022600"/>
            <a:ext cx="2286000" cy="261610"/>
          </a:xfrm>
          <a:prstGeom prst="rect">
            <a:avLst/>
          </a:prstGeom>
          <a:noFill/>
        </p:spPr>
        <p:txBody>
          <a:bodyPr vert="horz" wrap="square" lIns="0" rtlCol="0">
            <a:spAutoFit/>
          </a:bodyPr>
          <a:lstStyle/>
          <a:p>
            <a:r>
              <a:rPr lang="nb-NO" sz="1100" b="1">
                <a:solidFill>
                  <a:srgbClr val="0F172A"/>
                </a:solidFill>
                <a:latin typeface="Segoe UI" panose="020B0502040204020203" pitchFamily="34" charset="0"/>
              </a:rPr>
              <a:t>Direkte DPA (Personvern)</a:t>
            </a:r>
          </a:p>
        </p:txBody>
      </p:sp>
      <p:sp>
        <p:nvSpPr>
          <p:cNvPr id="18" name="TekstSylinder 17">
            <a:extLst>
              <a:ext uri="{FF2B5EF4-FFF2-40B4-BE49-F238E27FC236}">
                <a16:creationId xmlns:a16="http://schemas.microsoft.com/office/drawing/2014/main" id="{8BCE05C7-A3A2-B917-FC29-B0F36683D2C4}"/>
              </a:ext>
            </a:extLst>
          </p:cNvPr>
          <p:cNvSpPr txBox="1"/>
          <p:nvPr/>
        </p:nvSpPr>
        <p:spPr>
          <a:xfrm>
            <a:off x="3581400" y="3657600"/>
            <a:ext cx="2286000" cy="677108"/>
          </a:xfrm>
          <a:prstGeom prst="rect">
            <a:avLst/>
          </a:prstGeom>
          <a:noFill/>
        </p:spPr>
        <p:txBody>
          <a:bodyPr vert="horz" wrap="square" lIns="0" rtlCol="0">
            <a:spAutoFit/>
          </a:bodyPr>
          <a:lstStyle/>
          <a:p>
            <a:r>
              <a:rPr lang="nb-NO" sz="950">
                <a:solidFill>
                  <a:srgbClr val="475569"/>
                </a:solidFill>
                <a:latin typeface="Segoe UI" panose="020B0502040204020203" pitchFamily="34" charset="0"/>
              </a:rPr>
              <a:t>Inngås direkte mellom partner og kunde. Sikrer at Telenor ikke påtar seg databehandleransvar for systemer Telenor ikke drifter.</a:t>
            </a:r>
          </a:p>
        </p:txBody>
      </p:sp>
      <p:sp>
        <p:nvSpPr>
          <p:cNvPr id="19" name="Rektangel 18">
            <a:extLst>
              <a:ext uri="{FF2B5EF4-FFF2-40B4-BE49-F238E27FC236}">
                <a16:creationId xmlns:a16="http://schemas.microsoft.com/office/drawing/2014/main" id="{535D7742-92E8-9E75-9F47-FCF7A62FEB34}"/>
              </a:ext>
            </a:extLst>
          </p:cNvPr>
          <p:cNvSpPr/>
          <p:nvPr/>
        </p:nvSpPr>
        <p:spPr>
          <a:xfrm>
            <a:off x="6210300" y="2349500"/>
            <a:ext cx="2667000" cy="4000500"/>
          </a:xfrm>
          <a:prstGeom prst="rect">
            <a:avLst/>
          </a:prstGeom>
          <a:solidFill>
            <a:srgbClr val="FFFFFF"/>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0" name="Ellipse 19">
            <a:extLst>
              <a:ext uri="{FF2B5EF4-FFF2-40B4-BE49-F238E27FC236}">
                <a16:creationId xmlns:a16="http://schemas.microsoft.com/office/drawing/2014/main" id="{9513CAFA-3D12-C5F7-A07A-0BCBF424DC54}"/>
              </a:ext>
            </a:extLst>
          </p:cNvPr>
          <p:cNvSpPr/>
          <p:nvPr/>
        </p:nvSpPr>
        <p:spPr>
          <a:xfrm>
            <a:off x="6400800" y="2514600"/>
            <a:ext cx="381000" cy="381000"/>
          </a:xfrm>
          <a:prstGeom prst="ellipse">
            <a:avLst/>
          </a:prstGeom>
          <a:solidFill>
            <a:srgbClr val="0066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1" name="TekstSylinder 20">
            <a:extLst>
              <a:ext uri="{FF2B5EF4-FFF2-40B4-BE49-F238E27FC236}">
                <a16:creationId xmlns:a16="http://schemas.microsoft.com/office/drawing/2014/main" id="{BBDB5955-1BAE-0EFD-26ED-37EA12CC5D05}"/>
              </a:ext>
            </a:extLst>
          </p:cNvPr>
          <p:cNvSpPr txBox="1"/>
          <p:nvPr/>
        </p:nvSpPr>
        <p:spPr>
          <a:xfrm>
            <a:off x="6400800" y="2552700"/>
            <a:ext cx="381000" cy="276999"/>
          </a:xfrm>
          <a:prstGeom prst="rect">
            <a:avLst/>
          </a:prstGeom>
          <a:noFill/>
        </p:spPr>
        <p:txBody>
          <a:bodyPr vert="horz" rtlCol="0">
            <a:spAutoFit/>
          </a:bodyPr>
          <a:lstStyle/>
          <a:p>
            <a:pPr algn="ctr"/>
            <a:r>
              <a:rPr lang="nb-NO" sz="1200" b="1">
                <a:solidFill>
                  <a:srgbClr val="FFFFFF"/>
                </a:solidFill>
                <a:latin typeface="Segoe UI" panose="020B0502040204020203" pitchFamily="34" charset="0"/>
              </a:rPr>
              <a:t>3</a:t>
            </a:r>
          </a:p>
        </p:txBody>
      </p:sp>
      <p:sp>
        <p:nvSpPr>
          <p:cNvPr id="22" name="TekstSylinder 21">
            <a:extLst>
              <a:ext uri="{FF2B5EF4-FFF2-40B4-BE49-F238E27FC236}">
                <a16:creationId xmlns:a16="http://schemas.microsoft.com/office/drawing/2014/main" id="{3F259852-FDA2-41FD-B72F-310AFE5B372D}"/>
              </a:ext>
            </a:extLst>
          </p:cNvPr>
          <p:cNvSpPr txBox="1"/>
          <p:nvPr/>
        </p:nvSpPr>
        <p:spPr>
          <a:xfrm>
            <a:off x="6400800" y="3022600"/>
            <a:ext cx="2286000" cy="261610"/>
          </a:xfrm>
          <a:prstGeom prst="rect">
            <a:avLst/>
          </a:prstGeom>
          <a:noFill/>
        </p:spPr>
        <p:txBody>
          <a:bodyPr vert="horz" wrap="square" lIns="0" rtlCol="0">
            <a:spAutoFit/>
          </a:bodyPr>
          <a:lstStyle/>
          <a:p>
            <a:r>
              <a:rPr lang="nb-NO" sz="1100" b="1">
                <a:solidFill>
                  <a:srgbClr val="0F172A"/>
                </a:solidFill>
                <a:latin typeface="Segoe UI" panose="020B0502040204020203" pitchFamily="34" charset="0"/>
              </a:rPr>
              <a:t>Prisregulering (KPI)</a:t>
            </a:r>
          </a:p>
        </p:txBody>
      </p:sp>
      <p:sp>
        <p:nvSpPr>
          <p:cNvPr id="23" name="TekstSylinder 22">
            <a:extLst>
              <a:ext uri="{FF2B5EF4-FFF2-40B4-BE49-F238E27FC236}">
                <a16:creationId xmlns:a16="http://schemas.microsoft.com/office/drawing/2014/main" id="{6548F0A0-5FED-3BD9-DCB7-FABB8C65BCC8}"/>
              </a:ext>
            </a:extLst>
          </p:cNvPr>
          <p:cNvSpPr txBox="1"/>
          <p:nvPr/>
        </p:nvSpPr>
        <p:spPr>
          <a:xfrm>
            <a:off x="6400800" y="3657600"/>
            <a:ext cx="2286000" cy="530915"/>
          </a:xfrm>
          <a:prstGeom prst="rect">
            <a:avLst/>
          </a:prstGeom>
          <a:noFill/>
        </p:spPr>
        <p:txBody>
          <a:bodyPr vert="horz" wrap="square" lIns="0" rtlCol="0">
            <a:spAutoFit/>
          </a:bodyPr>
          <a:lstStyle/>
          <a:p>
            <a:r>
              <a:rPr lang="nb-NO" sz="950">
                <a:solidFill>
                  <a:srgbClr val="475569"/>
                </a:solidFill>
                <a:latin typeface="Segoe UI" panose="020B0502040204020203" pitchFamily="34" charset="0"/>
              </a:rPr>
              <a:t>Sikrer kontraktsfestet rett til årlig justering av priser i tråd med SSBs konsumprisindeks ved årsskiftet.</a:t>
            </a:r>
          </a:p>
        </p:txBody>
      </p:sp>
      <p:sp>
        <p:nvSpPr>
          <p:cNvPr id="24" name="Rektangel 23">
            <a:extLst>
              <a:ext uri="{FF2B5EF4-FFF2-40B4-BE49-F238E27FC236}">
                <a16:creationId xmlns:a16="http://schemas.microsoft.com/office/drawing/2014/main" id="{D3B7C662-11E5-FBD6-9D89-27C094F97CB6}"/>
              </a:ext>
            </a:extLst>
          </p:cNvPr>
          <p:cNvSpPr/>
          <p:nvPr/>
        </p:nvSpPr>
        <p:spPr>
          <a:xfrm>
            <a:off x="9029700" y="2349500"/>
            <a:ext cx="2667000" cy="4000500"/>
          </a:xfrm>
          <a:prstGeom prst="rect">
            <a:avLst/>
          </a:prstGeom>
          <a:solidFill>
            <a:srgbClr val="FFFFFF"/>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5" name="Ellipse 24">
            <a:extLst>
              <a:ext uri="{FF2B5EF4-FFF2-40B4-BE49-F238E27FC236}">
                <a16:creationId xmlns:a16="http://schemas.microsoft.com/office/drawing/2014/main" id="{65ABA7C8-727D-24CB-95FD-506B3048623E}"/>
              </a:ext>
            </a:extLst>
          </p:cNvPr>
          <p:cNvSpPr/>
          <p:nvPr/>
        </p:nvSpPr>
        <p:spPr>
          <a:xfrm>
            <a:off x="9220200" y="2514600"/>
            <a:ext cx="381000" cy="381000"/>
          </a:xfrm>
          <a:prstGeom prst="ellipse">
            <a:avLst/>
          </a:prstGeom>
          <a:solidFill>
            <a:srgbClr val="0066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6" name="TekstSylinder 25">
            <a:extLst>
              <a:ext uri="{FF2B5EF4-FFF2-40B4-BE49-F238E27FC236}">
                <a16:creationId xmlns:a16="http://schemas.microsoft.com/office/drawing/2014/main" id="{53830BA9-478F-40B3-B229-AF7E9F0284F8}"/>
              </a:ext>
            </a:extLst>
          </p:cNvPr>
          <p:cNvSpPr txBox="1"/>
          <p:nvPr/>
        </p:nvSpPr>
        <p:spPr>
          <a:xfrm>
            <a:off x="9220200" y="2552700"/>
            <a:ext cx="381000" cy="276999"/>
          </a:xfrm>
          <a:prstGeom prst="rect">
            <a:avLst/>
          </a:prstGeom>
          <a:noFill/>
        </p:spPr>
        <p:txBody>
          <a:bodyPr vert="horz" rtlCol="0">
            <a:spAutoFit/>
          </a:bodyPr>
          <a:lstStyle/>
          <a:p>
            <a:pPr algn="ctr"/>
            <a:r>
              <a:rPr lang="nb-NO" sz="1200" b="1">
                <a:solidFill>
                  <a:srgbClr val="FFFFFF"/>
                </a:solidFill>
                <a:latin typeface="Segoe UI" panose="020B0502040204020203" pitchFamily="34" charset="0"/>
              </a:rPr>
              <a:t>4</a:t>
            </a:r>
          </a:p>
        </p:txBody>
      </p:sp>
      <p:sp>
        <p:nvSpPr>
          <p:cNvPr id="27" name="TekstSylinder 26">
            <a:extLst>
              <a:ext uri="{FF2B5EF4-FFF2-40B4-BE49-F238E27FC236}">
                <a16:creationId xmlns:a16="http://schemas.microsoft.com/office/drawing/2014/main" id="{9C37B2EC-7591-506B-9249-A93EDB9AC951}"/>
              </a:ext>
            </a:extLst>
          </p:cNvPr>
          <p:cNvSpPr txBox="1"/>
          <p:nvPr/>
        </p:nvSpPr>
        <p:spPr>
          <a:xfrm>
            <a:off x="9220200" y="3022600"/>
            <a:ext cx="2286000" cy="261610"/>
          </a:xfrm>
          <a:prstGeom prst="rect">
            <a:avLst/>
          </a:prstGeom>
          <a:noFill/>
        </p:spPr>
        <p:txBody>
          <a:bodyPr vert="horz" wrap="square" lIns="0" rtlCol="0">
            <a:spAutoFit/>
          </a:bodyPr>
          <a:lstStyle/>
          <a:p>
            <a:r>
              <a:rPr lang="nb-NO" sz="1100" b="1">
                <a:solidFill>
                  <a:srgbClr val="0F172A"/>
                </a:solidFill>
                <a:latin typeface="Segoe UI" panose="020B0502040204020203" pitchFamily="34" charset="0"/>
              </a:rPr>
              <a:t>Varekostnadsklausul</a:t>
            </a:r>
          </a:p>
        </p:txBody>
      </p:sp>
      <p:sp>
        <p:nvSpPr>
          <p:cNvPr id="28" name="TekstSylinder 27">
            <a:extLst>
              <a:ext uri="{FF2B5EF4-FFF2-40B4-BE49-F238E27FC236}">
                <a16:creationId xmlns:a16="http://schemas.microsoft.com/office/drawing/2014/main" id="{F6ED3944-7222-3FA4-1718-E5145C21D4D7}"/>
              </a:ext>
            </a:extLst>
          </p:cNvPr>
          <p:cNvSpPr txBox="1"/>
          <p:nvPr/>
        </p:nvSpPr>
        <p:spPr>
          <a:xfrm>
            <a:off x="9220200" y="3657600"/>
            <a:ext cx="2286000" cy="530915"/>
          </a:xfrm>
          <a:prstGeom prst="rect">
            <a:avLst/>
          </a:prstGeom>
          <a:noFill/>
        </p:spPr>
        <p:txBody>
          <a:bodyPr vert="horz" wrap="square" lIns="0" rtlCol="0">
            <a:spAutoFit/>
          </a:bodyPr>
          <a:lstStyle/>
          <a:p>
            <a:r>
              <a:rPr lang="nb-NO" sz="950">
                <a:solidFill>
                  <a:srgbClr val="475569"/>
                </a:solidFill>
                <a:latin typeface="Segoe UI" panose="020B0502040204020203" pitchFamily="34" charset="0"/>
              </a:rPr>
              <a:t>Sikrer rett til å videreføre dokumenterte økte underleverandør- og tredjepartskostnader direkte til kunden.</a:t>
            </a:r>
          </a:p>
        </p:txBody>
      </p:sp>
    </p:spTree>
    <p:extLst>
      <p:ext uri="{BB962C8B-B14F-4D97-AF65-F5344CB8AC3E}">
        <p14:creationId xmlns:p14="http://schemas.microsoft.com/office/powerpoint/2010/main" val="15387357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E3B5832D-6B39-1A61-E7A1-831ACEDC3017}"/>
              </a:ext>
            </a:extLst>
          </p:cNvPr>
          <p:cNvSpPr/>
          <p:nvPr/>
        </p:nvSpPr>
        <p:spPr>
          <a:xfrm>
            <a:off x="0" y="0"/>
            <a:ext cx="12192000" cy="6858000"/>
          </a:xfrm>
          <a:prstGeom prst="rect">
            <a:avLst/>
          </a:prstGeom>
          <a:solidFill>
            <a:srgbClr val="F8FA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 name="TekstSylinder 2">
            <a:extLst>
              <a:ext uri="{FF2B5EF4-FFF2-40B4-BE49-F238E27FC236}">
                <a16:creationId xmlns:a16="http://schemas.microsoft.com/office/drawing/2014/main" id="{7E0A7AF1-64D2-401F-2B49-1DB201965171}"/>
              </a:ext>
            </a:extLst>
          </p:cNvPr>
          <p:cNvSpPr txBox="1"/>
          <p:nvPr/>
        </p:nvSpPr>
        <p:spPr>
          <a:xfrm>
            <a:off x="571500" y="254000"/>
            <a:ext cx="6350000" cy="153888"/>
          </a:xfrm>
          <a:prstGeom prst="rect">
            <a:avLst/>
          </a:prstGeom>
          <a:noFill/>
        </p:spPr>
        <p:txBody>
          <a:bodyPr vert="horz" wrap="square" lIns="0" tIns="0" rIns="0" bIns="0" rtlCol="0">
            <a:spAutoFit/>
          </a:bodyPr>
          <a:lstStyle/>
          <a:p>
            <a:r>
              <a:rPr lang="nb-NO" sz="1000" b="1">
                <a:solidFill>
                  <a:srgbClr val="0066FF"/>
                </a:solidFill>
                <a:latin typeface="Segoe UI" panose="020B0502040204020203" pitchFamily="34" charset="0"/>
              </a:rPr>
              <a:t>JURIDISKE STANDARDTEKSTER</a:t>
            </a:r>
          </a:p>
        </p:txBody>
      </p:sp>
      <p:sp>
        <p:nvSpPr>
          <p:cNvPr id="4" name="TekstSylinder 3">
            <a:extLst>
              <a:ext uri="{FF2B5EF4-FFF2-40B4-BE49-F238E27FC236}">
                <a16:creationId xmlns:a16="http://schemas.microsoft.com/office/drawing/2014/main" id="{4CBB47CE-BF7D-5A01-2559-1588DAD65CED}"/>
              </a:ext>
            </a:extLst>
          </p:cNvPr>
          <p:cNvSpPr txBox="1"/>
          <p:nvPr/>
        </p:nvSpPr>
        <p:spPr>
          <a:xfrm>
            <a:off x="571500" y="508000"/>
            <a:ext cx="11049000" cy="307777"/>
          </a:xfrm>
          <a:prstGeom prst="rect">
            <a:avLst/>
          </a:prstGeom>
          <a:noFill/>
        </p:spPr>
        <p:txBody>
          <a:bodyPr vert="horz" wrap="square" lIns="0" tIns="0" rIns="0" bIns="0" rtlCol="0">
            <a:spAutoFit/>
          </a:bodyPr>
          <a:lstStyle/>
          <a:p>
            <a:r>
              <a:rPr lang="nb-NO" sz="2000" b="1">
                <a:solidFill>
                  <a:srgbClr val="0F172A"/>
                </a:solidFill>
                <a:latin typeface="Segoe UI" panose="020B0502040204020203" pitchFamily="34" charset="0"/>
              </a:rPr>
              <a:t>Påkrevde Avtaleklausuler i Kundekontrakter</a:t>
            </a:r>
          </a:p>
        </p:txBody>
      </p:sp>
      <p:sp>
        <p:nvSpPr>
          <p:cNvPr id="5" name="TekstSylinder 4">
            <a:extLst>
              <a:ext uri="{FF2B5EF4-FFF2-40B4-BE49-F238E27FC236}">
                <a16:creationId xmlns:a16="http://schemas.microsoft.com/office/drawing/2014/main" id="{876682B8-8DD2-6514-0AAA-F02565B02D2A}"/>
              </a:ext>
            </a:extLst>
          </p:cNvPr>
          <p:cNvSpPr txBox="1"/>
          <p:nvPr/>
        </p:nvSpPr>
        <p:spPr>
          <a:xfrm>
            <a:off x="571500" y="939800"/>
            <a:ext cx="11049000" cy="169277"/>
          </a:xfrm>
          <a:prstGeom prst="rect">
            <a:avLst/>
          </a:prstGeom>
          <a:noFill/>
        </p:spPr>
        <p:txBody>
          <a:bodyPr vert="horz" wrap="square" lIns="0" tIns="0" rIns="0" bIns="0" rtlCol="0">
            <a:spAutoFit/>
          </a:bodyPr>
          <a:lstStyle/>
          <a:p>
            <a:r>
              <a:rPr lang="nb-NO" sz="1100">
                <a:solidFill>
                  <a:srgbClr val="475569"/>
                </a:solidFill>
                <a:latin typeface="Segoe UI" panose="020B0502040204020203" pitchFamily="34" charset="0"/>
              </a:rPr>
              <a:t>Obligatoriske standardformuleringer ved kundespesifikke avtaler og reforhandlinger</a:t>
            </a:r>
          </a:p>
        </p:txBody>
      </p:sp>
      <p:sp>
        <p:nvSpPr>
          <p:cNvPr id="6" name="Rektangel 5">
            <a:extLst>
              <a:ext uri="{FF2B5EF4-FFF2-40B4-BE49-F238E27FC236}">
                <a16:creationId xmlns:a16="http://schemas.microsoft.com/office/drawing/2014/main" id="{3E16A1F9-5FE4-A201-D86A-3921ECA1A6EB}"/>
              </a:ext>
            </a:extLst>
          </p:cNvPr>
          <p:cNvSpPr/>
          <p:nvPr/>
        </p:nvSpPr>
        <p:spPr>
          <a:xfrm>
            <a:off x="571500" y="1397000"/>
            <a:ext cx="5397500" cy="2286000"/>
          </a:xfrm>
          <a:prstGeom prst="rect">
            <a:avLst/>
          </a:prstGeom>
          <a:solidFill>
            <a:srgbClr val="FFFFFF"/>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7" name="Rektangel 6">
            <a:extLst>
              <a:ext uri="{FF2B5EF4-FFF2-40B4-BE49-F238E27FC236}">
                <a16:creationId xmlns:a16="http://schemas.microsoft.com/office/drawing/2014/main" id="{335B25D8-07BB-325A-1527-2FDDBD5A0983}"/>
              </a:ext>
            </a:extLst>
          </p:cNvPr>
          <p:cNvSpPr/>
          <p:nvPr/>
        </p:nvSpPr>
        <p:spPr>
          <a:xfrm>
            <a:off x="571500" y="1397000"/>
            <a:ext cx="5397500" cy="431800"/>
          </a:xfrm>
          <a:prstGeom prst="rect">
            <a:avLst/>
          </a:prstGeom>
          <a:solidFill>
            <a:srgbClr val="1E29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TekstSylinder 7">
            <a:extLst>
              <a:ext uri="{FF2B5EF4-FFF2-40B4-BE49-F238E27FC236}">
                <a16:creationId xmlns:a16="http://schemas.microsoft.com/office/drawing/2014/main" id="{1E697875-BE00-0131-4BBA-8E7CC6CCC6C5}"/>
              </a:ext>
            </a:extLst>
          </p:cNvPr>
          <p:cNvSpPr txBox="1"/>
          <p:nvPr/>
        </p:nvSpPr>
        <p:spPr>
          <a:xfrm>
            <a:off x="749300" y="1473200"/>
            <a:ext cx="5080000" cy="261610"/>
          </a:xfrm>
          <a:prstGeom prst="rect">
            <a:avLst/>
          </a:prstGeom>
          <a:noFill/>
        </p:spPr>
        <p:txBody>
          <a:bodyPr vert="horz" rtlCol="0">
            <a:spAutoFit/>
          </a:bodyPr>
          <a:lstStyle/>
          <a:p>
            <a:r>
              <a:rPr lang="nb-NO" sz="1100" b="1">
                <a:solidFill>
                  <a:srgbClr val="00BEF0"/>
                </a:solidFill>
                <a:latin typeface="Segoe UI" panose="020B0502040204020203" pitchFamily="34" charset="0"/>
              </a:rPr>
              <a:t>Klausul 1: Årlig Prisjustering (KPI)</a:t>
            </a:r>
          </a:p>
        </p:txBody>
      </p:sp>
      <p:sp>
        <p:nvSpPr>
          <p:cNvPr id="9" name="TekstSylinder 8">
            <a:extLst>
              <a:ext uri="{FF2B5EF4-FFF2-40B4-BE49-F238E27FC236}">
                <a16:creationId xmlns:a16="http://schemas.microsoft.com/office/drawing/2014/main" id="{C0CA4809-D57D-7FD7-07E9-C4099882350D}"/>
              </a:ext>
            </a:extLst>
          </p:cNvPr>
          <p:cNvSpPr txBox="1"/>
          <p:nvPr/>
        </p:nvSpPr>
        <p:spPr>
          <a:xfrm>
            <a:off x="749300" y="1930400"/>
            <a:ext cx="5016500" cy="530915"/>
          </a:xfrm>
          <a:prstGeom prst="rect">
            <a:avLst/>
          </a:prstGeom>
          <a:noFill/>
        </p:spPr>
        <p:txBody>
          <a:bodyPr vert="horz" wrap="square" lIns="0" rtlCol="0">
            <a:spAutoFit/>
          </a:bodyPr>
          <a:lstStyle/>
          <a:p>
            <a:r>
              <a:rPr lang="nb-NO" sz="950">
                <a:solidFill>
                  <a:srgbClr val="0F172A"/>
                </a:solidFill>
                <a:latin typeface="Segoe UI" panose="020B0502040204020203" pitchFamily="34" charset="0"/>
              </a:rPr>
              <a:t>Underleverandørens priser kan justeres årlig ved årsskiftet i tråd med økningen i Statistisk sentralbyrås konsumprisindeks (hovedindeksen). Første justering baseres på indeksen for måneden avtalen ble signert.</a:t>
            </a:r>
          </a:p>
        </p:txBody>
      </p:sp>
      <p:sp>
        <p:nvSpPr>
          <p:cNvPr id="10" name="Rektangel 9">
            <a:extLst>
              <a:ext uri="{FF2B5EF4-FFF2-40B4-BE49-F238E27FC236}">
                <a16:creationId xmlns:a16="http://schemas.microsoft.com/office/drawing/2014/main" id="{5DC73089-4533-B480-D50F-6253CC881472}"/>
              </a:ext>
            </a:extLst>
          </p:cNvPr>
          <p:cNvSpPr/>
          <p:nvPr/>
        </p:nvSpPr>
        <p:spPr>
          <a:xfrm>
            <a:off x="6223000" y="1397000"/>
            <a:ext cx="5397500" cy="2286000"/>
          </a:xfrm>
          <a:prstGeom prst="rect">
            <a:avLst/>
          </a:prstGeom>
          <a:solidFill>
            <a:srgbClr val="FFFFFF"/>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1" name="Rektangel 10">
            <a:extLst>
              <a:ext uri="{FF2B5EF4-FFF2-40B4-BE49-F238E27FC236}">
                <a16:creationId xmlns:a16="http://schemas.microsoft.com/office/drawing/2014/main" id="{50FC99F2-AC26-8BEE-21D7-66558814CA03}"/>
              </a:ext>
            </a:extLst>
          </p:cNvPr>
          <p:cNvSpPr/>
          <p:nvPr/>
        </p:nvSpPr>
        <p:spPr>
          <a:xfrm>
            <a:off x="6223000" y="1397000"/>
            <a:ext cx="5397500" cy="431800"/>
          </a:xfrm>
          <a:prstGeom prst="rect">
            <a:avLst/>
          </a:prstGeom>
          <a:solidFill>
            <a:srgbClr val="1E29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2" name="TekstSylinder 11">
            <a:extLst>
              <a:ext uri="{FF2B5EF4-FFF2-40B4-BE49-F238E27FC236}">
                <a16:creationId xmlns:a16="http://schemas.microsoft.com/office/drawing/2014/main" id="{78B35C61-D98E-13BA-F887-07EABA5E4B57}"/>
              </a:ext>
            </a:extLst>
          </p:cNvPr>
          <p:cNvSpPr txBox="1"/>
          <p:nvPr/>
        </p:nvSpPr>
        <p:spPr>
          <a:xfrm>
            <a:off x="6400800" y="1473200"/>
            <a:ext cx="5080000" cy="261610"/>
          </a:xfrm>
          <a:prstGeom prst="rect">
            <a:avLst/>
          </a:prstGeom>
          <a:noFill/>
        </p:spPr>
        <p:txBody>
          <a:bodyPr vert="horz" rtlCol="0">
            <a:spAutoFit/>
          </a:bodyPr>
          <a:lstStyle/>
          <a:p>
            <a:r>
              <a:rPr lang="nb-NO" sz="1100" b="1">
                <a:solidFill>
                  <a:srgbClr val="00BEF0"/>
                </a:solidFill>
                <a:latin typeface="Segoe UI" panose="020B0502040204020203" pitchFamily="34" charset="0"/>
              </a:rPr>
              <a:t>Klausul 2: Prisendring ved Økte Varekostnader</a:t>
            </a:r>
          </a:p>
        </p:txBody>
      </p:sp>
      <p:sp>
        <p:nvSpPr>
          <p:cNvPr id="13" name="TekstSylinder 12">
            <a:extLst>
              <a:ext uri="{FF2B5EF4-FFF2-40B4-BE49-F238E27FC236}">
                <a16:creationId xmlns:a16="http://schemas.microsoft.com/office/drawing/2014/main" id="{70634D96-D8C2-1376-50E8-CF0B303E7A4E}"/>
              </a:ext>
            </a:extLst>
          </p:cNvPr>
          <p:cNvSpPr txBox="1"/>
          <p:nvPr/>
        </p:nvSpPr>
        <p:spPr>
          <a:xfrm>
            <a:off x="6400800" y="1930400"/>
            <a:ext cx="5016500" cy="1115690"/>
          </a:xfrm>
          <a:prstGeom prst="rect">
            <a:avLst/>
          </a:prstGeom>
          <a:noFill/>
        </p:spPr>
        <p:txBody>
          <a:bodyPr vert="horz" wrap="square" lIns="0" rtlCol="0">
            <a:spAutoFit/>
          </a:bodyPr>
          <a:lstStyle/>
          <a:p>
            <a:r>
              <a:rPr lang="nb-NO" sz="950">
                <a:solidFill>
                  <a:srgbClr val="0F172A"/>
                </a:solidFill>
                <a:latin typeface="Segoe UI" panose="020B0502040204020203" pitchFamily="34" charset="0"/>
              </a:rPr>
              <a:t>Prisene kan også justeres dersom underleverandørens varekostnader fra tredjepart øker. I slike tilfeller skal leverandøren:
1. Varsle kunden skriftlig om prisendringen.
2. Dokumentere det faktiske grunnlaget for kostnadsøkningen.
Prisendringen trer i kraft fra det tidspunkt kunden mottar varselet.</a:t>
            </a:r>
          </a:p>
        </p:txBody>
      </p:sp>
      <p:sp>
        <p:nvSpPr>
          <p:cNvPr id="14" name="Rektangel 13">
            <a:extLst>
              <a:ext uri="{FF2B5EF4-FFF2-40B4-BE49-F238E27FC236}">
                <a16:creationId xmlns:a16="http://schemas.microsoft.com/office/drawing/2014/main" id="{CA862799-9C66-2A58-6047-0AB32F480856}"/>
              </a:ext>
            </a:extLst>
          </p:cNvPr>
          <p:cNvSpPr/>
          <p:nvPr/>
        </p:nvSpPr>
        <p:spPr>
          <a:xfrm>
            <a:off x="571500" y="3873500"/>
            <a:ext cx="5397500" cy="2286000"/>
          </a:xfrm>
          <a:prstGeom prst="rect">
            <a:avLst/>
          </a:prstGeom>
          <a:solidFill>
            <a:srgbClr val="FFFFFF"/>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5" name="Rektangel 14">
            <a:extLst>
              <a:ext uri="{FF2B5EF4-FFF2-40B4-BE49-F238E27FC236}">
                <a16:creationId xmlns:a16="http://schemas.microsoft.com/office/drawing/2014/main" id="{48C37C1E-4A21-70A0-3FBE-34ED5C1FD0A0}"/>
              </a:ext>
            </a:extLst>
          </p:cNvPr>
          <p:cNvSpPr/>
          <p:nvPr/>
        </p:nvSpPr>
        <p:spPr>
          <a:xfrm>
            <a:off x="571500" y="3873500"/>
            <a:ext cx="5397500" cy="431800"/>
          </a:xfrm>
          <a:prstGeom prst="rect">
            <a:avLst/>
          </a:prstGeom>
          <a:solidFill>
            <a:srgbClr val="1E29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6" name="TekstSylinder 15">
            <a:extLst>
              <a:ext uri="{FF2B5EF4-FFF2-40B4-BE49-F238E27FC236}">
                <a16:creationId xmlns:a16="http://schemas.microsoft.com/office/drawing/2014/main" id="{382272E4-66A0-12F4-2C3B-5059A84CDE51}"/>
              </a:ext>
            </a:extLst>
          </p:cNvPr>
          <p:cNvSpPr txBox="1"/>
          <p:nvPr/>
        </p:nvSpPr>
        <p:spPr>
          <a:xfrm>
            <a:off x="749300" y="3949700"/>
            <a:ext cx="5080000" cy="261610"/>
          </a:xfrm>
          <a:prstGeom prst="rect">
            <a:avLst/>
          </a:prstGeom>
          <a:noFill/>
        </p:spPr>
        <p:txBody>
          <a:bodyPr vert="horz" rtlCol="0">
            <a:spAutoFit/>
          </a:bodyPr>
          <a:lstStyle/>
          <a:p>
            <a:r>
              <a:rPr lang="nb-NO" sz="1100" b="1">
                <a:solidFill>
                  <a:srgbClr val="00BEF0"/>
                </a:solidFill>
                <a:latin typeface="Segoe UI" panose="020B0502040204020203" pitchFamily="34" charset="0"/>
              </a:rPr>
              <a:t>Klausul 3: Databehandleravtale (DPA)</a:t>
            </a:r>
          </a:p>
        </p:txBody>
      </p:sp>
      <p:sp>
        <p:nvSpPr>
          <p:cNvPr id="17" name="TekstSylinder 16">
            <a:extLst>
              <a:ext uri="{FF2B5EF4-FFF2-40B4-BE49-F238E27FC236}">
                <a16:creationId xmlns:a16="http://schemas.microsoft.com/office/drawing/2014/main" id="{4047679F-03B9-C777-9782-92144F6BED6A}"/>
              </a:ext>
            </a:extLst>
          </p:cNvPr>
          <p:cNvSpPr txBox="1"/>
          <p:nvPr/>
        </p:nvSpPr>
        <p:spPr>
          <a:xfrm>
            <a:off x="749300" y="4406900"/>
            <a:ext cx="5016500" cy="530915"/>
          </a:xfrm>
          <a:prstGeom prst="rect">
            <a:avLst/>
          </a:prstGeom>
          <a:noFill/>
        </p:spPr>
        <p:txBody>
          <a:bodyPr vert="horz" wrap="square" lIns="0" rtlCol="0">
            <a:spAutoFit/>
          </a:bodyPr>
          <a:lstStyle/>
          <a:p>
            <a:r>
              <a:rPr lang="nb-NO" sz="950">
                <a:solidFill>
                  <a:srgbClr val="0F172A"/>
                </a:solidFill>
                <a:latin typeface="Segoe UI" panose="020B0502040204020203" pitchFamily="34" charset="0"/>
              </a:rPr>
              <a:t>Det skal inngås en direkte databehandleravtale (DPA) mellom partner og kunde. Dette sikrer at Telenor ikke påtar seg ansvar for behandling av person- og kundedata i tjenester der Telenor ikke har innsyn i dataene.</a:t>
            </a:r>
          </a:p>
        </p:txBody>
      </p:sp>
      <p:sp>
        <p:nvSpPr>
          <p:cNvPr id="18" name="Rektangel 17">
            <a:extLst>
              <a:ext uri="{FF2B5EF4-FFF2-40B4-BE49-F238E27FC236}">
                <a16:creationId xmlns:a16="http://schemas.microsoft.com/office/drawing/2014/main" id="{54DA94BA-CF9D-EC2F-CA3E-03F7948EA6FA}"/>
              </a:ext>
            </a:extLst>
          </p:cNvPr>
          <p:cNvSpPr/>
          <p:nvPr/>
        </p:nvSpPr>
        <p:spPr>
          <a:xfrm>
            <a:off x="6223000" y="3873500"/>
            <a:ext cx="5397500" cy="2286000"/>
          </a:xfrm>
          <a:prstGeom prst="rect">
            <a:avLst/>
          </a:prstGeom>
          <a:solidFill>
            <a:srgbClr val="FFFFFF"/>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9" name="Rektangel 18">
            <a:extLst>
              <a:ext uri="{FF2B5EF4-FFF2-40B4-BE49-F238E27FC236}">
                <a16:creationId xmlns:a16="http://schemas.microsoft.com/office/drawing/2014/main" id="{788A0FA8-E5C5-7D8D-BA1D-912021E36E93}"/>
              </a:ext>
            </a:extLst>
          </p:cNvPr>
          <p:cNvSpPr/>
          <p:nvPr/>
        </p:nvSpPr>
        <p:spPr>
          <a:xfrm>
            <a:off x="6223000" y="3873500"/>
            <a:ext cx="5397500" cy="431800"/>
          </a:xfrm>
          <a:prstGeom prst="rect">
            <a:avLst/>
          </a:prstGeom>
          <a:solidFill>
            <a:srgbClr val="1E293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0" name="TekstSylinder 19">
            <a:extLst>
              <a:ext uri="{FF2B5EF4-FFF2-40B4-BE49-F238E27FC236}">
                <a16:creationId xmlns:a16="http://schemas.microsoft.com/office/drawing/2014/main" id="{6082DCE0-4F24-7366-FC73-EA3319B30843}"/>
              </a:ext>
            </a:extLst>
          </p:cNvPr>
          <p:cNvSpPr txBox="1"/>
          <p:nvPr/>
        </p:nvSpPr>
        <p:spPr>
          <a:xfrm>
            <a:off x="6400800" y="3949700"/>
            <a:ext cx="5080000" cy="261610"/>
          </a:xfrm>
          <a:prstGeom prst="rect">
            <a:avLst/>
          </a:prstGeom>
          <a:noFill/>
        </p:spPr>
        <p:txBody>
          <a:bodyPr vert="horz" rtlCol="0">
            <a:spAutoFit/>
          </a:bodyPr>
          <a:lstStyle/>
          <a:p>
            <a:r>
              <a:rPr lang="nb-NO" sz="1100" b="1">
                <a:solidFill>
                  <a:srgbClr val="00BEF0"/>
                </a:solidFill>
                <a:latin typeface="Segoe UI" panose="020B0502040204020203" pitchFamily="34" charset="0"/>
              </a:rPr>
              <a:t>Klausul 4: Back-to-Back B2B-Avtale</a:t>
            </a:r>
          </a:p>
        </p:txBody>
      </p:sp>
      <p:sp>
        <p:nvSpPr>
          <p:cNvPr id="21" name="TekstSylinder 20">
            <a:extLst>
              <a:ext uri="{FF2B5EF4-FFF2-40B4-BE49-F238E27FC236}">
                <a16:creationId xmlns:a16="http://schemas.microsoft.com/office/drawing/2014/main" id="{3EB07F68-78F9-EAFE-9BED-88505CE71CAC}"/>
              </a:ext>
            </a:extLst>
          </p:cNvPr>
          <p:cNvSpPr txBox="1"/>
          <p:nvPr/>
        </p:nvSpPr>
        <p:spPr>
          <a:xfrm>
            <a:off x="6400800" y="4406900"/>
            <a:ext cx="5016500" cy="530915"/>
          </a:xfrm>
          <a:prstGeom prst="rect">
            <a:avLst/>
          </a:prstGeom>
          <a:noFill/>
        </p:spPr>
        <p:txBody>
          <a:bodyPr vert="horz" wrap="square" lIns="0" rtlCol="0">
            <a:spAutoFit/>
          </a:bodyPr>
          <a:lstStyle/>
          <a:p>
            <a:r>
              <a:rPr lang="nb-NO" sz="950">
                <a:solidFill>
                  <a:srgbClr val="0F172A"/>
                </a:solidFill>
                <a:latin typeface="Segoe UI" panose="020B0502040204020203" pitchFamily="34" charset="0"/>
              </a:rPr>
              <a:t>Det skal etableres en back-to-back-avtale mellom Telenor og partneren for den aktuelle tjenesten. Dette sikrer at alle kundespesifikke krav videreføres og etterleves fullt ut av partneren.</a:t>
            </a:r>
          </a:p>
        </p:txBody>
      </p:sp>
    </p:spTree>
    <p:extLst>
      <p:ext uri="{BB962C8B-B14F-4D97-AF65-F5344CB8AC3E}">
        <p14:creationId xmlns:p14="http://schemas.microsoft.com/office/powerpoint/2010/main" val="22814226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497082CF-FF73-EBFC-F013-155BA717FC14}"/>
              </a:ext>
            </a:extLst>
          </p:cNvPr>
          <p:cNvSpPr/>
          <p:nvPr/>
        </p:nvSpPr>
        <p:spPr>
          <a:xfrm>
            <a:off x="0" y="0"/>
            <a:ext cx="12192000" cy="6858000"/>
          </a:xfrm>
          <a:prstGeom prst="rect">
            <a:avLst/>
          </a:prstGeom>
          <a:solidFill>
            <a:srgbClr val="F8FA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 name="TekstSylinder 2">
            <a:extLst>
              <a:ext uri="{FF2B5EF4-FFF2-40B4-BE49-F238E27FC236}">
                <a16:creationId xmlns:a16="http://schemas.microsoft.com/office/drawing/2014/main" id="{DA68A01F-DC08-F606-1CB8-3B4CDDE48FC5}"/>
              </a:ext>
            </a:extLst>
          </p:cNvPr>
          <p:cNvSpPr txBox="1"/>
          <p:nvPr/>
        </p:nvSpPr>
        <p:spPr>
          <a:xfrm>
            <a:off x="571500" y="254000"/>
            <a:ext cx="6350000" cy="153888"/>
          </a:xfrm>
          <a:prstGeom prst="rect">
            <a:avLst/>
          </a:prstGeom>
          <a:noFill/>
        </p:spPr>
        <p:txBody>
          <a:bodyPr vert="horz" wrap="square" lIns="0" tIns="0" rIns="0" bIns="0" rtlCol="0">
            <a:spAutoFit/>
          </a:bodyPr>
          <a:lstStyle/>
          <a:p>
            <a:r>
              <a:rPr lang="nb-NO" sz="1000" b="1">
                <a:solidFill>
                  <a:srgbClr val="0066FF"/>
                </a:solidFill>
                <a:latin typeface="Segoe UI" panose="020B0502040204020203" pitchFamily="34" charset="0"/>
              </a:rPr>
              <a:t>SALGSMETODIKK &amp; MÅLSTYRING</a:t>
            </a:r>
          </a:p>
        </p:txBody>
      </p:sp>
      <p:sp>
        <p:nvSpPr>
          <p:cNvPr id="4" name="TekstSylinder 3">
            <a:extLst>
              <a:ext uri="{FF2B5EF4-FFF2-40B4-BE49-F238E27FC236}">
                <a16:creationId xmlns:a16="http://schemas.microsoft.com/office/drawing/2014/main" id="{57BF43CE-56A2-CEB9-6555-24F76B70C9C9}"/>
              </a:ext>
            </a:extLst>
          </p:cNvPr>
          <p:cNvSpPr txBox="1"/>
          <p:nvPr/>
        </p:nvSpPr>
        <p:spPr>
          <a:xfrm>
            <a:off x="571500" y="508000"/>
            <a:ext cx="11049000" cy="307777"/>
          </a:xfrm>
          <a:prstGeom prst="rect">
            <a:avLst/>
          </a:prstGeom>
          <a:noFill/>
        </p:spPr>
        <p:txBody>
          <a:bodyPr vert="horz" wrap="square" lIns="0" tIns="0" rIns="0" bIns="0" rtlCol="0">
            <a:spAutoFit/>
          </a:bodyPr>
          <a:lstStyle/>
          <a:p>
            <a:r>
              <a:rPr lang="nb-NO" sz="2000" b="1">
                <a:solidFill>
                  <a:srgbClr val="0F172A"/>
                </a:solidFill>
                <a:latin typeface="Segoe UI" panose="020B0502040204020203" pitchFamily="34" charset="0"/>
              </a:rPr>
              <a:t>VBS (Verdibasert Salg) Faser &amp; 10 Kritiske KPI-er</a:t>
            </a:r>
          </a:p>
        </p:txBody>
      </p:sp>
      <p:sp>
        <p:nvSpPr>
          <p:cNvPr id="5" name="TekstSylinder 4">
            <a:extLst>
              <a:ext uri="{FF2B5EF4-FFF2-40B4-BE49-F238E27FC236}">
                <a16:creationId xmlns:a16="http://schemas.microsoft.com/office/drawing/2014/main" id="{88C63918-9492-B80B-4633-656DEA56EDBC}"/>
              </a:ext>
            </a:extLst>
          </p:cNvPr>
          <p:cNvSpPr txBox="1"/>
          <p:nvPr/>
        </p:nvSpPr>
        <p:spPr>
          <a:xfrm>
            <a:off x="571500" y="939800"/>
            <a:ext cx="11049000" cy="169277"/>
          </a:xfrm>
          <a:prstGeom prst="rect">
            <a:avLst/>
          </a:prstGeom>
          <a:noFill/>
        </p:spPr>
        <p:txBody>
          <a:bodyPr vert="horz" wrap="square" lIns="0" tIns="0" rIns="0" bIns="0" rtlCol="0">
            <a:spAutoFit/>
          </a:bodyPr>
          <a:lstStyle/>
          <a:p>
            <a:r>
              <a:rPr lang="nb-NO" sz="1100">
                <a:solidFill>
                  <a:srgbClr val="475569"/>
                </a:solidFill>
                <a:latin typeface="Segoe UI" panose="020B0502040204020203" pitchFamily="34" charset="0"/>
              </a:rPr>
              <a:t>Strukturert verdisalg som sikrer høy konverteringsgrad og dokumentert kundeverdi</a:t>
            </a:r>
          </a:p>
        </p:txBody>
      </p:sp>
      <p:sp>
        <p:nvSpPr>
          <p:cNvPr id="6" name="Rektangel 5">
            <a:extLst>
              <a:ext uri="{FF2B5EF4-FFF2-40B4-BE49-F238E27FC236}">
                <a16:creationId xmlns:a16="http://schemas.microsoft.com/office/drawing/2014/main" id="{BAC0CE67-C574-9ADA-263F-F154759A79A4}"/>
              </a:ext>
            </a:extLst>
          </p:cNvPr>
          <p:cNvSpPr/>
          <p:nvPr/>
        </p:nvSpPr>
        <p:spPr>
          <a:xfrm>
            <a:off x="571500" y="1397000"/>
            <a:ext cx="6096000" cy="4953000"/>
          </a:xfrm>
          <a:prstGeom prst="rect">
            <a:avLst/>
          </a:prstGeom>
          <a:solidFill>
            <a:srgbClr val="FFFFFF"/>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7" name="Rektangel 6">
            <a:extLst>
              <a:ext uri="{FF2B5EF4-FFF2-40B4-BE49-F238E27FC236}">
                <a16:creationId xmlns:a16="http://schemas.microsoft.com/office/drawing/2014/main" id="{EA531929-DB2E-5265-57EB-7176FDBA0E7C}"/>
              </a:ext>
            </a:extLst>
          </p:cNvPr>
          <p:cNvSpPr/>
          <p:nvPr/>
        </p:nvSpPr>
        <p:spPr>
          <a:xfrm>
            <a:off x="571500" y="1397000"/>
            <a:ext cx="6096000" cy="444500"/>
          </a:xfrm>
          <a:prstGeom prst="rect">
            <a:avLst/>
          </a:prstGeom>
          <a:solidFill>
            <a:srgbClr val="0066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TekstSylinder 7">
            <a:extLst>
              <a:ext uri="{FF2B5EF4-FFF2-40B4-BE49-F238E27FC236}">
                <a16:creationId xmlns:a16="http://schemas.microsoft.com/office/drawing/2014/main" id="{83664971-8D03-F450-9A44-2B0D29D2E6C2}"/>
              </a:ext>
            </a:extLst>
          </p:cNvPr>
          <p:cNvSpPr txBox="1"/>
          <p:nvPr/>
        </p:nvSpPr>
        <p:spPr>
          <a:xfrm>
            <a:off x="698500" y="1473200"/>
            <a:ext cx="5842000" cy="261610"/>
          </a:xfrm>
          <a:prstGeom prst="rect">
            <a:avLst/>
          </a:prstGeom>
          <a:noFill/>
        </p:spPr>
        <p:txBody>
          <a:bodyPr vert="horz" rtlCol="0">
            <a:spAutoFit/>
          </a:bodyPr>
          <a:lstStyle/>
          <a:p>
            <a:r>
              <a:rPr lang="nb-NO" sz="1100" b="1">
                <a:solidFill>
                  <a:srgbClr val="FFFFFF"/>
                </a:solidFill>
                <a:latin typeface="Segoe UI" panose="020B0502040204020203" pitchFamily="34" charset="0"/>
              </a:rPr>
              <a:t>6 Faser i Verdibasert Salg (VBS)</a:t>
            </a:r>
          </a:p>
        </p:txBody>
      </p:sp>
      <p:sp>
        <p:nvSpPr>
          <p:cNvPr id="9" name="TekstSylinder 8">
            <a:extLst>
              <a:ext uri="{FF2B5EF4-FFF2-40B4-BE49-F238E27FC236}">
                <a16:creationId xmlns:a16="http://schemas.microsoft.com/office/drawing/2014/main" id="{6A2273D7-3783-EC87-545A-1B2D75723004}"/>
              </a:ext>
            </a:extLst>
          </p:cNvPr>
          <p:cNvSpPr txBox="1"/>
          <p:nvPr/>
        </p:nvSpPr>
        <p:spPr>
          <a:xfrm>
            <a:off x="698500" y="1905000"/>
            <a:ext cx="5842000" cy="2446824"/>
          </a:xfrm>
          <a:prstGeom prst="rect">
            <a:avLst/>
          </a:prstGeom>
          <a:noFill/>
        </p:spPr>
        <p:txBody>
          <a:bodyPr vert="horz" wrap="square" lIns="0" rtlCol="0">
            <a:spAutoFit/>
          </a:bodyPr>
          <a:lstStyle/>
          <a:p>
            <a:r>
              <a:rPr lang="nb-NO" sz="900">
                <a:solidFill>
                  <a:srgbClr val="0F172A"/>
                </a:solidFill>
                <a:latin typeface="Segoe UI" panose="020B0502040204020203" pitchFamily="34" charset="0"/>
              </a:rPr>
              <a:t>1. PROSPECTING (Identifisere &amp; prioritere):
   Kartlegge markedet, analysere historikk og kvalifisere de beste salgsmulighetene.
2. INTROSAMTALE (Åpne døren med relevans):
   Vekke kundens nysgjerrighet ved å presentere skreddersydde hypoteser og trender.
3. SALGSMØTE (Bygg tillit &amp; forstå kunden):
   Gjennomføre dybdekartlegging av kundens reelle pains, mål og beslutningskriterier.
4. VERDIBUDSKAP (Koble løsning til mål):
   Utarbeide skreddersydd løsningsarkitektur, forretningscase og kvantifiserbar ROI.
5. TILBUD (Konkretisering av verdier):
   Sammenstille FPP-tjenesteavtale, transparent prisstruktur og juridisk B2B-avsjekk.
6. CLOSING (Sikre salg &amp; realisere verdi):
   Rask digital BankID-signering, sømløs produksjonssetting og Telenor-fakturering.</a:t>
            </a:r>
          </a:p>
        </p:txBody>
      </p:sp>
      <p:sp>
        <p:nvSpPr>
          <p:cNvPr id="10" name="Rektangel 9">
            <a:extLst>
              <a:ext uri="{FF2B5EF4-FFF2-40B4-BE49-F238E27FC236}">
                <a16:creationId xmlns:a16="http://schemas.microsoft.com/office/drawing/2014/main" id="{6BB896DD-A447-6C9B-5E74-77C1DEE07284}"/>
              </a:ext>
            </a:extLst>
          </p:cNvPr>
          <p:cNvSpPr/>
          <p:nvPr/>
        </p:nvSpPr>
        <p:spPr>
          <a:xfrm>
            <a:off x="6921500" y="1397000"/>
            <a:ext cx="4699000" cy="4953000"/>
          </a:xfrm>
          <a:prstGeom prst="rect">
            <a:avLst/>
          </a:prstGeom>
          <a:solidFill>
            <a:srgbClr val="0A19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1" name="Rektangel 10">
            <a:extLst>
              <a:ext uri="{FF2B5EF4-FFF2-40B4-BE49-F238E27FC236}">
                <a16:creationId xmlns:a16="http://schemas.microsoft.com/office/drawing/2014/main" id="{3AF2BBE5-E6AD-2EBA-5A33-441947EF76C0}"/>
              </a:ext>
            </a:extLst>
          </p:cNvPr>
          <p:cNvSpPr/>
          <p:nvPr/>
        </p:nvSpPr>
        <p:spPr>
          <a:xfrm>
            <a:off x="6921500" y="1397000"/>
            <a:ext cx="4699000" cy="444500"/>
          </a:xfrm>
          <a:prstGeom prst="rect">
            <a:avLst/>
          </a:prstGeom>
          <a:solidFill>
            <a:srgbClr val="11224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2" name="TekstSylinder 11">
            <a:extLst>
              <a:ext uri="{FF2B5EF4-FFF2-40B4-BE49-F238E27FC236}">
                <a16:creationId xmlns:a16="http://schemas.microsoft.com/office/drawing/2014/main" id="{1BA9FB63-6178-C7ED-3EE7-2318D273C6F5}"/>
              </a:ext>
            </a:extLst>
          </p:cNvPr>
          <p:cNvSpPr txBox="1"/>
          <p:nvPr/>
        </p:nvSpPr>
        <p:spPr>
          <a:xfrm>
            <a:off x="7048500" y="1473200"/>
            <a:ext cx="4445000" cy="261610"/>
          </a:xfrm>
          <a:prstGeom prst="rect">
            <a:avLst/>
          </a:prstGeom>
          <a:noFill/>
        </p:spPr>
        <p:txBody>
          <a:bodyPr vert="horz" rtlCol="0">
            <a:spAutoFit/>
          </a:bodyPr>
          <a:lstStyle/>
          <a:p>
            <a:r>
              <a:rPr lang="nb-NO" sz="1100" b="1">
                <a:solidFill>
                  <a:srgbClr val="00BEF0"/>
                </a:solidFill>
                <a:latin typeface="Segoe UI" panose="020B0502040204020203" pitchFamily="34" charset="0"/>
              </a:rPr>
              <a:t>10 Nøkkel-KPI-er for Salgsteamet</a:t>
            </a:r>
          </a:p>
        </p:txBody>
      </p:sp>
      <p:sp>
        <p:nvSpPr>
          <p:cNvPr id="13" name="TekstSylinder 12">
            <a:extLst>
              <a:ext uri="{FF2B5EF4-FFF2-40B4-BE49-F238E27FC236}">
                <a16:creationId xmlns:a16="http://schemas.microsoft.com/office/drawing/2014/main" id="{65291C26-1050-3B23-C804-3D4E53ACDA61}"/>
              </a:ext>
            </a:extLst>
          </p:cNvPr>
          <p:cNvSpPr txBox="1"/>
          <p:nvPr/>
        </p:nvSpPr>
        <p:spPr>
          <a:xfrm>
            <a:off x="7112000" y="1968500"/>
            <a:ext cx="4318000" cy="1631216"/>
          </a:xfrm>
          <a:prstGeom prst="rect">
            <a:avLst/>
          </a:prstGeom>
          <a:noFill/>
        </p:spPr>
        <p:txBody>
          <a:bodyPr vert="horz" wrap="square" lIns="0" rtlCol="0">
            <a:spAutoFit/>
          </a:bodyPr>
          <a:lstStyle/>
          <a:p>
            <a:r>
              <a:rPr lang="nb-NO" sz="1000" b="1">
                <a:solidFill>
                  <a:srgbClr val="E2E8F0"/>
                </a:solidFill>
                <a:latin typeface="Segoe UI" panose="020B0502040204020203" pitchFamily="34" charset="0"/>
              </a:rPr>
              <a:t>1.  Antall VBS introsamtaler
2.  Hit rate (samtale til møte)
3.  Antall bookede VBS møter
4.  Antall gjennomførte VBS salgsmøter
5.  Antall kvalitetssikrede verdislides
6.  Antall tilbud sendt
7.  Close rate fra pipeline
8.  Antall kontrakter signert
9.  Total Revenue (Avtaleverdi i kr)
10. Signerte avtaler pr. partner</a:t>
            </a:r>
          </a:p>
        </p:txBody>
      </p:sp>
    </p:spTree>
    <p:extLst>
      <p:ext uri="{BB962C8B-B14F-4D97-AF65-F5344CB8AC3E}">
        <p14:creationId xmlns:p14="http://schemas.microsoft.com/office/powerpoint/2010/main" val="30655851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E6C3EC3B-70D4-1ED5-A47B-FB6A9CD7FEF3}"/>
              </a:ext>
            </a:extLst>
          </p:cNvPr>
          <p:cNvSpPr/>
          <p:nvPr/>
        </p:nvSpPr>
        <p:spPr>
          <a:xfrm>
            <a:off x="0" y="0"/>
            <a:ext cx="12192000" cy="6858000"/>
          </a:xfrm>
          <a:prstGeom prst="rect">
            <a:avLst/>
          </a:prstGeom>
          <a:solidFill>
            <a:srgbClr val="F8FA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 name="TekstSylinder 2">
            <a:extLst>
              <a:ext uri="{FF2B5EF4-FFF2-40B4-BE49-F238E27FC236}">
                <a16:creationId xmlns:a16="http://schemas.microsoft.com/office/drawing/2014/main" id="{B09F71C5-1739-FFDC-C45D-F4CF9B8B2E10}"/>
              </a:ext>
            </a:extLst>
          </p:cNvPr>
          <p:cNvSpPr txBox="1"/>
          <p:nvPr/>
        </p:nvSpPr>
        <p:spPr>
          <a:xfrm>
            <a:off x="571500" y="254000"/>
            <a:ext cx="6350000" cy="153888"/>
          </a:xfrm>
          <a:prstGeom prst="rect">
            <a:avLst/>
          </a:prstGeom>
          <a:noFill/>
        </p:spPr>
        <p:txBody>
          <a:bodyPr vert="horz" wrap="square" lIns="0" tIns="0" rIns="0" bIns="0" rtlCol="0">
            <a:spAutoFit/>
          </a:bodyPr>
          <a:lstStyle/>
          <a:p>
            <a:r>
              <a:rPr lang="nb-NO" sz="1000" b="1">
                <a:solidFill>
                  <a:srgbClr val="0066FF"/>
                </a:solidFill>
                <a:latin typeface="Segoe UI" panose="020B0502040204020203" pitchFamily="34" charset="0"/>
              </a:rPr>
              <a:t>KVALITETSSIKRING I HVERDAGEN</a:t>
            </a:r>
          </a:p>
        </p:txBody>
      </p:sp>
      <p:sp>
        <p:nvSpPr>
          <p:cNvPr id="4" name="TekstSylinder 3">
            <a:extLst>
              <a:ext uri="{FF2B5EF4-FFF2-40B4-BE49-F238E27FC236}">
                <a16:creationId xmlns:a16="http://schemas.microsoft.com/office/drawing/2014/main" id="{E5D1BBA8-E0C4-32D3-499F-BC6FB1B7D5B1}"/>
              </a:ext>
            </a:extLst>
          </p:cNvPr>
          <p:cNvSpPr txBox="1"/>
          <p:nvPr/>
        </p:nvSpPr>
        <p:spPr>
          <a:xfrm>
            <a:off x="571500" y="508000"/>
            <a:ext cx="11049000" cy="307777"/>
          </a:xfrm>
          <a:prstGeom prst="rect">
            <a:avLst/>
          </a:prstGeom>
          <a:noFill/>
        </p:spPr>
        <p:txBody>
          <a:bodyPr vert="horz" wrap="square" lIns="0" tIns="0" rIns="0" bIns="0" rtlCol="0">
            <a:spAutoFit/>
          </a:bodyPr>
          <a:lstStyle/>
          <a:p>
            <a:r>
              <a:rPr lang="nb-NO" sz="2000" b="1">
                <a:solidFill>
                  <a:srgbClr val="0F172A"/>
                </a:solidFill>
                <a:latin typeface="Segoe UI" panose="020B0502040204020203" pitchFamily="34" charset="0"/>
              </a:rPr>
              <a:t>Operative Sjekklister for Telenor KAM og Partner</a:t>
            </a:r>
          </a:p>
        </p:txBody>
      </p:sp>
      <p:sp>
        <p:nvSpPr>
          <p:cNvPr id="5" name="TekstSylinder 4">
            <a:extLst>
              <a:ext uri="{FF2B5EF4-FFF2-40B4-BE49-F238E27FC236}">
                <a16:creationId xmlns:a16="http://schemas.microsoft.com/office/drawing/2014/main" id="{D648D88D-DCBF-AA2D-3646-2CD364936E16}"/>
              </a:ext>
            </a:extLst>
          </p:cNvPr>
          <p:cNvSpPr txBox="1"/>
          <p:nvPr/>
        </p:nvSpPr>
        <p:spPr>
          <a:xfrm>
            <a:off x="571500" y="939800"/>
            <a:ext cx="11049000" cy="169277"/>
          </a:xfrm>
          <a:prstGeom prst="rect">
            <a:avLst/>
          </a:prstGeom>
          <a:noFill/>
        </p:spPr>
        <p:txBody>
          <a:bodyPr vert="horz" wrap="square" lIns="0" tIns="0" rIns="0" bIns="0" rtlCol="0">
            <a:spAutoFit/>
          </a:bodyPr>
          <a:lstStyle/>
          <a:p>
            <a:r>
              <a:rPr lang="nb-NO" sz="1100">
                <a:solidFill>
                  <a:srgbClr val="475569"/>
                </a:solidFill>
                <a:latin typeface="Segoe UI" panose="020B0502040204020203" pitchFamily="34" charset="0"/>
              </a:rPr>
              <a:t>Sikrer at ingen obligatoriske Salesforce-steg eller juridiske sjekkpunkter glemmes</a:t>
            </a:r>
          </a:p>
        </p:txBody>
      </p:sp>
      <p:sp>
        <p:nvSpPr>
          <p:cNvPr id="6" name="Rektangel 5">
            <a:extLst>
              <a:ext uri="{FF2B5EF4-FFF2-40B4-BE49-F238E27FC236}">
                <a16:creationId xmlns:a16="http://schemas.microsoft.com/office/drawing/2014/main" id="{62116C6B-AEAC-48E4-1AE4-3D276E03E967}"/>
              </a:ext>
            </a:extLst>
          </p:cNvPr>
          <p:cNvSpPr/>
          <p:nvPr/>
        </p:nvSpPr>
        <p:spPr>
          <a:xfrm>
            <a:off x="571500" y="1397000"/>
            <a:ext cx="5334000" cy="5016500"/>
          </a:xfrm>
          <a:prstGeom prst="rect">
            <a:avLst/>
          </a:prstGeom>
          <a:solidFill>
            <a:srgbClr val="FFFFFF"/>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7" name="Rektangel 6">
            <a:extLst>
              <a:ext uri="{FF2B5EF4-FFF2-40B4-BE49-F238E27FC236}">
                <a16:creationId xmlns:a16="http://schemas.microsoft.com/office/drawing/2014/main" id="{F468AC3D-D9FE-1853-5A39-3C631EA10EC2}"/>
              </a:ext>
            </a:extLst>
          </p:cNvPr>
          <p:cNvSpPr/>
          <p:nvPr/>
        </p:nvSpPr>
        <p:spPr>
          <a:xfrm>
            <a:off x="571500" y="1397000"/>
            <a:ext cx="5334000" cy="444500"/>
          </a:xfrm>
          <a:prstGeom prst="rect">
            <a:avLst/>
          </a:prstGeom>
          <a:solidFill>
            <a:srgbClr val="0066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TekstSylinder 7">
            <a:extLst>
              <a:ext uri="{FF2B5EF4-FFF2-40B4-BE49-F238E27FC236}">
                <a16:creationId xmlns:a16="http://schemas.microsoft.com/office/drawing/2014/main" id="{06DDBEB6-4E4F-8887-0949-38B1C1B2357F}"/>
              </a:ext>
            </a:extLst>
          </p:cNvPr>
          <p:cNvSpPr txBox="1"/>
          <p:nvPr/>
        </p:nvSpPr>
        <p:spPr>
          <a:xfrm>
            <a:off x="698500" y="1473200"/>
            <a:ext cx="5080000" cy="261610"/>
          </a:xfrm>
          <a:prstGeom prst="rect">
            <a:avLst/>
          </a:prstGeom>
          <a:noFill/>
        </p:spPr>
        <p:txBody>
          <a:bodyPr vert="horz" rtlCol="0">
            <a:spAutoFit/>
          </a:bodyPr>
          <a:lstStyle/>
          <a:p>
            <a:r>
              <a:rPr lang="nb-NO" sz="1100" b="1">
                <a:solidFill>
                  <a:srgbClr val="FFFFFF"/>
                </a:solidFill>
                <a:latin typeface="Segoe UI" panose="020B0502040204020203" pitchFamily="34" charset="0"/>
              </a:rPr>
              <a:t>Sjekkliste for Telenor Selger / KAM</a:t>
            </a:r>
          </a:p>
        </p:txBody>
      </p:sp>
      <p:sp>
        <p:nvSpPr>
          <p:cNvPr id="9" name="TekstSylinder 8">
            <a:extLst>
              <a:ext uri="{FF2B5EF4-FFF2-40B4-BE49-F238E27FC236}">
                <a16:creationId xmlns:a16="http://schemas.microsoft.com/office/drawing/2014/main" id="{88394DB9-E0A2-7B63-33DD-935D5EF59E2C}"/>
              </a:ext>
            </a:extLst>
          </p:cNvPr>
          <p:cNvSpPr txBox="1"/>
          <p:nvPr/>
        </p:nvSpPr>
        <p:spPr>
          <a:xfrm>
            <a:off x="698500" y="1905000"/>
            <a:ext cx="5080000" cy="2577629"/>
          </a:xfrm>
          <a:prstGeom prst="rect">
            <a:avLst/>
          </a:prstGeom>
          <a:noFill/>
        </p:spPr>
        <p:txBody>
          <a:bodyPr vert="horz" wrap="square" lIns="0" rtlCol="0">
            <a:spAutoFit/>
          </a:bodyPr>
          <a:lstStyle/>
          <a:p>
            <a:r>
              <a:rPr lang="nb-NO" sz="850">
                <a:solidFill>
                  <a:srgbClr val="0F172A"/>
                </a:solidFill>
                <a:latin typeface="Segoe UI" panose="020B0502040204020203" pitchFamily="34" charset="0"/>
              </a:rPr>
              <a:t>☑ Steg 1: Opprettet Opportunity med kilde, close date, Suspecting &amp; Revenue.
☑ Steg 1: Kartlagt volum, historikk og identifisert relevante stakeholdere.
☑ Steg 2: Avklart beslutningstakere og dokumentert pains i Salesforce.
☑ Steg 2: Oppdatert Opportunity Team og invitert inn sertifisert FPP Partner.
☑ Steg 4: Opprettet Quote ('Pricing approval not Required') og FPP-produkt.
☑ Steg 4: Verifisert om avtalen er kundespesifikk -&gt; signert B2B-avtale ved JA.
☑ Steg 4: Innhentet formell / muntlig aksept fra beslutningstaker.
☑ Steg 5: Opprettet New Contract ('Kunde og Telenor', Type: 'Kundekontrakt').
☑ Steg 5: Lastet opp FPP Tjenesteavtale under Documents &amp; startet e-signering.
☑ Steg 6: Oversendt signert avtale til Partner og igangsatt Telenor-fakturering.</a:t>
            </a:r>
          </a:p>
        </p:txBody>
      </p:sp>
      <p:sp>
        <p:nvSpPr>
          <p:cNvPr id="10" name="Rektangel 9">
            <a:extLst>
              <a:ext uri="{FF2B5EF4-FFF2-40B4-BE49-F238E27FC236}">
                <a16:creationId xmlns:a16="http://schemas.microsoft.com/office/drawing/2014/main" id="{12855F26-663D-8804-3CEC-F88B523A00C9}"/>
              </a:ext>
            </a:extLst>
          </p:cNvPr>
          <p:cNvSpPr/>
          <p:nvPr/>
        </p:nvSpPr>
        <p:spPr>
          <a:xfrm>
            <a:off x="6286500" y="1397000"/>
            <a:ext cx="5334000" cy="5016500"/>
          </a:xfrm>
          <a:prstGeom prst="rect">
            <a:avLst/>
          </a:prstGeom>
          <a:solidFill>
            <a:srgbClr val="FFFFFF"/>
          </a:solidFill>
          <a:ln w="1524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1" name="Rektangel 10">
            <a:extLst>
              <a:ext uri="{FF2B5EF4-FFF2-40B4-BE49-F238E27FC236}">
                <a16:creationId xmlns:a16="http://schemas.microsoft.com/office/drawing/2014/main" id="{943C5550-6B6E-63D7-24F1-2322304705FE}"/>
              </a:ext>
            </a:extLst>
          </p:cNvPr>
          <p:cNvSpPr/>
          <p:nvPr/>
        </p:nvSpPr>
        <p:spPr>
          <a:xfrm>
            <a:off x="6286500" y="1397000"/>
            <a:ext cx="5334000" cy="444500"/>
          </a:xfrm>
          <a:prstGeom prst="rect">
            <a:avLst/>
          </a:prstGeom>
          <a:solidFill>
            <a:srgbClr val="008CC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2" name="TekstSylinder 11">
            <a:extLst>
              <a:ext uri="{FF2B5EF4-FFF2-40B4-BE49-F238E27FC236}">
                <a16:creationId xmlns:a16="http://schemas.microsoft.com/office/drawing/2014/main" id="{3080F9B2-2D7E-FDD3-1155-BBAD0FBE2790}"/>
              </a:ext>
            </a:extLst>
          </p:cNvPr>
          <p:cNvSpPr txBox="1"/>
          <p:nvPr/>
        </p:nvSpPr>
        <p:spPr>
          <a:xfrm>
            <a:off x="6413500" y="1473200"/>
            <a:ext cx="5080000" cy="261610"/>
          </a:xfrm>
          <a:prstGeom prst="rect">
            <a:avLst/>
          </a:prstGeom>
          <a:noFill/>
        </p:spPr>
        <p:txBody>
          <a:bodyPr vert="horz" rtlCol="0">
            <a:spAutoFit/>
          </a:bodyPr>
          <a:lstStyle/>
          <a:p>
            <a:r>
              <a:rPr lang="nb-NO" sz="1100" b="1">
                <a:solidFill>
                  <a:srgbClr val="FFFFFF"/>
                </a:solidFill>
                <a:latin typeface="Segoe UI" panose="020B0502040204020203" pitchFamily="34" charset="0"/>
              </a:rPr>
              <a:t>Sjekkliste for Sertifisert Partner</a:t>
            </a:r>
          </a:p>
        </p:txBody>
      </p:sp>
      <p:sp>
        <p:nvSpPr>
          <p:cNvPr id="13" name="TekstSylinder 12">
            <a:extLst>
              <a:ext uri="{FF2B5EF4-FFF2-40B4-BE49-F238E27FC236}">
                <a16:creationId xmlns:a16="http://schemas.microsoft.com/office/drawing/2014/main" id="{D5A4EC5C-5701-6246-6BA6-2B1DC1325574}"/>
              </a:ext>
            </a:extLst>
          </p:cNvPr>
          <p:cNvSpPr txBox="1"/>
          <p:nvPr/>
        </p:nvSpPr>
        <p:spPr>
          <a:xfrm>
            <a:off x="6413500" y="1905000"/>
            <a:ext cx="5080000" cy="2577629"/>
          </a:xfrm>
          <a:prstGeom prst="rect">
            <a:avLst/>
          </a:prstGeom>
          <a:noFill/>
        </p:spPr>
        <p:txBody>
          <a:bodyPr vert="horz" wrap="square" lIns="0" rtlCol="0">
            <a:spAutoFit/>
          </a:bodyPr>
          <a:lstStyle/>
          <a:p>
            <a:r>
              <a:rPr lang="nb-NO" sz="850">
                <a:solidFill>
                  <a:srgbClr val="0F172A"/>
                </a:solidFill>
                <a:latin typeface="Segoe UI" panose="020B0502040204020203" pitchFamily="34" charset="0"/>
              </a:rPr>
              <a:t>☑ Steg 2: Mottatt lead i Salesforce og igangsatt aktiv behovsavklaring.
☑ Steg 2: Samkjørt verdihypoteser med KAM og booket formelt verdimøte.
☑ Steg 3: Gjennomført workshops og kartlagt tekniske krav / forretningsmål.
☑ Steg 3: Visualisert løsningsarkitektur, integrasjoner og beregnet ROI.
☑ Steg 3: Fått kundens bekreftelse på løsningsdesign og prisforslag.
☑ Steg 3: Fylt ut 'FPP Telenor Tjenesteavtale' med korrekte spesifikasjoner.
☑ Steg 3: Oversendt komplett avtaledokument til Telenor KAM.
☑ Steg 4: Etablert og signert Back-to-Back B2B-avtale mot Telenor ved behov.
☑ Steg 4: Etablert direkte Databehandleravtale (DPA) mellom Partner og Kunde.
☑ Steg 6: Mottatt signert avtale og igangsatt provisjonering og leveranse.</a:t>
            </a:r>
          </a:p>
        </p:txBody>
      </p:sp>
    </p:spTree>
    <p:extLst>
      <p:ext uri="{BB962C8B-B14F-4D97-AF65-F5344CB8AC3E}">
        <p14:creationId xmlns:p14="http://schemas.microsoft.com/office/powerpoint/2010/main" val="37257191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ktangel 1">
            <a:extLst>
              <a:ext uri="{FF2B5EF4-FFF2-40B4-BE49-F238E27FC236}">
                <a16:creationId xmlns:a16="http://schemas.microsoft.com/office/drawing/2014/main" id="{A6EC4230-59A9-DD89-872D-07AEA033D7CE}"/>
              </a:ext>
            </a:extLst>
          </p:cNvPr>
          <p:cNvSpPr/>
          <p:nvPr/>
        </p:nvSpPr>
        <p:spPr>
          <a:xfrm>
            <a:off x="0" y="0"/>
            <a:ext cx="12192000" cy="6858000"/>
          </a:xfrm>
          <a:prstGeom prst="rect">
            <a:avLst/>
          </a:prstGeom>
          <a:solidFill>
            <a:srgbClr val="0A192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 name="Rektangel 2">
            <a:extLst>
              <a:ext uri="{FF2B5EF4-FFF2-40B4-BE49-F238E27FC236}">
                <a16:creationId xmlns:a16="http://schemas.microsoft.com/office/drawing/2014/main" id="{5BC7E5B7-F520-F9E3-0057-04E7C4F4910C}"/>
              </a:ext>
            </a:extLst>
          </p:cNvPr>
          <p:cNvSpPr/>
          <p:nvPr/>
        </p:nvSpPr>
        <p:spPr>
          <a:xfrm>
            <a:off x="571500" y="571500"/>
            <a:ext cx="101600" cy="5715000"/>
          </a:xfrm>
          <a:prstGeom prst="rect">
            <a:avLst/>
          </a:prstGeom>
          <a:solidFill>
            <a:srgbClr val="00BEF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4" name="TekstSylinder 3">
            <a:extLst>
              <a:ext uri="{FF2B5EF4-FFF2-40B4-BE49-F238E27FC236}">
                <a16:creationId xmlns:a16="http://schemas.microsoft.com/office/drawing/2014/main" id="{E7364305-8FFF-A9AB-0DDB-9B182EE522B8}"/>
              </a:ext>
            </a:extLst>
          </p:cNvPr>
          <p:cNvSpPr txBox="1"/>
          <p:nvPr/>
        </p:nvSpPr>
        <p:spPr>
          <a:xfrm>
            <a:off x="889000" y="444500"/>
            <a:ext cx="10414000" cy="430887"/>
          </a:xfrm>
          <a:prstGeom prst="rect">
            <a:avLst/>
          </a:prstGeom>
          <a:noFill/>
        </p:spPr>
        <p:txBody>
          <a:bodyPr vert="horz" rtlCol="0">
            <a:spAutoFit/>
          </a:bodyPr>
          <a:lstStyle/>
          <a:p>
            <a:r>
              <a:rPr lang="nb-NO" sz="2200" b="1">
                <a:solidFill>
                  <a:srgbClr val="FFFFFF"/>
                </a:solidFill>
                <a:latin typeface="Segoe UI" panose="020B0502040204020203" pitchFamily="34" charset="0"/>
              </a:rPr>
              <a:t>Oppsummering &amp; Beste Praksis</a:t>
            </a:r>
          </a:p>
        </p:txBody>
      </p:sp>
      <p:sp>
        <p:nvSpPr>
          <p:cNvPr id="5" name="TekstSylinder 4">
            <a:extLst>
              <a:ext uri="{FF2B5EF4-FFF2-40B4-BE49-F238E27FC236}">
                <a16:creationId xmlns:a16="http://schemas.microsoft.com/office/drawing/2014/main" id="{C760611B-BFEB-DB26-3605-57C924463C3C}"/>
              </a:ext>
            </a:extLst>
          </p:cNvPr>
          <p:cNvSpPr txBox="1"/>
          <p:nvPr/>
        </p:nvSpPr>
        <p:spPr>
          <a:xfrm>
            <a:off x="889000" y="889000"/>
            <a:ext cx="10414000" cy="292388"/>
          </a:xfrm>
          <a:prstGeom prst="rect">
            <a:avLst/>
          </a:prstGeom>
          <a:noFill/>
        </p:spPr>
        <p:txBody>
          <a:bodyPr vert="horz" rtlCol="0">
            <a:spAutoFit/>
          </a:bodyPr>
          <a:lstStyle/>
          <a:p>
            <a:r>
              <a:rPr lang="nb-NO" sz="1300" b="1">
                <a:solidFill>
                  <a:srgbClr val="00BEF0"/>
                </a:solidFill>
                <a:latin typeface="Segoe UI" panose="020B0502040204020203" pitchFamily="34" charset="0"/>
              </a:rPr>
              <a:t>Felles verdiskaping for Telenor, Partnere og Kunder</a:t>
            </a:r>
          </a:p>
        </p:txBody>
      </p:sp>
      <p:sp>
        <p:nvSpPr>
          <p:cNvPr id="6" name="Rektangel 5">
            <a:extLst>
              <a:ext uri="{FF2B5EF4-FFF2-40B4-BE49-F238E27FC236}">
                <a16:creationId xmlns:a16="http://schemas.microsoft.com/office/drawing/2014/main" id="{9BAE6F62-E1FB-D21D-3214-F8A9F0128B31}"/>
              </a:ext>
            </a:extLst>
          </p:cNvPr>
          <p:cNvSpPr/>
          <p:nvPr/>
        </p:nvSpPr>
        <p:spPr>
          <a:xfrm>
            <a:off x="889000" y="1460500"/>
            <a:ext cx="3302000" cy="2222500"/>
          </a:xfrm>
          <a:prstGeom prst="rect">
            <a:avLst/>
          </a:prstGeom>
          <a:solidFill>
            <a:srgbClr val="112240"/>
          </a:solidFill>
          <a:ln w="15240">
            <a:solidFill>
              <a:srgbClr val="2335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7" name="TekstSylinder 6">
            <a:extLst>
              <a:ext uri="{FF2B5EF4-FFF2-40B4-BE49-F238E27FC236}">
                <a16:creationId xmlns:a16="http://schemas.microsoft.com/office/drawing/2014/main" id="{E5C5CE5C-9E89-7932-01CF-05735F7FF61E}"/>
              </a:ext>
            </a:extLst>
          </p:cNvPr>
          <p:cNvSpPr txBox="1"/>
          <p:nvPr/>
        </p:nvSpPr>
        <p:spPr>
          <a:xfrm>
            <a:off x="1066800" y="1587500"/>
            <a:ext cx="2946400" cy="269304"/>
          </a:xfrm>
          <a:prstGeom prst="rect">
            <a:avLst/>
          </a:prstGeom>
          <a:noFill/>
        </p:spPr>
        <p:txBody>
          <a:bodyPr vert="horz" wrap="square" rtlCol="0">
            <a:spAutoFit/>
          </a:bodyPr>
          <a:lstStyle/>
          <a:p>
            <a:r>
              <a:rPr lang="nb-NO" sz="1150" b="1">
                <a:solidFill>
                  <a:srgbClr val="00BEF0"/>
                </a:solidFill>
                <a:latin typeface="Segoe UI" panose="020B0502040204020203" pitchFamily="34" charset="0"/>
              </a:rPr>
              <a:t>Kundeopplevelse &amp; Trygghet</a:t>
            </a:r>
          </a:p>
        </p:txBody>
      </p:sp>
      <p:sp>
        <p:nvSpPr>
          <p:cNvPr id="8" name="TekstSylinder 7">
            <a:extLst>
              <a:ext uri="{FF2B5EF4-FFF2-40B4-BE49-F238E27FC236}">
                <a16:creationId xmlns:a16="http://schemas.microsoft.com/office/drawing/2014/main" id="{EE520DB7-55BD-79B1-4667-E142A8265E84}"/>
              </a:ext>
            </a:extLst>
          </p:cNvPr>
          <p:cNvSpPr txBox="1"/>
          <p:nvPr/>
        </p:nvSpPr>
        <p:spPr>
          <a:xfrm>
            <a:off x="1066800" y="2032000"/>
            <a:ext cx="2946400" cy="553998"/>
          </a:xfrm>
          <a:prstGeom prst="rect">
            <a:avLst/>
          </a:prstGeom>
          <a:noFill/>
        </p:spPr>
        <p:txBody>
          <a:bodyPr vert="horz" wrap="square" rtlCol="0">
            <a:spAutoFit/>
          </a:bodyPr>
          <a:lstStyle/>
          <a:p>
            <a:r>
              <a:rPr lang="nb-NO" sz="1000">
                <a:solidFill>
                  <a:srgbClr val="E2E8F0"/>
                </a:solidFill>
                <a:latin typeface="Segoe UI" panose="020B0502040204020203" pitchFamily="34" charset="0"/>
              </a:rPr>
              <a:t>Kunden opplever ett samlet, profesjonelt verditilbud med Telenors solide merkevare og partnerens spesialistkompetanse.</a:t>
            </a:r>
          </a:p>
        </p:txBody>
      </p:sp>
      <p:sp>
        <p:nvSpPr>
          <p:cNvPr id="9" name="Rektangel 8">
            <a:extLst>
              <a:ext uri="{FF2B5EF4-FFF2-40B4-BE49-F238E27FC236}">
                <a16:creationId xmlns:a16="http://schemas.microsoft.com/office/drawing/2014/main" id="{5D499E2E-0B49-B3CD-7EDE-A4B0BB0D17FF}"/>
              </a:ext>
            </a:extLst>
          </p:cNvPr>
          <p:cNvSpPr/>
          <p:nvPr/>
        </p:nvSpPr>
        <p:spPr>
          <a:xfrm>
            <a:off x="4381500" y="1460500"/>
            <a:ext cx="3302000" cy="2222500"/>
          </a:xfrm>
          <a:prstGeom prst="rect">
            <a:avLst/>
          </a:prstGeom>
          <a:solidFill>
            <a:srgbClr val="112240"/>
          </a:solidFill>
          <a:ln w="15240">
            <a:solidFill>
              <a:srgbClr val="2335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0" name="TekstSylinder 9">
            <a:extLst>
              <a:ext uri="{FF2B5EF4-FFF2-40B4-BE49-F238E27FC236}">
                <a16:creationId xmlns:a16="http://schemas.microsoft.com/office/drawing/2014/main" id="{60FB5820-5DA8-39CE-E0B4-360B18F6063F}"/>
              </a:ext>
            </a:extLst>
          </p:cNvPr>
          <p:cNvSpPr txBox="1"/>
          <p:nvPr/>
        </p:nvSpPr>
        <p:spPr>
          <a:xfrm>
            <a:off x="4559300" y="1587500"/>
            <a:ext cx="2946400" cy="269304"/>
          </a:xfrm>
          <a:prstGeom prst="rect">
            <a:avLst/>
          </a:prstGeom>
          <a:noFill/>
        </p:spPr>
        <p:txBody>
          <a:bodyPr vert="horz" wrap="square" rtlCol="0">
            <a:spAutoFit/>
          </a:bodyPr>
          <a:lstStyle/>
          <a:p>
            <a:r>
              <a:rPr lang="nb-NO" sz="1150" b="1">
                <a:solidFill>
                  <a:srgbClr val="00BEF0"/>
                </a:solidFill>
                <a:latin typeface="Segoe UI" panose="020B0502040204020203" pitchFamily="34" charset="0"/>
              </a:rPr>
              <a:t>Juridisk &amp; Finansiell Kontroll</a:t>
            </a:r>
          </a:p>
        </p:txBody>
      </p:sp>
      <p:sp>
        <p:nvSpPr>
          <p:cNvPr id="11" name="TekstSylinder 10">
            <a:extLst>
              <a:ext uri="{FF2B5EF4-FFF2-40B4-BE49-F238E27FC236}">
                <a16:creationId xmlns:a16="http://schemas.microsoft.com/office/drawing/2014/main" id="{AABB5ED2-B467-F175-9425-99A5C00322C9}"/>
              </a:ext>
            </a:extLst>
          </p:cNvPr>
          <p:cNvSpPr txBox="1"/>
          <p:nvPr/>
        </p:nvSpPr>
        <p:spPr>
          <a:xfrm>
            <a:off x="4559300" y="2032000"/>
            <a:ext cx="2946400" cy="553998"/>
          </a:xfrm>
          <a:prstGeom prst="rect">
            <a:avLst/>
          </a:prstGeom>
          <a:noFill/>
        </p:spPr>
        <p:txBody>
          <a:bodyPr vert="horz" wrap="square" rtlCol="0">
            <a:spAutoFit/>
          </a:bodyPr>
          <a:lstStyle/>
          <a:p>
            <a:r>
              <a:rPr lang="nb-NO" sz="1000">
                <a:solidFill>
                  <a:srgbClr val="E2E8F0"/>
                </a:solidFill>
                <a:latin typeface="Segoe UI" panose="020B0502040204020203" pitchFamily="34" charset="0"/>
              </a:rPr>
              <a:t>100% etterlevelse av B2B Back-to-Back, direkte DPA, årlig KPI-prisjustering og varekostnadsklausuler eliminerer udekket risiko.</a:t>
            </a:r>
          </a:p>
        </p:txBody>
      </p:sp>
      <p:sp>
        <p:nvSpPr>
          <p:cNvPr id="12" name="Rektangel 11">
            <a:extLst>
              <a:ext uri="{FF2B5EF4-FFF2-40B4-BE49-F238E27FC236}">
                <a16:creationId xmlns:a16="http://schemas.microsoft.com/office/drawing/2014/main" id="{619AD44B-B591-F20C-0CA8-2128AA9F3F32}"/>
              </a:ext>
            </a:extLst>
          </p:cNvPr>
          <p:cNvSpPr/>
          <p:nvPr/>
        </p:nvSpPr>
        <p:spPr>
          <a:xfrm>
            <a:off x="7874000" y="1460500"/>
            <a:ext cx="3302000" cy="2222500"/>
          </a:xfrm>
          <a:prstGeom prst="rect">
            <a:avLst/>
          </a:prstGeom>
          <a:solidFill>
            <a:srgbClr val="112240"/>
          </a:solidFill>
          <a:ln w="15240">
            <a:solidFill>
              <a:srgbClr val="2335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3" name="TekstSylinder 12">
            <a:extLst>
              <a:ext uri="{FF2B5EF4-FFF2-40B4-BE49-F238E27FC236}">
                <a16:creationId xmlns:a16="http://schemas.microsoft.com/office/drawing/2014/main" id="{D20B0886-0C72-333A-92CE-9CD5E3C38332}"/>
              </a:ext>
            </a:extLst>
          </p:cNvPr>
          <p:cNvSpPr txBox="1"/>
          <p:nvPr/>
        </p:nvSpPr>
        <p:spPr>
          <a:xfrm>
            <a:off x="8051800" y="1587500"/>
            <a:ext cx="2946400" cy="269304"/>
          </a:xfrm>
          <a:prstGeom prst="rect">
            <a:avLst/>
          </a:prstGeom>
          <a:noFill/>
        </p:spPr>
        <p:txBody>
          <a:bodyPr vert="horz" wrap="square" rtlCol="0">
            <a:spAutoFit/>
          </a:bodyPr>
          <a:lstStyle/>
          <a:p>
            <a:r>
              <a:rPr lang="nb-NO" sz="1150" b="1">
                <a:solidFill>
                  <a:srgbClr val="00BEF0"/>
                </a:solidFill>
                <a:latin typeface="Segoe UI" panose="020B0502040204020203" pitchFamily="34" charset="0"/>
              </a:rPr>
              <a:t>Effektiv Salgsgjennomføring</a:t>
            </a:r>
          </a:p>
        </p:txBody>
      </p:sp>
      <p:sp>
        <p:nvSpPr>
          <p:cNvPr id="14" name="TekstSylinder 13">
            <a:extLst>
              <a:ext uri="{FF2B5EF4-FFF2-40B4-BE49-F238E27FC236}">
                <a16:creationId xmlns:a16="http://schemas.microsoft.com/office/drawing/2014/main" id="{21ACC343-F099-9807-3D9F-01BB90A11D49}"/>
              </a:ext>
            </a:extLst>
          </p:cNvPr>
          <p:cNvSpPr txBox="1"/>
          <p:nvPr/>
        </p:nvSpPr>
        <p:spPr>
          <a:xfrm>
            <a:off x="8051800" y="2032000"/>
            <a:ext cx="2946400" cy="553998"/>
          </a:xfrm>
          <a:prstGeom prst="rect">
            <a:avLst/>
          </a:prstGeom>
          <a:noFill/>
        </p:spPr>
        <p:txBody>
          <a:bodyPr vert="horz" wrap="square" rtlCol="0">
            <a:spAutoFit/>
          </a:bodyPr>
          <a:lstStyle/>
          <a:p>
            <a:r>
              <a:rPr lang="nb-NO" sz="1000">
                <a:solidFill>
                  <a:srgbClr val="E2E8F0"/>
                </a:solidFill>
                <a:latin typeface="Segoe UI" panose="020B0502040204020203" pitchFamily="34" charset="0"/>
              </a:rPr>
              <a:t>Standardiserte klikkveier i Salesforce Lightning og automatisert e-signering reduserer ledetid fra lead til fakturering.</a:t>
            </a:r>
          </a:p>
        </p:txBody>
      </p:sp>
      <p:sp>
        <p:nvSpPr>
          <p:cNvPr id="15" name="Rektangel 14">
            <a:extLst>
              <a:ext uri="{FF2B5EF4-FFF2-40B4-BE49-F238E27FC236}">
                <a16:creationId xmlns:a16="http://schemas.microsoft.com/office/drawing/2014/main" id="{06817894-F58C-1E40-411F-EAF5AB5EF966}"/>
              </a:ext>
            </a:extLst>
          </p:cNvPr>
          <p:cNvSpPr/>
          <p:nvPr/>
        </p:nvSpPr>
        <p:spPr>
          <a:xfrm>
            <a:off x="889000" y="3937000"/>
            <a:ext cx="10287000" cy="2095500"/>
          </a:xfrm>
          <a:prstGeom prst="rect">
            <a:avLst/>
          </a:prstGeom>
          <a:solidFill>
            <a:srgbClr val="0F1E32"/>
          </a:solidFill>
          <a:ln w="15240">
            <a:solidFill>
              <a:srgbClr val="23355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6" name="TekstSylinder 15">
            <a:extLst>
              <a:ext uri="{FF2B5EF4-FFF2-40B4-BE49-F238E27FC236}">
                <a16:creationId xmlns:a16="http://schemas.microsoft.com/office/drawing/2014/main" id="{840945F6-FEF5-385E-3524-DDB528716EC6}"/>
              </a:ext>
            </a:extLst>
          </p:cNvPr>
          <p:cNvSpPr txBox="1"/>
          <p:nvPr/>
        </p:nvSpPr>
        <p:spPr>
          <a:xfrm>
            <a:off x="1079500" y="4064000"/>
            <a:ext cx="9906000" cy="261610"/>
          </a:xfrm>
          <a:prstGeom prst="rect">
            <a:avLst/>
          </a:prstGeom>
          <a:noFill/>
        </p:spPr>
        <p:txBody>
          <a:bodyPr vert="horz" rtlCol="0">
            <a:spAutoFit/>
          </a:bodyPr>
          <a:lstStyle/>
          <a:p>
            <a:r>
              <a:rPr lang="nb-NO" sz="1100" b="1">
                <a:solidFill>
                  <a:srgbClr val="00BEF0"/>
                </a:solidFill>
                <a:latin typeface="Segoe UI" panose="020B0502040204020203" pitchFamily="34" charset="0"/>
              </a:rPr>
              <a:t>SALESFORCE LIGHTNING REFERANSER &amp; SYSTEMEKSEMPLER</a:t>
            </a:r>
          </a:p>
        </p:txBody>
      </p:sp>
      <p:sp>
        <p:nvSpPr>
          <p:cNvPr id="17" name="TekstSylinder 16">
            <a:extLst>
              <a:ext uri="{FF2B5EF4-FFF2-40B4-BE49-F238E27FC236}">
                <a16:creationId xmlns:a16="http://schemas.microsoft.com/office/drawing/2014/main" id="{862ABFE3-E33D-0BF7-6862-21D337E70EE5}"/>
              </a:ext>
            </a:extLst>
          </p:cNvPr>
          <p:cNvSpPr txBox="1"/>
          <p:nvPr/>
        </p:nvSpPr>
        <p:spPr>
          <a:xfrm>
            <a:off x="1079500" y="4445000"/>
            <a:ext cx="9906000" cy="677108"/>
          </a:xfrm>
          <a:prstGeom prst="rect">
            <a:avLst/>
          </a:prstGeom>
          <a:noFill/>
        </p:spPr>
        <p:txBody>
          <a:bodyPr vert="horz" wrap="square" lIns="0" rtlCol="0">
            <a:spAutoFit/>
          </a:bodyPr>
          <a:lstStyle/>
          <a:p>
            <a:r>
              <a:rPr lang="nb-NO" sz="950">
                <a:solidFill>
                  <a:srgbClr val="E2E8F0"/>
                </a:solidFill>
                <a:latin typeface="Segoe UI" panose="020B0502040204020203" pitchFamily="34" charset="0"/>
              </a:rPr>
              <a:t>Referansemaler og eksempler på gjennomførte partneravtaler i Salesforce Lightning:
• Eksempel 1 (Opportunity): https://telenor.lightning.force.com/lightning/r/Opportunity/006So00000mRqgRIAS/view
• Eksempel 2 (Opportunity): https://telenor.lightning.force.com/lightning/r/Opportunity/006So00000mSOQLIA4/view
• Avtalemaler: FPP Telenor Tjenesteavtale | Standard B2B Back-to-Back Avtale | Databehandleravtale (DPA)</a:t>
            </a:r>
          </a:p>
        </p:txBody>
      </p:sp>
    </p:spTree>
    <p:extLst>
      <p:ext uri="{BB962C8B-B14F-4D97-AF65-F5344CB8AC3E}">
        <p14:creationId xmlns:p14="http://schemas.microsoft.com/office/powerpoint/2010/main" val="3033530669"/>
      </p:ext>
    </p:extLst>
  </p:cSld>
  <p:clrMapOvr>
    <a:masterClrMapping/>
  </p:clrMapOvr>
</p:sld>
</file>

<file path=ppt/theme/theme1.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604d2c9-1577-460e-b668-57374a0216c3}" enabled="1" method="Standard" siteId="{1676489c-5c72-46b7-ba63-9ab90c4aad44}" contentBits="2" removed="0"/>
</clbl:labelList>
</file>

<file path=docProps/app.xml><?xml version="1.0" encoding="utf-8"?>
<Properties xmlns="http://schemas.openxmlformats.org/officeDocument/2006/extended-properties" xmlns:vt="http://schemas.openxmlformats.org/officeDocument/2006/docPropsVTypes">
  <TotalTime>0</TotalTime>
  <Words>3033</Words>
  <Application>Microsoft Office PowerPoint</Application>
  <PresentationFormat>Egendefinert</PresentationFormat>
  <Paragraphs>145</Paragraphs>
  <Slides>14</Slides>
  <Notes>0</Notes>
  <HiddenSlides>0</HiddenSlides>
  <MMClips>0</MMClips>
  <ScaleCrop>false</ScaleCrop>
  <HeadingPairs>
    <vt:vector size="6" baseType="variant">
      <vt:variant>
        <vt:lpstr>Brukte skrifter</vt:lpstr>
      </vt:variant>
      <vt:variant>
        <vt:i4>4</vt:i4>
      </vt:variant>
      <vt:variant>
        <vt:lpstr>Tema</vt:lpstr>
      </vt:variant>
      <vt:variant>
        <vt:i4>1</vt:i4>
      </vt:variant>
      <vt:variant>
        <vt:lpstr>Lysbildetitler</vt:lpstr>
      </vt:variant>
      <vt:variant>
        <vt:i4>14</vt:i4>
      </vt:variant>
    </vt:vector>
  </HeadingPairs>
  <TitlesOfParts>
    <vt:vector size="19" baseType="lpstr">
      <vt:lpstr>Aptos</vt:lpstr>
      <vt:lpstr>Aptos Display</vt:lpstr>
      <vt:lpstr>Arial</vt:lpstr>
      <vt:lpstr>Segoe UI</vt:lpstr>
      <vt:lpstr>Office-tema</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vector>
  </TitlesOfParts>
  <Company>Telenor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Tor Marstein</dc:creator>
  <cp:lastModifiedBy>Tor Marstein</cp:lastModifiedBy>
  <cp:revision>1</cp:revision>
  <dcterms:created xsi:type="dcterms:W3CDTF">2026-09-18T09:26:25Z</dcterms:created>
  <dcterms:modified xsi:type="dcterms:W3CDTF">2026-09-18T09:26:26Z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Office-tema:8</vt:lpwstr>
  </property>
  <property fmtid="{D5CDD505-2E9C-101B-9397-08002B2CF9AE}" pid="3" name="ClassificationContentMarkingFooterText">
    <vt:lpwstr>Sensitivity: Internal</vt:lpwstr>
  </property>
</Properties>
</file>