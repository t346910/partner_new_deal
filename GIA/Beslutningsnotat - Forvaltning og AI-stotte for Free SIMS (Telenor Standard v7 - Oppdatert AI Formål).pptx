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AD547B5-E56E-7852-5FC8-490E917EBD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34E4846-FC20-1BD9-EB66-A5D4555123D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15C0E124-0224-AA57-8C4C-D43D21F1633F}"/>
              </a:ext>
            </a:extLst>
          </p:cNvPr>
          <p:cNvSpPr/>
          <p:nvPr/>
        </p:nvSpPr>
        <p:spPr>
          <a:xfrm>
            <a:off x="571500" y="381000"/>
            <a:ext cx="2794000" cy="355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54696FC8-122A-CDC7-AB58-60B7B5BD29A4}"/>
              </a:ext>
            </a:extLst>
          </p:cNvPr>
          <p:cNvSpPr txBox="1"/>
          <p:nvPr/>
        </p:nvSpPr>
        <p:spPr>
          <a:xfrm>
            <a:off x="533400" y="825500"/>
            <a:ext cx="8459624" cy="4991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 og AI-agentstøtte for Free SIMs</a:t>
            </a:r>
            <a:endParaRPr kumimoji="0" lang="nb-NO" sz="32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DDCFBDDD-08B8-2A87-591F-1E5A9FE13886}"/>
              </a:ext>
            </a:extLst>
          </p:cNvPr>
          <p:cNvSpPr txBox="1"/>
          <p:nvPr/>
        </p:nvSpPr>
        <p:spPr>
          <a:xfrm>
            <a:off x="558800" y="1549400"/>
            <a:ext cx="7766870" cy="2339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5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Styringsmodell for 135 281 abonnementer  |  Oppfølging av GIA Audit &amp; ICFR NOR 72</a:t>
            </a:r>
            <a:endParaRPr kumimoji="0" lang="nb-NO" sz="1500" b="1" i="0" u="none" strike="noStrike" kern="1200" cap="none" spc="0" normalizeH="0" baseline="0" noProof="0" dirty="0" err="1">
              <a:ln>
                <a:noFill/>
              </a:ln>
              <a:solidFill>
                <a:srgbClr val="38BDF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99218AB8-7448-3D93-9BC8-0E336F4E596C}"/>
              </a:ext>
            </a:extLst>
          </p:cNvPr>
          <p:cNvSpPr/>
          <p:nvPr/>
        </p:nvSpPr>
        <p:spPr>
          <a:xfrm>
            <a:off x="571500" y="2159000"/>
            <a:ext cx="6223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F258E9B2-261B-2525-963B-4D2B1758D3A0}"/>
              </a:ext>
            </a:extLst>
          </p:cNvPr>
          <p:cNvSpPr/>
          <p:nvPr/>
        </p:nvSpPr>
        <p:spPr>
          <a:xfrm>
            <a:off x="571500" y="2159000"/>
            <a:ext cx="6223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SAKSINNHOLD OG HOVEDFORMÅL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4E1122E1-A256-2069-645A-3898C8E792A4}"/>
              </a:ext>
            </a:extLst>
          </p:cNvPr>
          <p:cNvSpPr txBox="1"/>
          <p:nvPr/>
        </p:nvSpPr>
        <p:spPr>
          <a:xfrm>
            <a:off x="762000" y="2794000"/>
            <a:ext cx="5842000" cy="28435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Etablering av helhetlig forvaltningsmodell (Prevent-Detect-Act-Improve) og AI-kontroll for 135 281 Free SIMs.
• Formål 1: Gyldighetsbevis for MBN/NC (84 %)
  Maskinell bevisføring på at 113 772 logiske nummer er knyttet til aktiv betalende kunde.
• Formål 2: AI-kapabiliteter for stengerapporter
  Bygge AI agent kapabiliteter som kontrollerer og utarbeider stengerapporter på 21 509 ustrukturerte test-SIM.
• Formål 3: Sikring mot inntektstap &amp; full GIA/ICFR compliance.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C9EF1BD-0FC2-9597-D167-CBAB5C81290A}"/>
              </a:ext>
            </a:extLst>
          </p:cNvPr>
          <p:cNvSpPr/>
          <p:nvPr/>
        </p:nvSpPr>
        <p:spPr>
          <a:xfrm>
            <a:off x="7048500" y="2159000"/>
            <a:ext cx="4572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F7A4E8F7-6E09-AA87-157E-B1433FE14634}"/>
              </a:ext>
            </a:extLst>
          </p:cNvPr>
          <p:cNvSpPr/>
          <p:nvPr/>
        </p:nvSpPr>
        <p:spPr>
          <a:xfrm>
            <a:off x="7048500" y="2159000"/>
            <a:ext cx="4572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ROLLER OG SAKSINFORMASJON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83A4BC61-952D-C32A-8DCC-AB10B25F1117}"/>
              </a:ext>
            </a:extLst>
          </p:cNvPr>
          <p:cNvSpPr txBox="1"/>
          <p:nvPr/>
        </p:nvSpPr>
        <p:spPr>
          <a:xfrm>
            <a:off x="7239000" y="2794000"/>
            <a:ext cx="41910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Saksinnmelder:
   Tor Marstein (Telenor Business)
• Ansvarlige for kontrollen:
   - Tor Marstein (SPOC Business)
   - Geir Kolstad (SPOC Technology)
• Målgruppe:
   Ledelsen i Telenor Business / GIA Forum
• Dato &amp; Status:
   18. september 2026  |  Til beslutning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5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D40CB4C-7F05-039E-82AD-B2A3B7E3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7EE73AA7-664A-0890-3818-50C932CD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5AB516DB-D917-19A6-FCF3-EE88F65BB67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36E5BB7-A0ED-7196-25B6-449856DB9A41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2E30C8A-3826-6C88-A403-7AF25E555DA5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C97DB95-071F-4C23-3DF1-6B00270780E3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8816601-AFFD-3270-6C1A-C0817C77D577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A709F51A-5E08-6331-914F-1C7596150DFE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3E5E4AC4-AB4B-0022-8E02-E433A2943301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53448550-B327-8A03-5ED3-E6B17DE27D42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8BFCB012-2543-51BE-6434-76FE4188D904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85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CEFDEDE-7D79-BC56-37D9-257669B6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0188235C-E5FE-C187-332E-34432355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A84DD64-5705-ABC7-D658-78501202ED5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388BBB4-E0E2-CF63-6D9C-1CBFF578B04D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E259B1C7-A5B4-E6DF-9F6C-B40420DF28F9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C765080-C7D7-B41B-71AE-537FF0E19F0A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BF74A22B-1527-46D8-55DB-F7BE8662EF18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964886C-D589-F7AE-1E59-DAC0F392B276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395F80EB-F375-58FA-B558-669E968551BB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Krever gyldighetsbevis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ACF9879-6862-C252-46DA-CCD0257C7E83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A998F319-AA6E-DF14-2266-2F9FCA54E1B9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Krever stengerapporter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4F42B11B-2F71-E2B3-E455-93F147AEEE9C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8A864A09-F9F5-2B6A-F55F-88CBEE5A4EB7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Oppfølgings- og Kontrollfokus per Hovedgruppe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D8368AA2-5E47-BE05-8F01-833808C26FE5}"/>
              </a:ext>
            </a:extLst>
          </p:cNvPr>
          <p:cNvSpPr txBox="1"/>
          <p:nvPr/>
        </p:nvSpPr>
        <p:spPr>
          <a:xfrm>
            <a:off x="825500" y="3683000"/>
            <a:ext cx="10541000" cy="12080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84 % (MBN &amp; Nordic Connect): Logiske nummer for sentralbord, køer og svargrupper. AI-agenter etablerer kontinuerlig kryssvalidering mot aktive kundeavtaler for å bevise gyldighet og foreslå stenging av foreldreløse nummer (Krav 1).
• 16 % (Test- og Drifts-SIM): 21 509 fysiske SIM-kort fordelt på IT-test, kritiske drift-SIM og utstyr. Bygge AI-agent kapabiliteter som kontrollerer og utarbeider stengerapporter på disse numrene for Customer Operations.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4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F710E79-6261-2822-F75E-036347D7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7F86B638-3BCB-0E58-4D94-6ACB3FBE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72D394A-0328-D05C-05BF-1F6632CE98C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0AFB1E5-63E5-E2F6-2F63-853EA3FBDF18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D7E418C2-C0E8-E562-6AB9-59F58C85F563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0F16998-A02D-9311-401D-1D09CB44D683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EA45499-0ECE-A12B-3302-DF170505122F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3EDCDA0-727F-E5E8-2150-C6985B17C15C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42CD4E25-11E5-A473-BE27-4D6896159845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D5A483A0-C8D9-2A0E-D2D5-11F079EA1FDA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5DF77883-AB63-F041-63F9-004CE157691B}"/>
              </a:ext>
            </a:extLst>
          </p:cNvPr>
          <p:cNvSpPr txBox="1"/>
          <p:nvPr/>
        </p:nvSpPr>
        <p:spPr>
          <a:xfrm>
            <a:off x="3492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gyldighetsbevis på MBN/NC
• AI-kontroll av 21 509 test-SIM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25CB8F40-20A5-19F3-B47E-B3451F88898F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7C60954-4861-1669-AB8B-030013DC370A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A49DCCEF-2745-9F53-E3B8-27EAE7BF8785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AI-stengerapporter på inaktive testkort
• Verifisering av divisjons-SPOC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BD6F685C-3908-BDED-6814-373FB87F0A53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BE5EBB12-D4C0-7531-F86D-C1D5F46A5761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1E38D7BD-CDC4-F963-FE2C-EA90A1384CEE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9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843293-B951-B2B9-E089-8DA1C36B1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E73373D8-B4E1-410A-5458-938DCE07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07F64B9-2E5B-6167-122E-FF623E581FE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F0D7F20-74C3-2A6B-3472-7A956C539EA2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3DBA34D-7BB8-8C72-4845-A54D693C9C50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2E2D71F-2A79-8CD8-3DC3-D75831E1E7C8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782277A3-0440-919B-5C48-5DB3A9C1D6CD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3C7A670-671C-F6A5-4AE4-5B9144FB5F44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F32DA9A9-D7ED-49A4-DC85-71D6A9FE1725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B621F74-9F32-C96B-4FE2-95E22C4461D2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5F2963C-A3A7-F824-C917-3CA1C520E46E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7515445D-D68F-B289-8C57-EAD42A6FDEEC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FB01E1E7-45FD-0D8F-806A-27A79ED169C6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92926489-386B-00A8-F231-93FA67081CA5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6781CA4A-5EC0-126E-0917-09D0F2712E3B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6E1FE213-8273-AFFF-78DA-CC5FF5AC39B1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72200C5-D22F-4DB7-97CF-E0D509966FEE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3FCBD5A7-D2C7-2630-0A5C-DD9A5849134F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122D1BCF-9BE1-5E0A-27A9-F03BA1BB3789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2D2A349A-04C9-25C1-FD4F-6EEE622A7DEB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E360DC9E-3596-B440-7E40-C5CD9CB4DA73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23F0F02F-D03C-1991-8710-45B695786861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337D89F0-C1CD-F324-8543-06FD0D1CF01E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0EB9B8CF-6F8F-28FD-D073-CB7036326B3A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E93FD80E-56B8-3341-BE90-DDCBEE8EBB0D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45756CA8-242F-049C-B024-678400E2A2A0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97E08D16-65A5-AFB7-44C2-0DC8B934BED7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389000A2-A37D-7510-7C40-07837A16A6D8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F5BD4724-6DD9-FCF4-B767-D8404FCB06A6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9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CA2241-C3BF-E304-B0A6-CEE0AB733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A33F26FA-7466-E3B9-1917-75ED4B84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35FB2BB-C943-8C9B-CE32-1769F4E770C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D0E6C50-F139-95A1-F3E6-639423BFBBD4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FBA8C656-FBA7-ED50-5F36-068BE27BA870}"/>
              </a:ext>
            </a:extLst>
          </p:cNvPr>
          <p:cNvSpPr txBox="1"/>
          <p:nvPr/>
        </p:nvSpPr>
        <p:spPr>
          <a:xfrm>
            <a:off x="533400" y="558800"/>
            <a:ext cx="8230908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kjerneoppgaver: MBN/NC-validering &amp; Testvask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EAA3C3E-61BD-27F5-394A-A574F5215B9C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9BACCBD-FFD1-6236-A4F6-6247185B95CA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Gyldighetsbevis for MBN/NC (113 772 nr)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4066766-F7EB-9E67-13D4-BAA6CE613964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 kryss-sjekker daglig alle logiske nummer mot bedriftsavtaler og fakturasystemer.
• Bevisføring for revisjon:
Genererer dokumentert bevis på at hvert logisk nummer er knyttet til et aktivt kundeforhold.
• Forslag om stenging:
Identifiserer foreldreløse nummer etter oppsagte avtaler og foreslår automatisk stenging/sanering.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DF40B65-00E2-0635-7B9F-7420784A8C50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25EF41B-8D14-8798-ECD2-063585680EF6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2. AI-stengerapporter for 21 509 Test-SIM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06B0DFA9-8A4E-589F-43BF-2B2EE9F288B7}"/>
              </a:ext>
            </a:extLst>
          </p:cNvPr>
          <p:cNvSpPr txBox="1"/>
          <p:nvPr/>
        </p:nvSpPr>
        <p:spPr>
          <a:xfrm>
            <a:off x="6477000" y="1841500"/>
            <a:ext cx="4953000" cy="282526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Bygge AI-agent kapabiliteter:
Utvikle autonome agenter som kontinuerlig kontrollerer og utarbeider stengerapporter på de 21 509 ustrukturerte test-SIM-ene.
• Inaktivitets- og bruksanalyse:
Analyserer trafikklogger og flagger 'døde' testkort uten trafikk &gt; 6 mnd for stenging.
• Leveranse av stengerapporter:
Overfører ferdige, revisjonssikre stengerapporter direkte til Customer Operations (Rørvik).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67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F4F896-8FC3-1B8E-5E86-14376F04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0EA13BB3-0EB2-6031-A302-A81A4DF7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1696E8C-C3E6-B091-4221-0B2BA9CC071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B355D5D-94D8-5A90-6836-BE10604FDF7C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9A707163-2F91-4401-3C75-CA3AABAB7C7F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17F5D50-79D8-A3C7-D67A-89932589FE45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1719D20A-A2BE-4485-AAA0-2312D141E138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C77214B1-2E66-CC53-5498-1EC52A70B2BA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74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6A3D4AF-3FD0-17A4-E44E-8374CCD5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1041C320-0416-C03D-9A1A-5390E282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0F2859BB-4F73-4DB9-780A-CBF79505671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154ECA1-2991-7393-011E-1ECF07DFC82D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02230FD9-3436-D42F-F98A-D7C6214CB642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AFCDF33-9D9A-CC01-185A-21951FD9A81D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A598C12E-D147-070B-7533-2BDCDBF545C2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32604476-EF62-109A-6800-E7431352B5BC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9665B60F-E1A7-FF31-DAA7-D62CADA353D4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7947C18-961D-EAE7-CEAF-B67735961ECE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129D5250-6638-96CE-7673-9C4D54064D2E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D2658107-6C34-FED8-89FE-384C3A203DC6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6C8F4581-E409-DECC-9C33-10587C6A2D77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ED12F78A-ADAA-84FE-8483-0A430678A83F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som utarbeider ferdige stengerapporter i Google Cloud Looker.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D57E1215-F4D2-11F4-C0BC-44E6279E45B2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C4CDBCC5-0A07-7354-FE04-D4C2A0B806D3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3DF7910B-3304-253B-CD59-9BD4947641F5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4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771D851B-C245-CAA4-AACB-9FE8CD27F0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C8089D4A-596E-D43F-C0A7-F71F208C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8FA35A5-1163-8D49-BE6F-EC36A7F7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55B9F54B-296D-AB89-16C2-814B356B214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228D2EC2-8965-89A2-100F-F31516F7BEB2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D9EA0C17-2DCF-A87B-59A1-9E5B208A12C6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17383B08-73F4-08FC-FE26-FD27E619AAA6}"/>
              </a:ext>
            </a:extLst>
          </p:cNvPr>
          <p:cNvSpPr txBox="1"/>
          <p:nvPr/>
        </p:nvSpPr>
        <p:spPr>
          <a:xfrm>
            <a:off x="825500" y="1841500"/>
            <a:ext cx="10541000" cy="3638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AI-agent mandat for MBN/NC &amp; Stengerapporter:
Det godkjennes at det bygges AI agent kapabiliteter for løpende gyldighetsbevis av 113 772 logiske MBN/NC-nummer, samt kontroll og utarbeidelse av stengerapporter på 21 509 ustrukturerte test-SIM.
3. Innføring av 6 mnd levetid for test-SIM:
Det innføres standard 6 måneders levetid og automatisk terminering for alle nye Test-1 abonnementer.
4. Looker &amp; Customer Operations forankring:
Google Cloud Looker etableres som offisiell oppfølgingsflate, og Customer Operations (Rørvik) gis mandat til månedlige bulk-saneringer etter stengerapporter fra AI-agentene.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8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1243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