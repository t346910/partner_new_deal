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TelenorEvolution PPT" pitchFamily="2" charset="0"/>
      <p:regular r:id="rId20"/>
      <p:bold r:id="rId21"/>
      <p:italic r:id="rId22"/>
      <p:boldItalic r:id="rId23"/>
    </p:embeddedFont>
    <p:embeddedFont>
      <p:font typeface="TelenorEvolutionPPT-Light" pitchFamily="2" charset="0"/>
      <p:regular r:id="rId24"/>
      <p:bold r:id="rId25"/>
      <p:italic r:id="rId26"/>
      <p:boldItalic r:id="rId27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C0C0C0"/>
    <a:srgbClr val="CD7F32"/>
    <a:srgbClr val="ADFFFE"/>
    <a:srgbClr val="FFD0AD"/>
    <a:srgbClr val="F6FFF7"/>
    <a:srgbClr val="FFFDEC"/>
    <a:srgbClr val="FFF9F6"/>
    <a:srgbClr val="FFF5FA"/>
    <a:srgbClr val="FFD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ys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 stil 2 – uthev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" d="100"/>
          <a:sy n="16" d="100"/>
        </p:scale>
        <p:origin x="908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192D7BEB-D096-76FF-553B-849C0BA62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3E5A3A9-4556-3B71-70C0-771DAA4246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EA20-0840-4B60-A7DF-47983B442C9F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C871261-EFDF-13D4-5403-7C38F73D7B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D8168DE-04AE-0909-7A08-E28AF70F0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E3234-8599-4DD5-94C8-355D0E04706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4629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1E7B-BF52-F34C-A8A5-3EDA31C48EEC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"/>
              <a:t>Klikk for å redigere maltekststiler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A2A1D-4381-7944-A115-0AF78503C2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7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3DDE6-ECA6-4DD5-40CF-3446748F55EC}"/>
              </a:ext>
            </a:extLst>
          </p:cNvPr>
          <p:cNvSpPr txBox="1"/>
          <p:nvPr userDrawn="1"/>
        </p:nvSpPr>
        <p:spPr>
          <a:xfrm>
            <a:off x="555674" y="-338562"/>
            <a:ext cx="5482270" cy="36892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4000" b="1" i="1" u="none" strike="noStrike" kern="1200" cap="none" spc="-40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Hei.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A1DC-DE9F-C67C-ADF3-64BBE23D76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D19AB46E-DC85-4C4D-9656-6951CE292F4E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74D820D-5D8B-6088-1CEE-FC8EF9121C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96880-8CDF-F2CC-FB31-E84207A7D1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428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.">
    <p:bg>
      <p:bgPr>
        <a:solidFill>
          <a:srgbClr val="AD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8962390" cy="34701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Pause.</a:t>
            </a:r>
          </a:p>
        </p:txBody>
      </p:sp>
    </p:spTree>
    <p:extLst>
      <p:ext uri="{BB962C8B-B14F-4D97-AF65-F5344CB8AC3E}">
        <p14:creationId xmlns:p14="http://schemas.microsoft.com/office/powerpoint/2010/main" val="39315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s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7290457" cy="3381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rgbClr val="FFD0AD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Takk.</a:t>
            </a:r>
          </a:p>
        </p:txBody>
      </p:sp>
    </p:spTree>
    <p:extLst>
      <p:ext uri="{BB962C8B-B14F-4D97-AF65-F5344CB8AC3E}">
        <p14:creationId xmlns:p14="http://schemas.microsoft.com/office/powerpoint/2010/main" val="3973189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uge text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7621B13F-E3A6-644F-8740-2496410369E6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998EC9-4000-1DFF-DDF9-60C3EAAED5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512" y="14815"/>
            <a:ext cx="11465935" cy="3392946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0" b="1" i="1" spc="-5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Tekst.</a:t>
            </a:r>
            <a:endParaRPr lang="nb-NO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E177C96C-CD10-90E5-8D7E-481E97A5E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7" name="Avrundet rektangel 4">
              <a:extLst>
                <a:ext uri="{FF2B5EF4-FFF2-40B4-BE49-F238E27FC236}">
                  <a16:creationId xmlns:a16="http://schemas.microsoft.com/office/drawing/2014/main" id="{3A066574-39BF-6AD1-67AA-BD43F5470D4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8" name="TekstSylinder 48">
              <a:extLst>
                <a:ext uri="{FF2B5EF4-FFF2-40B4-BE49-F238E27FC236}">
                  <a16:creationId xmlns:a16="http://schemas.microsoft.com/office/drawing/2014/main" id="{C27BCCF6-473F-8395-894E-FDCDCCA6D196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9" name="Ellipse 29">
              <a:extLst>
                <a:ext uri="{FF2B5EF4-FFF2-40B4-BE49-F238E27FC236}">
                  <a16:creationId xmlns:a16="http://schemas.microsoft.com/office/drawing/2014/main" id="{6F593B8D-8495-EE2C-7F1C-99E0EFB5A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5F66878E-8E6A-75B4-1601-E9E695CA3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5D16137F-EB09-AD29-26A8-B10E1AF9D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1D6B8FE8-07F7-F95B-3815-6E09FE6C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03944979-3C83-A816-0090-A3F31EA44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AEDA0EB0-5939-7F60-FE10-1E704EE4CC93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55375B1C-7ADB-C9AD-610D-D5A26D8F0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33E48FD0-9A45-A4B4-33D6-72CB77C9E18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70BCBD9-2113-AAA8-FE26-EBBDC360213E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36" name="Rett linje 54">
                <a:extLst>
                  <a:ext uri="{FF2B5EF4-FFF2-40B4-BE49-F238E27FC236}">
                    <a16:creationId xmlns:a16="http://schemas.microsoft.com/office/drawing/2014/main" id="{BAE0610D-0840-A7E6-ADFE-A40D3DDC6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kstSylinder 61">
                <a:extLst>
                  <a:ext uri="{FF2B5EF4-FFF2-40B4-BE49-F238E27FC236}">
                    <a16:creationId xmlns:a16="http://schemas.microsoft.com/office/drawing/2014/main" id="{4784EEC4-66C8-F9A1-5FA5-782C20B2E6FD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4ED02AC7-42EF-175F-1BB0-B548A33B176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8C61E1D3-9DA9-A5BE-55BF-AB1C9B3E12EE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1" name="Ellipse 74">
                  <a:extLst>
                    <a:ext uri="{FF2B5EF4-FFF2-40B4-BE49-F238E27FC236}">
                      <a16:creationId xmlns:a16="http://schemas.microsoft.com/office/drawing/2014/main" id="{2248B696-CDFF-D7C6-AC24-CC0B9B3A81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75">
                  <a:extLst>
                    <a:ext uri="{FF2B5EF4-FFF2-40B4-BE49-F238E27FC236}">
                      <a16:creationId xmlns:a16="http://schemas.microsoft.com/office/drawing/2014/main" id="{19689632-940A-1FE0-0489-B113EBBF6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76">
                  <a:extLst>
                    <a:ext uri="{FF2B5EF4-FFF2-40B4-BE49-F238E27FC236}">
                      <a16:creationId xmlns:a16="http://schemas.microsoft.com/office/drawing/2014/main" id="{603FD40E-D8FE-46AA-4A8D-BF5116103C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77">
                  <a:extLst>
                    <a:ext uri="{FF2B5EF4-FFF2-40B4-BE49-F238E27FC236}">
                      <a16:creationId xmlns:a16="http://schemas.microsoft.com/office/drawing/2014/main" id="{E59041D8-73F0-51F4-5FD7-B65E27E635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5" name="Ellipse 78">
                  <a:extLst>
                    <a:ext uri="{FF2B5EF4-FFF2-40B4-BE49-F238E27FC236}">
                      <a16:creationId xmlns:a16="http://schemas.microsoft.com/office/drawing/2014/main" id="{16798283-4666-6C92-5F88-CDBBB58D30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E761EED-D13B-925B-CE65-AF443CC52C6E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A5AC3876-640C-7C2A-7754-DE08E6C719B4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93574B12-CF31-E790-3BAD-E44F553E74FC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24" name="Ellipse 56">
                  <a:extLst>
                    <a:ext uri="{FF2B5EF4-FFF2-40B4-BE49-F238E27FC236}">
                      <a16:creationId xmlns:a16="http://schemas.microsoft.com/office/drawing/2014/main" id="{0A74A497-B514-2740-B3CB-18363A644F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5" name="Ellipse 57">
                  <a:extLst>
                    <a:ext uri="{FF2B5EF4-FFF2-40B4-BE49-F238E27FC236}">
                      <a16:creationId xmlns:a16="http://schemas.microsoft.com/office/drawing/2014/main" id="{C18EF6C0-FBF7-AB85-8743-FAA7683A6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6" name="Ellipse 58">
                  <a:extLst>
                    <a:ext uri="{FF2B5EF4-FFF2-40B4-BE49-F238E27FC236}">
                      <a16:creationId xmlns:a16="http://schemas.microsoft.com/office/drawing/2014/main" id="{07711566-18A3-75C3-B81E-28EC7C0A31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7" name="Ellipse 59">
                  <a:extLst>
                    <a:ext uri="{FF2B5EF4-FFF2-40B4-BE49-F238E27FC236}">
                      <a16:creationId xmlns:a16="http://schemas.microsoft.com/office/drawing/2014/main" id="{CDCB6CAA-B918-46D6-9D2B-890F64709A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8" name="Ellipse 60">
                  <a:extLst>
                    <a:ext uri="{FF2B5EF4-FFF2-40B4-BE49-F238E27FC236}">
                      <a16:creationId xmlns:a16="http://schemas.microsoft.com/office/drawing/2014/main" id="{388B21CA-FB39-78AD-6D8E-3520AD485C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47E0C22B-0A3B-73DA-6AC8-FD86368B5440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38" name="TekstSylinder 50">
            <a:extLst>
              <a:ext uri="{FF2B5EF4-FFF2-40B4-BE49-F238E27FC236}">
                <a16:creationId xmlns:a16="http://schemas.microsoft.com/office/drawing/2014/main" id="{062F6A8E-A2BA-E00B-EE6B-C897DA3B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86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308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E14C306B-B2D9-0FE6-7C7C-4362733BE422}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9D37133-9D8E-FF17-61DF-17D3228F51EC}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B5E5-14C5-3F2F-7B10-77DFE72F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4C1DA1E-86FF-E14D-8189-C2E8151B1F4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A77D2-5589-83C4-2C58-5C51BD9B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8EE1-E559-ADB5-5FA2-D812B089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00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Tex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8D10D3-00D9-AD32-6852-D7B7B28C9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95" y="446"/>
            <a:ext cx="12191207" cy="685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290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D6F46375-4BAC-E436-943C-7CBECACF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EA2525B-1F90-06DF-E4CD-55E0E335D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CA23922-5169-5B0D-381C-37C9E487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5826471E-291F-2842-BA7A-B095A00A2AD9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ACA15F4-DADA-26E6-2115-8A389BC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AD83AE-50AA-32DA-2F80-B78063A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041117-E2FA-07ED-B439-B3B7EB8B1A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3485359"/>
            <a:ext cx="11120297" cy="3392946"/>
          </a:xfrm>
        </p:spPr>
        <p:txBody>
          <a:bodyPr wrap="none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400" b="1" i="1" spc="-5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b" dirty="0"/>
              <a:t>Tekst</a:t>
            </a: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1EED2-9C2C-1015-8AF0-3783E7786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0"/>
            <a:ext cx="5556723" cy="38174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Sett inn presentasjonstittel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9821" y="1117600"/>
            <a:ext cx="11120297" cy="1644553"/>
          </a:xfrm>
        </p:spPr>
        <p:txBody>
          <a:bodyPr numCol="2" spcCol="360000">
            <a:spAutoFit/>
          </a:bodyPr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tabLst/>
              <a:defRPr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097F-8233-CABB-AB17-DFBAECBB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05D10-63C8-7D41-B3DD-558FAE41D72D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EDA65-89A7-562A-E6AA-69C64BC7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0B0CA-9FC5-C2DC-0887-17B722DE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6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F1254C-7137-FEEE-6F07-104982B34FD1}"/>
              </a:ext>
            </a:extLst>
          </p:cNvPr>
          <p:cNvSpPr txBox="1">
            <a:spLocks/>
          </p:cNvSpPr>
          <p:nvPr/>
        </p:nvSpPr>
        <p:spPr>
          <a:xfrm>
            <a:off x="540071" y="540000"/>
            <a:ext cx="2809416" cy="50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u="none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pPr>
              <a:lnSpc>
                <a:spcPct val="82000"/>
              </a:lnSpc>
            </a:pPr>
            <a:r>
              <a:rPr lang="nb" sz="4000" b="1" i="1" noProof="0" dirty="0">
                <a:solidFill>
                  <a:schemeClr val="accent3"/>
                </a:solidFill>
                <a:uFill>
                  <a:solidFill>
                    <a:schemeClr val="accent2"/>
                  </a:solidFill>
                </a:uFill>
                <a:latin typeface="+mj-lt"/>
              </a:rPr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25582-10A8-CA5B-0E79-E40F2D42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70" y="1180817"/>
            <a:ext cx="3095973" cy="246221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/>
              <a:t>Sett inn presentasjonstittel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8880" y="678655"/>
            <a:ext cx="6796271" cy="5509419"/>
          </a:xfrm>
        </p:spPr>
        <p:txBody>
          <a:bodyPr/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accent3"/>
              </a:buClr>
              <a:buFont typeface="+mj-lt"/>
              <a:buAutoNum type="arabicPeriod"/>
              <a:tabLst/>
              <a:defRPr>
                <a:solidFill>
                  <a:schemeClr val="tx2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defRPr>
                <a:solidFill>
                  <a:schemeClr val="tx2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B7EBB-A393-D691-D4A6-F675ACFA10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820" y="4335800"/>
            <a:ext cx="2329440" cy="590692"/>
          </a:xfrm>
          <a:solidFill>
            <a:schemeClr val="bg2"/>
          </a:solidFill>
        </p:spPr>
        <p:txBody>
          <a:bodyPr lIns="180000" rIns="180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+mj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Navn</a:t>
            </a:r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744EC4-3DDA-4377-3452-16DDFF16F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39818" y="4926494"/>
            <a:ext cx="2329441" cy="979007"/>
          </a:xfrm>
          <a:custGeom>
            <a:avLst/>
            <a:gdLst>
              <a:gd name="connsiteX0" fmla="*/ 0 w 2329138"/>
              <a:gd name="connsiteY0" fmla="*/ 0 h 979007"/>
              <a:gd name="connsiteX1" fmla="*/ 1 w 2329138"/>
              <a:gd name="connsiteY1" fmla="*/ 0 h 979007"/>
              <a:gd name="connsiteX2" fmla="*/ 2329138 w 2329138"/>
              <a:gd name="connsiteY2" fmla="*/ 0 h 979007"/>
              <a:gd name="connsiteX3" fmla="*/ 2329138 w 2329138"/>
              <a:gd name="connsiteY3" fmla="*/ 815548 h 979007"/>
              <a:gd name="connsiteX4" fmla="*/ 2165679 w 2329138"/>
              <a:gd name="connsiteY4" fmla="*/ 979007 h 979007"/>
              <a:gd name="connsiteX5" fmla="*/ 163460 w 2329138"/>
              <a:gd name="connsiteY5" fmla="*/ 979007 h 979007"/>
              <a:gd name="connsiteX6" fmla="*/ 1 w 2329138"/>
              <a:gd name="connsiteY6" fmla="*/ 815548 h 979007"/>
              <a:gd name="connsiteX7" fmla="*/ 1 w 2329138"/>
              <a:gd name="connsiteY7" fmla="*/ 557177 h 979007"/>
              <a:gd name="connsiteX8" fmla="*/ 1 w 2329138"/>
              <a:gd name="connsiteY8" fmla="*/ 523704 h 979007"/>
              <a:gd name="connsiteX9" fmla="*/ 0 w 2329138"/>
              <a:gd name="connsiteY9" fmla="*/ 523704 h 97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9138" h="979007">
                <a:moveTo>
                  <a:pt x="0" y="0"/>
                </a:moveTo>
                <a:lnTo>
                  <a:pt x="1" y="0"/>
                </a:lnTo>
                <a:lnTo>
                  <a:pt x="2329138" y="0"/>
                </a:lnTo>
                <a:lnTo>
                  <a:pt x="2329138" y="815548"/>
                </a:lnTo>
                <a:cubicBezTo>
                  <a:pt x="2329138" y="905824"/>
                  <a:pt x="2255955" y="979007"/>
                  <a:pt x="2165679" y="979007"/>
                </a:cubicBezTo>
                <a:lnTo>
                  <a:pt x="163460" y="979007"/>
                </a:lnTo>
                <a:cubicBezTo>
                  <a:pt x="73184" y="979007"/>
                  <a:pt x="1" y="905824"/>
                  <a:pt x="1" y="815548"/>
                </a:cubicBezTo>
                <a:lnTo>
                  <a:pt x="1" y="557177"/>
                </a:lnTo>
                <a:lnTo>
                  <a:pt x="1" y="523704"/>
                </a:lnTo>
                <a:lnTo>
                  <a:pt x="0" y="5237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72000" r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Tittel</a:t>
            </a:r>
            <a:endParaRPr lang="nb-NO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41B6E7-135E-CAC5-014B-082FEF224E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9821" y="2006602"/>
            <a:ext cx="2329440" cy="2329199"/>
          </a:xfrm>
          <a:custGeom>
            <a:avLst/>
            <a:gdLst>
              <a:gd name="connsiteX0" fmla="*/ 166650 w 2329137"/>
              <a:gd name="connsiteY0" fmla="*/ 0 h 2329199"/>
              <a:gd name="connsiteX1" fmla="*/ 2162487 w 2329137"/>
              <a:gd name="connsiteY1" fmla="*/ 0 h 2329199"/>
              <a:gd name="connsiteX2" fmla="*/ 2329137 w 2329137"/>
              <a:gd name="connsiteY2" fmla="*/ 166650 h 2329199"/>
              <a:gd name="connsiteX3" fmla="*/ 2329137 w 2329137"/>
              <a:gd name="connsiteY3" fmla="*/ 2329199 h 2329199"/>
              <a:gd name="connsiteX4" fmla="*/ 0 w 2329137"/>
              <a:gd name="connsiteY4" fmla="*/ 2329199 h 2329199"/>
              <a:gd name="connsiteX5" fmla="*/ 0 w 2329137"/>
              <a:gd name="connsiteY5" fmla="*/ 166650 h 2329199"/>
              <a:gd name="connsiteX6" fmla="*/ 166650 w 2329137"/>
              <a:gd name="connsiteY6" fmla="*/ 0 h 232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9137" h="2329199">
                <a:moveTo>
                  <a:pt x="166650" y="0"/>
                </a:moveTo>
                <a:lnTo>
                  <a:pt x="2162487" y="0"/>
                </a:lnTo>
                <a:cubicBezTo>
                  <a:pt x="2254525" y="0"/>
                  <a:pt x="2329137" y="74612"/>
                  <a:pt x="2329137" y="166650"/>
                </a:cubicBezTo>
                <a:lnTo>
                  <a:pt x="2329137" y="2329199"/>
                </a:lnTo>
                <a:lnTo>
                  <a:pt x="0" y="2329199"/>
                </a:lnTo>
                <a:lnTo>
                  <a:pt x="0" y="166650"/>
                </a:lnTo>
                <a:cubicBezTo>
                  <a:pt x="0" y="74612"/>
                  <a:pt x="74612" y="0"/>
                  <a:pt x="16665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02D09-201F-9A40-6778-AD3A5C73EB0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CA16D772-F78C-9146-A592-51DEC7639E2F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1CD6-412F-25B8-480D-E2414184D4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C48-2E5A-F642-A932-35AADD71BE9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5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 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F27F4-9554-1DD3-113B-23B5DC72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" y="446"/>
            <a:ext cx="12191207" cy="6857554"/>
          </a:xfrm>
          <a:prstGeom prst="rect">
            <a:avLst/>
          </a:prstGeom>
        </p:spPr>
      </p:pic>
      <p:sp>
        <p:nvSpPr>
          <p:cNvPr id="6" name="Section title">
            <a:extLst>
              <a:ext uri="{FF2B5EF4-FFF2-40B4-BE49-F238E27FC236}">
                <a16:creationId xmlns:a16="http://schemas.microsoft.com/office/drawing/2014/main" id="{E3DCE9CB-BC03-4349-D59E-65DD82D608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D467D-01ED-F4CD-4FB0-76B44B10D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15D789-73FF-5412-D986-C53645275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9819" y="2006600"/>
            <a:ext cx="5555655" cy="3898900"/>
          </a:xfrm>
          <a:custGeom>
            <a:avLst/>
            <a:gdLst>
              <a:gd name="connsiteX0" fmla="*/ 279551 w 5554932"/>
              <a:gd name="connsiteY0" fmla="*/ 0 h 3898900"/>
              <a:gd name="connsiteX1" fmla="*/ 5554932 w 5554932"/>
              <a:gd name="connsiteY1" fmla="*/ 0 h 3898900"/>
              <a:gd name="connsiteX2" fmla="*/ 5554932 w 5554932"/>
              <a:gd name="connsiteY2" fmla="*/ 3898900 h 3898900"/>
              <a:gd name="connsiteX3" fmla="*/ 279551 w 5554932"/>
              <a:gd name="connsiteY3" fmla="*/ 3898900 h 3898900"/>
              <a:gd name="connsiteX4" fmla="*/ 0 w 5554932"/>
              <a:gd name="connsiteY4" fmla="*/ 3619349 h 3898900"/>
              <a:gd name="connsiteX5" fmla="*/ 0 w 5554932"/>
              <a:gd name="connsiteY5" fmla="*/ 279551 h 3898900"/>
              <a:gd name="connsiteX6" fmla="*/ 279551 w 5554932"/>
              <a:gd name="connsiteY6" fmla="*/ 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932" h="3898900">
                <a:moveTo>
                  <a:pt x="279551" y="0"/>
                </a:moveTo>
                <a:lnTo>
                  <a:pt x="5554932" y="0"/>
                </a:lnTo>
                <a:lnTo>
                  <a:pt x="5554932" y="3898900"/>
                </a:lnTo>
                <a:lnTo>
                  <a:pt x="279551" y="3898900"/>
                </a:lnTo>
                <a:cubicBezTo>
                  <a:pt x="125159" y="3898900"/>
                  <a:pt x="0" y="3773741"/>
                  <a:pt x="0" y="3619349"/>
                </a:cubicBezTo>
                <a:lnTo>
                  <a:pt x="0" y="279551"/>
                </a:lnTo>
                <a:cubicBezTo>
                  <a:pt x="0" y="125159"/>
                  <a:pt x="125159" y="0"/>
                  <a:pt x="27955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BD8D479-9780-9020-8256-B0111F83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9" y="2006600"/>
            <a:ext cx="5554593" cy="3898900"/>
          </a:xfrm>
          <a:custGeom>
            <a:avLst/>
            <a:gdLst>
              <a:gd name="connsiteX0" fmla="*/ 0 w 5553870"/>
              <a:gd name="connsiteY0" fmla="*/ 0 h 3898900"/>
              <a:gd name="connsiteX1" fmla="*/ 5277945 w 5553870"/>
              <a:gd name="connsiteY1" fmla="*/ 0 h 3898900"/>
              <a:gd name="connsiteX2" fmla="*/ 5553870 w 5553870"/>
              <a:gd name="connsiteY2" fmla="*/ 275925 h 3898900"/>
              <a:gd name="connsiteX3" fmla="*/ 5553870 w 5553870"/>
              <a:gd name="connsiteY3" fmla="*/ 3622975 h 3898900"/>
              <a:gd name="connsiteX4" fmla="*/ 5277945 w 5553870"/>
              <a:gd name="connsiteY4" fmla="*/ 3898900 h 3898900"/>
              <a:gd name="connsiteX5" fmla="*/ 0 w 5553870"/>
              <a:gd name="connsiteY5" fmla="*/ 389890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3870" h="3898900">
                <a:moveTo>
                  <a:pt x="0" y="0"/>
                </a:moveTo>
                <a:lnTo>
                  <a:pt x="5277945" y="0"/>
                </a:lnTo>
                <a:cubicBezTo>
                  <a:pt x="5430334" y="0"/>
                  <a:pt x="5553870" y="123536"/>
                  <a:pt x="5553870" y="275925"/>
                </a:cubicBezTo>
                <a:lnTo>
                  <a:pt x="5553870" y="3622975"/>
                </a:lnTo>
                <a:cubicBezTo>
                  <a:pt x="5553870" y="3775364"/>
                  <a:pt x="5430334" y="3898900"/>
                  <a:pt x="5277945" y="3898900"/>
                </a:cubicBezTo>
                <a:lnTo>
                  <a:pt x="0" y="38989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Card Title 1">
            <a:extLst>
              <a:ext uri="{FF2B5EF4-FFF2-40B4-BE49-F238E27FC236}">
                <a16:creationId xmlns:a16="http://schemas.microsoft.com/office/drawing/2014/main" id="{BFF04F26-B0FC-3FA0-E192-5295DEA73C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3579" y="2006601"/>
            <a:ext cx="5087012" cy="1139113"/>
          </a:xfrm>
        </p:spPr>
        <p:txBody>
          <a:bodyPr wrap="square" lIns="0" tIns="360000" rIns="36000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Navn Mellomnavn</a:t>
            </a:r>
            <a:br>
              <a:rPr lang="en-GB"/>
            </a:br>
            <a:r>
              <a:rPr lang="nb"/>
              <a:t>Etternavn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EEB964A-A83C-1C35-68F6-9031E4B07A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55" y="3261897"/>
            <a:ext cx="5087536" cy="307777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Tittel / Rolle / Bedrift</a:t>
            </a:r>
            <a:endParaRPr lang="nb-NO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457FFAF-C065-9EFB-BBD3-3CF6D09BE6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3055" y="4183016"/>
            <a:ext cx="5087011" cy="523220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CE9753-B30B-766E-D6EC-5D416BE5C50F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AEA6E1F-967F-3946-8ED7-7B5EB1710B7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F019E1-92AE-95B3-D764-2B26A1D4B26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B8BB34-F033-4292-FF01-02AFF838523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63977CB0-3AEC-09A9-D6E7-7EC1D627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0018" y="3807298"/>
            <a:ext cx="2267265" cy="3133615"/>
          </a:xfrm>
        </p:spPr>
        <p:txBody>
          <a:bodyPr wrap="none" rIns="108000" anchor="b" anchorCtr="0">
            <a:spAutoFit/>
          </a:bodyPr>
          <a:lstStyle>
            <a:lvl1pPr marL="0" indent="0" algn="r" fontAlgn="b">
              <a:buNone/>
              <a:defRPr sz="22000" b="1" i="1" spc="-300" baseline="0">
                <a:solidFill>
                  <a:schemeClr val="accent1"/>
                </a:solidFill>
                <a:latin typeface="TelenorEvolution PPT" pitchFamily="2" charset="77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#</a:t>
            </a:r>
          </a:p>
        </p:txBody>
      </p:sp>
      <p:sp>
        <p:nvSpPr>
          <p:cNvPr id="7" name="Section title">
            <a:extLst>
              <a:ext uri="{FF2B5EF4-FFF2-40B4-BE49-F238E27FC236}">
                <a16:creationId xmlns:a16="http://schemas.microsoft.com/office/drawing/2014/main" id="{8728C624-8F74-6730-9C84-4E10C8362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5FC8-5070-6E7E-6E57-D60E316FF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860400"/>
            <a:ext cx="5087211" cy="28890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C48727E-D6A1-72E4-5352-A5254C01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1" y="5415337"/>
            <a:ext cx="2817360" cy="914866"/>
          </a:xfrm>
        </p:spPr>
        <p:txBody>
          <a:bodyPr wrap="square" rIns="18000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Klikk for å sette inn 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nb-NO" sz="1400" b="0" i="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B0A6-CF15-20C7-D78C-71C578FA962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E6D16EF-64F2-D04A-B1F0-62CEEF8AA81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4B6B-7545-09B3-598C-F0CCAD6ACB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6408-94A8-AF08-B578-8C29F6CDC6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6B7A68-A840-5EF8-2E78-EA7B6A808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52145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35D4DDAD-2E1F-C244-A39B-2071E720CF0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2CE8E08E-6D30-C34A-E0DD-101C2A31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8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80F084E-3EA5-8A4A-95AE-FC4565F938AB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77EE2D2F-82FE-CED0-3A1A-CEFCB896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62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E74003-45A9-AD3F-87C3-DF5C13BC43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8BE9A0AE-6586-EC40-B649-AB4FE0ACD219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743BCB-BD23-5950-258D-F5449DF67B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20F3CE-86E8-370C-D224-1509A924E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720C9D3F-4A05-4C35-2EE4-97983B05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9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CCC8C-4F78-8515-39C4-BA6467B8B5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BE3035FC-E90C-0C44-9667-89C49958C7E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53FA-B2D1-D172-54E1-F2E7BF966C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BFC75-0B81-D853-07C1-D775566176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558F1CE6-9496-D4D3-BACA-4BB5866D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92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634A6EED-D683-7BD7-9AE4-7772F47382E6}"/>
              </a:ext>
            </a:extLst>
          </p:cNvPr>
          <p:cNvSpPr/>
          <p:nvPr/>
        </p:nvSpPr>
        <p:spPr>
          <a:xfrm>
            <a:off x="6096792" y="0"/>
            <a:ext cx="3047603" cy="6858000"/>
          </a:xfrm>
          <a:custGeom>
            <a:avLst/>
            <a:gdLst>
              <a:gd name="connsiteX0" fmla="*/ 0 w 3047206"/>
              <a:gd name="connsiteY0" fmla="*/ 0 h 914400"/>
              <a:gd name="connsiteX1" fmla="*/ 1523603 w 3047206"/>
              <a:gd name="connsiteY1" fmla="*/ 0 h 914400"/>
              <a:gd name="connsiteX2" fmla="*/ 3047206 w 3047206"/>
              <a:gd name="connsiteY2" fmla="*/ 0 h 914400"/>
              <a:gd name="connsiteX3" fmla="*/ 3047206 w 3047206"/>
              <a:gd name="connsiteY3" fmla="*/ 914400 h 914400"/>
              <a:gd name="connsiteX4" fmla="*/ 1523603 w 3047206"/>
              <a:gd name="connsiteY4" fmla="*/ 914400 h 914400"/>
              <a:gd name="connsiteX5" fmla="*/ 0 w 3047206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7206" h="914400">
                <a:moveTo>
                  <a:pt x="0" y="0"/>
                </a:moveTo>
                <a:lnTo>
                  <a:pt x="1523603" y="0"/>
                </a:lnTo>
                <a:lnTo>
                  <a:pt x="3047206" y="0"/>
                </a:lnTo>
                <a:lnTo>
                  <a:pt x="3047206" y="914400"/>
                </a:lnTo>
                <a:lnTo>
                  <a:pt x="1523603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EA111-0938-666A-FA7D-07D558D9F3B7}"/>
              </a:ext>
            </a:extLst>
          </p:cNvPr>
          <p:cNvSpPr/>
          <p:nvPr/>
        </p:nvSpPr>
        <p:spPr>
          <a:xfrm>
            <a:off x="9144398" y="0"/>
            <a:ext cx="1523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2880000" bIns="36000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4096430" cy="665567"/>
          </a:xfrm>
        </p:spPr>
        <p:txBody>
          <a:bodyPr wrap="square" rIns="360000"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73BCFAC-C588-8322-ACD5-C9D0B0DFA38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0E29173-6442-BF44-971C-076363A4F22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887126-5C09-8DFB-249B-B184B83EC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1DD7D6-DC9B-2975-C4F0-BDC01EE76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EB06B325-FF24-E267-7475-F3EB80D96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panel på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87D30-7812-2AFF-8F42-859C07C686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A594DC-DF05-724C-8A47-85DA13EE42C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543EE-4B15-F0CA-D48F-BD29ED954E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F2013F-43A6-8038-5D87-CBD5EB81FD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688C72A7-6153-57CF-3A17-431D9774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8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05DC-25FF-60FD-F4FD-AD0DD24411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4FD7B6-3C9F-DB4A-A8EA-730EC90938EE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931A-C51B-F906-FB92-145A4E71D1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8C28-61EE-17B0-1598-87037AB252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4143D954-B553-23B4-A697-03663C4E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901B-21FD-507E-4F95-A2A6C8848B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11FAB8-613F-3546-B84F-43F9554BAD31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C216E72-AE69-1709-1DEA-8A036429A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86A5-F110-DF05-2507-E9A902C1B8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D4231-AE0A-3043-A5AF-E22125FD9078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21B64-DE5B-3F73-675F-AFA169DB20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503167-D9B5-C41E-3E73-BA6BD9665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7D23DB7A-CAFE-38AA-7DFF-6A520B89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1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8F756-90B7-FDE9-081D-7C2E6AAAA46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4C072ED-17FD-534D-9CB4-369F4A45AFCF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B5B0CA-69D2-3DF9-3EFA-DA4B0EBCE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BE02FF7-C4FE-5B83-273D-59EEBBBB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E183F-1B3D-52A7-11D9-594D24E5F2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815C360-7C96-8C40-B269-0BD063E8866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80C5FB5-029F-BBE6-0787-49B5622A1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0" name="TekstSylinder 50">
            <a:extLst>
              <a:ext uri="{FF2B5EF4-FFF2-40B4-BE49-F238E27FC236}">
                <a16:creationId xmlns:a16="http://schemas.microsoft.com/office/drawing/2014/main" id="{D9D8E22D-3A82-FA52-9AB4-006198E4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3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D9BE5F-9865-4595-26CD-245C1125A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noFill/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D026-F7A3-E725-4DC0-4B17CAF1D9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BCA9D67-D9BD-BD48-9DBC-254BA0CDAE9F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F3C7B05-28F7-0B1A-95A8-340F25EC1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7E0C388-0430-F67E-A814-0D7FB534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B1FBEB96-5491-E853-8376-076A25C73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56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EFC025-AAFC-DB1C-E9D4-57997E745C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4503-6AD9-7194-CF17-38B4DFE0D2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FE3286A-4F6F-A84C-B022-A7FE66FD151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E2E94C-2832-3553-57B8-9C68B562F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AF7F6D-4D69-B368-9433-94E93D9DC4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D7DE433-B316-2622-1D09-835D1C3C9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0EAA09C-3D65-1B69-DCD4-FFCC13D6B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8C5A613-7079-58FA-ECFC-D5737715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5C8A-7C4E-C092-CCE9-157348A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4F5-EC0C-34C5-8171-4C225E3789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4C779-2C98-F48F-1931-EEECB905377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B811D1-B507-754E-8685-9640AFEB5E1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11D5C898-71C6-6972-6D33-F856F2477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6454A34A-BFEE-ED5C-7EC4-6BC9EE0C9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602F6A-8EA9-0DEF-7E6D-41BB94B076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054DCB-E7F3-E449-A722-033BE53DD82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DC988D-329E-A6D8-4B26-5B17D95DF7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977A4-84E1-8D4C-6141-734A77CADA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0C98A-A54B-C27E-0000-AC1ADAA69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850E3B4B-78DD-85F2-8813-8C74EDF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6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Mid spli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4FFE69-9039-F90F-2A2A-B17E858165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62AE21-A135-314A-8CDB-D738DB74C731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BCCABB-4655-F6BD-3D1A-43A56934F25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69D1C4-E336-A11B-57BF-5649DFDA8F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99E3E61-D10A-EE5F-3F14-F35EA5438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66A95B51-EA65-04ED-7FAA-19967F6D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Soft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69C1C-43D0-5345-4FBB-753AE898727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E6CF1B-F983-454F-8BCA-766C8E5E55A6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A0DD14-EE1D-D586-9775-4C2841C29C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785BD-DF18-2270-B9A9-DE063D9BD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41C3E4D-D68E-B096-032D-03BA5598D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09C7E65C-AA43-E20C-EB8B-224ACE9A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385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93DEEDD7-1F06-18A0-FFE9-0D81D821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B0A5F520-26AD-EB30-4146-4C8CCF86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8640000" cy="1123200"/>
          </a:xfrm>
        </p:spPr>
        <p:txBody>
          <a:bodyPr/>
          <a:lstStyle>
            <a:lvl1pPr>
              <a:defRPr sz="45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85A1-54BB-EE9B-F962-8B6360ECE2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37F03E-C082-744C-9348-E53F11F09F47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401ACA-E9F2-E265-F6E4-D345544071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9AE9-185C-D954-A026-E04B1904D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19208820-B208-3762-A18F-A8FB143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89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22A581-7119-3836-D55F-04CF4404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88EA-ADA6-554F-BA1C-78255CBA13A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C709FF-7147-B96E-1794-0CE8E10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479E0C-8BA9-F45A-DDDD-968B3BF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6DE18FA5-E550-2C0F-29A7-8A808C636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5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39D-E356-406C-F658-8D54D4F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10E-F96E-394D-B3CC-AC5D39981C18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7C9463-E37C-710A-46F1-FAA12A02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3633C-83AF-F473-B47E-4FFC1F3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B7E2D4-5F95-C2A6-DA6C-B5A39505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3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55FE30D-76D0-B04C-9714-53DA24FF40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 kern="4000" spc="-100" baseline="0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BCB824A-3901-2E26-0727-0C10009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4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F8CE2160-E85A-A147-A259-E1131CEF1639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0CD05FB-4C11-F47A-AB60-3625F6C3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BBDE4-EADE-5B93-BD24-220EBDD49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3655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8C5624B-9046-D2CE-06A4-8C9537A00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C5D66-E969-4DD9-8C87-36FD62780D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4C4E72E6-0782-124F-9AFB-F66D50A0A9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1B032-411C-5D8B-2F34-D2C525A763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CDEE95-5741-1E39-565D-8740B6F79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5504DD-77B7-017B-B0DE-7ECF2CBBD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3655" y="859515"/>
            <a:ext cx="5089544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C493D4E8-A400-3C83-8AAA-CAE8DD92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F5771B-788D-AEEF-2713-C1E0867AF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lang="en-US" sz="1400" b="0" i="0" kern="1200" noProof="0" dirty="0">
                <a:solidFill>
                  <a:schemeClr val="tx1"/>
                </a:solidFill>
                <a:highlight>
                  <a:srgbClr val="E8FDFF"/>
                </a:highlight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36EC-23F6-AB0D-E318-7CC83FB9D29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EA7789D2-AF95-A04B-AEAA-E368A7EF84CB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B659-41B1-1E89-181C-34095CEDC5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3AED-6696-54AF-DE69-3815D85969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CC850A34-FDAE-2CC9-3824-BDBB5D784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7283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CC7E964-D06E-ECF2-3CD1-FF1D800BC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D173E98B-6259-DC2A-089E-962FBCC4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7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7257E026-CA26-3A01-D72B-BE238332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3391091" cy="600164"/>
          </a:xfrm>
        </p:spPr>
        <p:txBody>
          <a:bodyPr wrap="square" rIns="46800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4016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E2836B-B07D-B64C-37F0-912AD879F6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2962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068BA2-2627-EDDD-E4B7-B436E2F887D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174FC493-3D2B-0247-83DC-A529ACA6CFE1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2D19E8-D91D-D5DC-4CB4-4E2F968772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5AF41F-7D8D-E316-971C-239886BF48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AEE9563D-BB00-D525-C198-B43FD212C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45576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7F1A2-CEF1-9AEA-8040-C34CF97A6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5E4F5FAF-845E-01A2-850D-D194C996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200"/>
            <a:ext cx="5087462" cy="5244874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DE3A-F217-EAE9-55B6-DDD30B2AEA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338C3A-47DE-184F-BF28-7DB54983EF90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5A18E854-B6C5-CAEE-9018-DBA9D4710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5B467DB-0C82-8ED4-786D-2C973BE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1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199"/>
            <a:ext cx="5087462" cy="5244875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724B96-A7D3-F48B-DB34-0AF8EFE826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BE8AFF-FA5D-5246-8BFF-CAD489D9F66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B5F8C0-4380-A1E9-6AA4-2ECAFA9097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9F0A6C-B17A-A515-7EE0-1E7E99A2C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5A3D02A-C1EB-E4B0-33D5-5CE7FCC32A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5260ECB-08DA-6515-55FC-AFF41DD8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02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5D5B38-95D2-8CEC-EC3D-871A3810D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1933963-2A25-A449-8EFC-4572009F125D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47413-21F5-35B5-5050-0FDE325149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A1EFEA-D75B-3CC8-1114-CB4DA8DF7F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813222B-AEAB-F4B7-8555-232BF490E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ACA2F022-EE5B-C5EB-4388-6B67415F3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E70422-7DCF-29FB-5EA8-7D4E8E6481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E8CBED-249C-5347-BC07-AB41CCC4FF56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3240-8E74-3BF7-C8CA-75FF0845A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0429-44E1-867C-14A6-FF25E08197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B08DFCF-0BA4-BC63-1852-767145960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F1C11CA-A476-65CD-3242-FC77EE96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0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1A967B-6543-B84F-3A38-DC68E30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794" y="0"/>
            <a:ext cx="3045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4" name="Section 1">
            <a:extLst>
              <a:ext uri="{FF2B5EF4-FFF2-40B4-BE49-F238E27FC236}">
                <a16:creationId xmlns:a16="http://schemas.microsoft.com/office/drawing/2014/main" id="{97A19A75-202A-1A09-B415-20DE76E7D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all 1">
            <a:extLst>
              <a:ext uri="{FF2B5EF4-FFF2-40B4-BE49-F238E27FC236}">
                <a16:creationId xmlns:a16="http://schemas.microsoft.com/office/drawing/2014/main" id="{116FF204-5136-B24C-C877-78748972E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230" y="1163523"/>
            <a:ext cx="5088600" cy="2744558"/>
          </a:xfrm>
        </p:spPr>
        <p:txBody>
          <a:bodyPr wrap="none" anchor="b" anchorCtr="0"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5000" b="1" i="1" spc="-3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3" name="Tekst 1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3941531"/>
            <a:ext cx="3391091" cy="22465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180975" indent="-174625"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2pPr>
            <a:lvl3pPr marL="317500" indent="-136525">
              <a:tabLst/>
              <a:defRPr sz="1400">
                <a:solidFill>
                  <a:schemeClr val="accent3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5" name="Section 2">
            <a:extLst>
              <a:ext uri="{FF2B5EF4-FFF2-40B4-BE49-F238E27FC236}">
                <a16:creationId xmlns:a16="http://schemas.microsoft.com/office/drawing/2014/main" id="{F24A6423-F823-AE53-1957-EF7F25B2B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794" y="504001"/>
            <a:ext cx="1088215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6" name="Tall 2">
            <a:extLst>
              <a:ext uri="{FF2B5EF4-FFF2-40B4-BE49-F238E27FC236}">
                <a16:creationId xmlns:a16="http://schemas.microsoft.com/office/drawing/2014/main" id="{D0C02313-EB7E-3C07-CC57-1BA4DE530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794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5" name="Tekst 2">
            <a:extLst>
              <a:ext uri="{FF2B5EF4-FFF2-40B4-BE49-F238E27FC236}">
                <a16:creationId xmlns:a16="http://schemas.microsoft.com/office/drawing/2014/main" id="{25408968-4DDB-53D9-74E6-E3034E7A93E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793" y="3941531"/>
            <a:ext cx="3043173" cy="2246543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11" name="Section 3">
            <a:extLst>
              <a:ext uri="{FF2B5EF4-FFF2-40B4-BE49-F238E27FC236}">
                <a16:creationId xmlns:a16="http://schemas.microsoft.com/office/drawing/2014/main" id="{FA71BA3A-E69D-CA7E-C003-5344BA835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5190" y="504001"/>
            <a:ext cx="1088073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Tall 3">
            <a:extLst>
              <a:ext uri="{FF2B5EF4-FFF2-40B4-BE49-F238E27FC236}">
                <a16:creationId xmlns:a16="http://schemas.microsoft.com/office/drawing/2014/main" id="{2D4AF362-C8FE-1C70-68CF-D641E47168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5190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7" name="Tekst 3">
            <a:extLst>
              <a:ext uri="{FF2B5EF4-FFF2-40B4-BE49-F238E27FC236}">
                <a16:creationId xmlns:a16="http://schemas.microsoft.com/office/drawing/2014/main" id="{1A6C386F-9B63-5FEB-E855-802B57382AF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45190" y="3941532"/>
            <a:ext cx="3043173" cy="2246542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9F496-7F17-3274-D5DA-C9E47FC596F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424279-1F3E-3246-B88A-3DFC2504035B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DED9B6-4754-B4D2-F7FD-403C0E0337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A5C3285-0ED9-3C4E-A405-69948C389DEF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F14264-EE95-5D5D-BAC0-140639BE7A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E15F6E-6BA5-4854-1DFB-82CD9C6BC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52FBB17-AADA-4C59-D722-D3FDBE92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So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A258FDC-0687-4900-3CF9-8A0B14295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3600-577F-8A71-607D-3842951006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D4E8E9DF-C8E3-4944-ADBD-E409416A8C7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B4ACC9DF-2F0F-922A-8E3B-4F36A1C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0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pl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1DD791-19E6-EEAF-5D49-B00DB884D8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none" tIns="360000" bIns="2880000" anchor="b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54FAFD-7BDD-23FA-B4EB-08D91D233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53066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0FBFD1E-6A84-AD49-1A7E-BB8DD0EC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141626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3300CFC-7025-3149-D493-AAC70AE536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9885" y="4555712"/>
            <a:ext cx="4322365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tredje linje</a:t>
            </a:r>
            <a:endParaRPr lang="nb-NO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AD8D6A-D2E9-0154-0D44-148CFE86F7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2402" y="5436206"/>
            <a:ext cx="4259848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/>
              <a:t>fjerde linje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FBA12-1079-56BB-5B5E-ACDDE041986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C34EB371-0610-3A46-92F9-9F184AF1659F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30D786-5751-98B1-94F9-550928CA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4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B32CFD-0059-D532-5795-442283D4EA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accent1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0EE3A-C39D-F1F4-51EB-13C5ADD103C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EF765E4C-CC36-FF4C-BDF5-EE3D56B457F7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5A09C8F-50C2-DDAB-8A4D-83B50375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36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C1A9B-DCE8-7C0C-C699-F2676D573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tx2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accent3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D837-14A4-60D9-27C6-4BE824A0E9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574391A7-B34E-0844-8FCE-55FB2F126A8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212DA51-2D94-66BD-FB70-3EC9FE84D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741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DB7409EF-E06B-F254-0473-4F0A86C7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D9996-D27C-5EC3-7480-185CC649D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00000"/>
            <a:ext cx="6094412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218" y="540000"/>
            <a:ext cx="3567734" cy="57780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858519" y="1191872"/>
            <a:ext cx="3014760" cy="44712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846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1622-CDE1-0D00-887D-C705F5AFDF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8301413-4585-1941-AC00-159F82A713FE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26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93485B01-B32A-1F5D-FE26-E286EB948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428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4797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637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0B77-3BDF-14DD-F52C-70498BD9E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900000"/>
            <a:ext cx="6096795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lang="en-GB" sz="1000" b="0" i="0" u="none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AC9A-51AB-9BF7-0F60-EFF6BCF8C2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07EB366-45DC-1548-8EC1-375AF3CAE09C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29F44BF4-AC00-3D2B-DD34-F52CE9F9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720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5381" y="1191600"/>
            <a:ext cx="3013592" cy="44748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7534041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7A5BC-852E-CBA5-8E62-C99D1CA099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1932AE6-AD34-BB4D-A16E-936B911CCA16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AA6A4-A222-AE71-065C-BC56AEA47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900000"/>
            <a:ext cx="6098400" cy="720000"/>
          </a:xfrm>
          <a:solidFill>
            <a:schemeClr val="bg1"/>
          </a:solidFill>
        </p:spPr>
        <p:txBody>
          <a:bodyPr lIns="72000" tIns="72000" rIns="72000" bIns="72000" anchor="b" anchorCtr="0">
            <a:normAutofit/>
          </a:bodyPr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43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ousel 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50">
            <a:extLst>
              <a:ext uri="{FF2B5EF4-FFF2-40B4-BE49-F238E27FC236}">
                <a16:creationId xmlns:a16="http://schemas.microsoft.com/office/drawing/2014/main" id="{52695C98-B1D9-0ECB-3B55-39CE7D80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0" name="!!Form 1">
            <a:extLst>
              <a:ext uri="{FF2B5EF4-FFF2-40B4-BE49-F238E27FC236}">
                <a16:creationId xmlns:a16="http://schemas.microsoft.com/office/drawing/2014/main" id="{BD9B1B5A-51C2-1DE4-AA77-5CE6889E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6347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3 w 3013199"/>
              <a:gd name="connsiteY3" fmla="*/ 1447679 h 1447679"/>
              <a:gd name="connsiteX4" fmla="*/ 211466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3" y="1447679"/>
                </a:cubicBezTo>
                <a:lnTo>
                  <a:pt x="211466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!!Form 2">
            <a:extLst>
              <a:ext uri="{FF2B5EF4-FFF2-40B4-BE49-F238E27FC236}">
                <a16:creationId xmlns:a16="http://schemas.microsoft.com/office/drawing/2014/main" id="{E74F3E28-78B0-0214-77E7-4A533834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1259" y="4218450"/>
            <a:ext cx="3569481" cy="2102963"/>
          </a:xfrm>
          <a:custGeom>
            <a:avLst/>
            <a:gdLst>
              <a:gd name="connsiteX0" fmla="*/ 0 w 3569016"/>
              <a:gd name="connsiteY0" fmla="*/ 0 h 2102963"/>
              <a:gd name="connsiteX1" fmla="*/ 3569016 w 3569016"/>
              <a:gd name="connsiteY1" fmla="*/ 0 h 2102963"/>
              <a:gd name="connsiteX2" fmla="*/ 3569016 w 3569016"/>
              <a:gd name="connsiteY2" fmla="*/ 1842960 h 2102963"/>
              <a:gd name="connsiteX3" fmla="*/ 3309013 w 3569016"/>
              <a:gd name="connsiteY3" fmla="*/ 2102963 h 2102963"/>
              <a:gd name="connsiteX4" fmla="*/ 260003 w 3569016"/>
              <a:gd name="connsiteY4" fmla="*/ 2102963 h 2102963"/>
              <a:gd name="connsiteX5" fmla="*/ 0 w 3569016"/>
              <a:gd name="connsiteY5" fmla="*/ 1842960 h 210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9016" h="2102963">
                <a:moveTo>
                  <a:pt x="0" y="0"/>
                </a:moveTo>
                <a:lnTo>
                  <a:pt x="3569016" y="0"/>
                </a:lnTo>
                <a:lnTo>
                  <a:pt x="3569016" y="1842960"/>
                </a:lnTo>
                <a:cubicBezTo>
                  <a:pt x="3569016" y="1986556"/>
                  <a:pt x="3452609" y="2102963"/>
                  <a:pt x="3309013" y="2102963"/>
                </a:cubicBezTo>
                <a:lnTo>
                  <a:pt x="260003" y="2102963"/>
                </a:lnTo>
                <a:cubicBezTo>
                  <a:pt x="116407" y="2102963"/>
                  <a:pt x="0" y="1986556"/>
                  <a:pt x="0" y="18429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23" name="!!Form 3">
            <a:extLst>
              <a:ext uri="{FF2B5EF4-FFF2-40B4-BE49-F238E27FC236}">
                <a16:creationId xmlns:a16="http://schemas.microsoft.com/office/drawing/2014/main" id="{CFDA1C59-8A93-4FD1-A4BC-F5850E10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092962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2 w 3013199"/>
              <a:gd name="connsiteY3" fmla="*/ 1447679 h 1447679"/>
              <a:gd name="connsiteX4" fmla="*/ 211467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2" y="1447679"/>
                </a:cubicBezTo>
                <a:lnTo>
                  <a:pt x="211467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EC0B013-7388-5E74-D479-A5DEACB2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28775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A4882B8-B832-B56B-E985-C613EDCB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25609" y="1628776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3" name="Image 4">
            <a:extLst>
              <a:ext uri="{FF2B5EF4-FFF2-40B4-BE49-F238E27FC236}">
                <a16:creationId xmlns:a16="http://schemas.microsoft.com/office/drawing/2014/main" id="{EE9A1C44-9CEA-B295-5A41-91EE01504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-2148368" y="1625625"/>
            <a:ext cx="3014760" cy="3016800"/>
          </a:xfrm>
          <a:custGeom>
            <a:avLst/>
            <a:gdLst>
              <a:gd name="connsiteX0" fmla="*/ 165248 w 3014368"/>
              <a:gd name="connsiteY0" fmla="*/ 0 h 3016800"/>
              <a:gd name="connsiteX1" fmla="*/ 2849120 w 3014368"/>
              <a:gd name="connsiteY1" fmla="*/ 0 h 3016800"/>
              <a:gd name="connsiteX2" fmla="*/ 3014368 w 3014368"/>
              <a:gd name="connsiteY2" fmla="*/ 165248 h 3016800"/>
              <a:gd name="connsiteX3" fmla="*/ 3014368 w 3014368"/>
              <a:gd name="connsiteY3" fmla="*/ 3016800 h 3016800"/>
              <a:gd name="connsiteX4" fmla="*/ 0 w 3014368"/>
              <a:gd name="connsiteY4" fmla="*/ 3016800 h 3016800"/>
              <a:gd name="connsiteX5" fmla="*/ 0 w 3014368"/>
              <a:gd name="connsiteY5" fmla="*/ 165248 h 3016800"/>
              <a:gd name="connsiteX6" fmla="*/ 165248 w 3014368"/>
              <a:gd name="connsiteY6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16800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16800"/>
                </a:lnTo>
                <a:lnTo>
                  <a:pt x="0" y="3016800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4</a:t>
            </a:r>
          </a:p>
        </p:txBody>
      </p:sp>
      <p:sp>
        <p:nvSpPr>
          <p:cNvPr id="45" name="Image 5">
            <a:extLst>
              <a:ext uri="{FF2B5EF4-FFF2-40B4-BE49-F238E27FC236}">
                <a16:creationId xmlns:a16="http://schemas.microsoft.com/office/drawing/2014/main" id="{D972DE10-1098-EE16-B8DC-3397AD74E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11325608" y="1628775"/>
            <a:ext cx="3014760" cy="3009163"/>
          </a:xfrm>
          <a:custGeom>
            <a:avLst/>
            <a:gdLst>
              <a:gd name="connsiteX0" fmla="*/ 165248 w 3014368"/>
              <a:gd name="connsiteY0" fmla="*/ 0 h 3009163"/>
              <a:gd name="connsiteX1" fmla="*/ 2849120 w 3014368"/>
              <a:gd name="connsiteY1" fmla="*/ 0 h 3009163"/>
              <a:gd name="connsiteX2" fmla="*/ 3014368 w 3014368"/>
              <a:gd name="connsiteY2" fmla="*/ 165248 h 3009163"/>
              <a:gd name="connsiteX3" fmla="*/ 3014368 w 3014368"/>
              <a:gd name="connsiteY3" fmla="*/ 3009163 h 3009163"/>
              <a:gd name="connsiteX4" fmla="*/ 0 w 3014368"/>
              <a:gd name="connsiteY4" fmla="*/ 3009163 h 3009163"/>
              <a:gd name="connsiteX5" fmla="*/ 0 w 3014368"/>
              <a:gd name="connsiteY5" fmla="*/ 165248 h 3009163"/>
              <a:gd name="connsiteX6" fmla="*/ 165248 w 3014368"/>
              <a:gd name="connsiteY6" fmla="*/ 0 h 3009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09163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09163"/>
                </a:lnTo>
                <a:lnTo>
                  <a:pt x="0" y="3009163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93F36-5B6A-F9EA-4DF9-C8724807F28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FAA757E-4A7C-6941-8DD2-9985673B1D3A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96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0C23-5FAE-E135-3F41-0CDF3026B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1" name="Form 1">
            <a:extLst>
              <a:ext uri="{FF2B5EF4-FFF2-40B4-BE49-F238E27FC236}">
                <a16:creationId xmlns:a16="http://schemas.microsoft.com/office/drawing/2014/main" id="{AE21D1F5-2BD5-EC6A-2B03-0A347F4E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4" name="Form 2">
            <a:extLst>
              <a:ext uri="{FF2B5EF4-FFF2-40B4-BE49-F238E27FC236}">
                <a16:creationId xmlns:a16="http://schemas.microsoft.com/office/drawing/2014/main" id="{205D9756-C712-6801-4208-500B83F92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7" name="Form 3">
            <a:extLst>
              <a:ext uri="{FF2B5EF4-FFF2-40B4-BE49-F238E27FC236}">
                <a16:creationId xmlns:a16="http://schemas.microsoft.com/office/drawing/2014/main" id="{723AE2CE-3A3C-075B-C55E-F45FF905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5800836-9DAC-37B2-E714-C037F88D5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541410" y="2003804"/>
            <a:ext cx="3571200" cy="2390399"/>
          </a:xfrm>
          <a:custGeom>
            <a:avLst/>
            <a:gdLst>
              <a:gd name="connsiteX0" fmla="*/ 255363 w 3569021"/>
              <a:gd name="connsiteY0" fmla="*/ 0 h 2390399"/>
              <a:gd name="connsiteX1" fmla="*/ 3313658 w 3569021"/>
              <a:gd name="connsiteY1" fmla="*/ 0 h 2390399"/>
              <a:gd name="connsiteX2" fmla="*/ 3569021 w 3569021"/>
              <a:gd name="connsiteY2" fmla="*/ 255363 h 2390399"/>
              <a:gd name="connsiteX3" fmla="*/ 3569021 w 3569021"/>
              <a:gd name="connsiteY3" fmla="*/ 2390399 h 2390399"/>
              <a:gd name="connsiteX4" fmla="*/ 0 w 3569021"/>
              <a:gd name="connsiteY4" fmla="*/ 2390399 h 2390399"/>
              <a:gd name="connsiteX5" fmla="*/ 0 w 3569021"/>
              <a:gd name="connsiteY5" fmla="*/ 255363 h 2390399"/>
              <a:gd name="connsiteX6" fmla="*/ 255363 w 3569021"/>
              <a:gd name="connsiteY6" fmla="*/ 0 h 239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90399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90399"/>
                </a:lnTo>
                <a:lnTo>
                  <a:pt x="0" y="2390399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9" name="Card Title 1">
            <a:extLst>
              <a:ext uri="{FF2B5EF4-FFF2-40B4-BE49-F238E27FC236}">
                <a16:creationId xmlns:a16="http://schemas.microsoft.com/office/drawing/2014/main" id="{98C28AB7-B72D-BD11-BF20-A7C31B7C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989" y="4700434"/>
            <a:ext cx="3560328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E88913F-9222-5E48-CBF6-EFABC06FC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989" y="4977433"/>
            <a:ext cx="3560328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44531E-3706-FB46-65E5-417E396A5D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2003804"/>
            <a:ext cx="3569481" cy="2369773"/>
          </a:xfrm>
          <a:custGeom>
            <a:avLst/>
            <a:gdLst>
              <a:gd name="connsiteX0" fmla="*/ 255363 w 3569016"/>
              <a:gd name="connsiteY0" fmla="*/ 0 h 2369773"/>
              <a:gd name="connsiteX1" fmla="*/ 3313653 w 3569016"/>
              <a:gd name="connsiteY1" fmla="*/ 0 h 2369773"/>
              <a:gd name="connsiteX2" fmla="*/ 3569016 w 3569016"/>
              <a:gd name="connsiteY2" fmla="*/ 255363 h 2369773"/>
              <a:gd name="connsiteX3" fmla="*/ 3569016 w 3569016"/>
              <a:gd name="connsiteY3" fmla="*/ 2369773 h 2369773"/>
              <a:gd name="connsiteX4" fmla="*/ 0 w 3569016"/>
              <a:gd name="connsiteY4" fmla="*/ 2369773 h 2369773"/>
              <a:gd name="connsiteX5" fmla="*/ 0 w 3569016"/>
              <a:gd name="connsiteY5" fmla="*/ 255363 h 2369773"/>
              <a:gd name="connsiteX6" fmla="*/ 255363 w 3569016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16" h="2369773">
                <a:moveTo>
                  <a:pt x="255363" y="0"/>
                </a:moveTo>
                <a:lnTo>
                  <a:pt x="3313653" y="0"/>
                </a:lnTo>
                <a:cubicBezTo>
                  <a:pt x="3454686" y="0"/>
                  <a:pt x="3569016" y="114330"/>
                  <a:pt x="3569016" y="255363"/>
                </a:cubicBezTo>
                <a:lnTo>
                  <a:pt x="3569016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2" name="Card Title 2">
            <a:extLst>
              <a:ext uri="{FF2B5EF4-FFF2-40B4-BE49-F238E27FC236}">
                <a16:creationId xmlns:a16="http://schemas.microsoft.com/office/drawing/2014/main" id="{5BA6D557-6889-E2EA-A180-0F5F9EFDAA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700434"/>
            <a:ext cx="3569481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7D52F34-39F9-1FB3-7551-7C893F60CF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3"/>
            <a:ext cx="3569481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38B383B-DBAC-8569-2139-E74605AD6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81105" y="2003804"/>
            <a:ext cx="3571200" cy="2369773"/>
          </a:xfrm>
          <a:custGeom>
            <a:avLst/>
            <a:gdLst>
              <a:gd name="connsiteX0" fmla="*/ 255363 w 3569021"/>
              <a:gd name="connsiteY0" fmla="*/ 0 h 2369773"/>
              <a:gd name="connsiteX1" fmla="*/ 3313658 w 3569021"/>
              <a:gd name="connsiteY1" fmla="*/ 0 h 2369773"/>
              <a:gd name="connsiteX2" fmla="*/ 3569021 w 3569021"/>
              <a:gd name="connsiteY2" fmla="*/ 255363 h 2369773"/>
              <a:gd name="connsiteX3" fmla="*/ 3569021 w 3569021"/>
              <a:gd name="connsiteY3" fmla="*/ 2369773 h 2369773"/>
              <a:gd name="connsiteX4" fmla="*/ 0 w 3569021"/>
              <a:gd name="connsiteY4" fmla="*/ 2369773 h 2369773"/>
              <a:gd name="connsiteX5" fmla="*/ 0 w 3569021"/>
              <a:gd name="connsiteY5" fmla="*/ 255363 h 2369773"/>
              <a:gd name="connsiteX6" fmla="*/ 255363 w 3569021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69773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15" name="Card Title 3">
            <a:extLst>
              <a:ext uri="{FF2B5EF4-FFF2-40B4-BE49-F238E27FC236}">
                <a16:creationId xmlns:a16="http://schemas.microsoft.com/office/drawing/2014/main" id="{8D9E2659-1FB7-CD10-4CEA-5F26834020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7034" y="4700434"/>
            <a:ext cx="3557629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9B81C8-32BC-1323-014E-2B9F46B443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7034" y="4977433"/>
            <a:ext cx="3557629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0113651-6267-B416-E92A-533AAE659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308F77-A82F-367C-A30B-5CCA6E91EE8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D7387FA-935B-3942-9F04-436B742D76BA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BB53E-5605-8CAC-338A-65A8B101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F65DE-88B0-4770-29D6-7B18977A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E1EBF08-C947-7DBA-5E7A-9AC9D9BA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8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Form 1">
            <a:extLst>
              <a:ext uri="{FF2B5EF4-FFF2-40B4-BE49-F238E27FC236}">
                <a16:creationId xmlns:a16="http://schemas.microsoft.com/office/drawing/2014/main" id="{BF870914-9EDF-D799-187F-F659B632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1" name="!!Form 2">
            <a:extLst>
              <a:ext uri="{FF2B5EF4-FFF2-40B4-BE49-F238E27FC236}">
                <a16:creationId xmlns:a16="http://schemas.microsoft.com/office/drawing/2014/main" id="{7FC41C89-EA1F-5908-C6CE-A46F13F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2" name="!!Form 3">
            <a:extLst>
              <a:ext uri="{FF2B5EF4-FFF2-40B4-BE49-F238E27FC236}">
                <a16:creationId xmlns:a16="http://schemas.microsoft.com/office/drawing/2014/main" id="{B67A9F4C-1408-C8B6-1109-1875F857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BF4E8175-5EAF-C4E1-98D2-C0267DA8469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410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" name="Card Title 1">
            <a:extLst>
              <a:ext uri="{FF2B5EF4-FFF2-40B4-BE49-F238E27FC236}">
                <a16:creationId xmlns:a16="http://schemas.microsoft.com/office/drawing/2014/main" id="{BD352953-9D57-0A70-9D30-B67A54662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410" y="4584561"/>
            <a:ext cx="3560328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296459-B7D6-BC14-4BBF-F71827182B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410" y="4977432"/>
            <a:ext cx="3560328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539F1F1F-AE41-EA56-480A-FBBABAB1188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540001"/>
            <a:ext cx="3569481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8" name="Card Title 2">
            <a:extLst>
              <a:ext uri="{FF2B5EF4-FFF2-40B4-BE49-F238E27FC236}">
                <a16:creationId xmlns:a16="http://schemas.microsoft.com/office/drawing/2014/main" id="{DEE0D4B3-1E06-9B84-D5E5-EB7472DB0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CB0CD72-9720-F40C-1A8A-27E8E6BEC2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6" name="Image 3">
            <a:extLst>
              <a:ext uri="{FF2B5EF4-FFF2-40B4-BE49-F238E27FC236}">
                <a16:creationId xmlns:a16="http://schemas.microsoft.com/office/drawing/2014/main" id="{9E58CE8C-09A5-A2C7-8966-9385B35B648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081105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6" name="Card Title 3">
            <a:extLst>
              <a:ext uri="{FF2B5EF4-FFF2-40B4-BE49-F238E27FC236}">
                <a16:creationId xmlns:a16="http://schemas.microsoft.com/office/drawing/2014/main" id="{8DE9D201-354A-7FBD-D1BE-AFD8403E97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05" y="4584561"/>
            <a:ext cx="3557629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AB51F6-2FF1-0AEB-32E8-05C0F0DC46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05" y="4977432"/>
            <a:ext cx="3557629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5A9DB-C34C-3DB2-49C0-38317B8F4991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FE81E57-EE26-9047-B0ED-37948D954AEA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kstSylinder 50">
            <a:extLst>
              <a:ext uri="{FF2B5EF4-FFF2-40B4-BE49-F238E27FC236}">
                <a16:creationId xmlns:a16="http://schemas.microsoft.com/office/drawing/2014/main" id="{CA73271C-13A9-115F-1460-957E91C3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5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93C994E-400F-15E3-37C1-0B643259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99256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9AA62DC-2F89-71B3-FBD1-BBC702336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3346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3F8594FD-18AD-67F3-522F-A4EB078BB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9B073D-4E7C-4F54-4601-12DC9C862F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256" y="539999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1 w 3567600"/>
              <a:gd name="connsiteY1" fmla="*/ 0 h 3686400"/>
              <a:gd name="connsiteX2" fmla="*/ 3567600 w 3567600"/>
              <a:gd name="connsiteY2" fmla="*/ 252070 h 3686400"/>
              <a:gd name="connsiteX3" fmla="*/ 3567600 w 3567600"/>
              <a:gd name="connsiteY3" fmla="*/ 2772000 h 3686400"/>
              <a:gd name="connsiteX4" fmla="*/ 3567600 w 3567600"/>
              <a:gd name="connsiteY4" fmla="*/ 3579267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79267 h 3686400"/>
              <a:gd name="connsiteX8" fmla="*/ 0 w 3567600"/>
              <a:gd name="connsiteY8" fmla="*/ 2772000 h 3686400"/>
              <a:gd name="connsiteX9" fmla="*/ 0 w 3567600"/>
              <a:gd name="connsiteY9" fmla="*/ 25207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1" y="0"/>
                </a:lnTo>
                <a:cubicBezTo>
                  <a:pt x="3454306" y="0"/>
                  <a:pt x="3567600" y="112855"/>
                  <a:pt x="3567600" y="252070"/>
                </a:cubicBezTo>
                <a:lnTo>
                  <a:pt x="3567600" y="2772000"/>
                </a:lnTo>
                <a:lnTo>
                  <a:pt x="3567600" y="3579267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79267"/>
                </a:lnTo>
                <a:lnTo>
                  <a:pt x="0" y="2772000"/>
                </a:lnTo>
                <a:lnTo>
                  <a:pt x="0" y="252070"/>
                </a:lnTo>
                <a:cubicBezTo>
                  <a:pt x="0" y="112855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9256" y="4584561"/>
            <a:ext cx="3568063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9256" y="4977432"/>
            <a:ext cx="3568063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21E886-71D4-281C-0A55-F4E9FA1C822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873346" y="1191872"/>
            <a:ext cx="3013591" cy="3034526"/>
          </a:xfrm>
          <a:custGeom>
            <a:avLst/>
            <a:gdLst>
              <a:gd name="connsiteX0" fmla="*/ 213727 w 3013199"/>
              <a:gd name="connsiteY0" fmla="*/ 0 h 3034526"/>
              <a:gd name="connsiteX1" fmla="*/ 2799473 w 3013199"/>
              <a:gd name="connsiteY1" fmla="*/ 0 h 3034526"/>
              <a:gd name="connsiteX2" fmla="*/ 3013199 w 3013199"/>
              <a:gd name="connsiteY2" fmla="*/ 213726 h 3034526"/>
              <a:gd name="connsiteX3" fmla="*/ 3013199 w 3013199"/>
              <a:gd name="connsiteY3" fmla="*/ 3034526 h 3034526"/>
              <a:gd name="connsiteX4" fmla="*/ 0 w 3013199"/>
              <a:gd name="connsiteY4" fmla="*/ 3034526 h 3034526"/>
              <a:gd name="connsiteX5" fmla="*/ 0 w 3013199"/>
              <a:gd name="connsiteY5" fmla="*/ 213726 h 3034526"/>
              <a:gd name="connsiteX6" fmla="*/ 213727 w 3013199"/>
              <a:gd name="connsiteY6" fmla="*/ 0 h 303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526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526"/>
                </a:lnTo>
                <a:lnTo>
                  <a:pt x="0" y="3034526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3346" y="4409517"/>
            <a:ext cx="3013200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3346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962" y="1191872"/>
            <a:ext cx="3013591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204C-8D7D-421D-34FA-5960A15A108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C3E358C-23F0-464C-BE59-9BA22C49933C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4EA06E5-CCC9-D7C7-227E-48FBE936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m 1">
            <a:extLst>
              <a:ext uri="{FF2B5EF4-FFF2-40B4-BE49-F238E27FC236}">
                <a16:creationId xmlns:a16="http://schemas.microsoft.com/office/drawing/2014/main" id="{77DA3ABA-5B44-F5E5-8C95-D10706771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12ACED8-F51A-37B8-87C4-A28A6364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59" y="4219013"/>
            <a:ext cx="3569481" cy="2102400"/>
          </a:xfrm>
          <a:prstGeom prst="round2SameRect">
            <a:avLst>
              <a:gd name="adj1" fmla="val 0"/>
              <a:gd name="adj2" fmla="val 119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8" name="!!Form 3">
            <a:extLst>
              <a:ext uri="{FF2B5EF4-FFF2-40B4-BE49-F238E27FC236}">
                <a16:creationId xmlns:a16="http://schemas.microsoft.com/office/drawing/2014/main" id="{3D1C86B4-5635-D452-0D7A-7E4DF6AEB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200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6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6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200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AC218-62D2-2C30-62E9-59ED1910B7A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F075D01-6CBD-4B46-90C5-32A141548B97}" type="datetime1">
              <a:rPr lang="nb-NO" smtClean="0"/>
              <a:t>18.09.2026</a:t>
            </a:fld>
            <a:endParaRPr lang="en-GB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E36ECF0-CF0D-F89A-ACE1-1DE815339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9" name="Avrundet rektangel 4">
              <a:extLst>
                <a:ext uri="{FF2B5EF4-FFF2-40B4-BE49-F238E27FC236}">
                  <a16:creationId xmlns:a16="http://schemas.microsoft.com/office/drawing/2014/main" id="{AC55C6ED-39FA-90BD-3305-F92CFD8B04B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10" name="TekstSylinder 48">
              <a:extLst>
                <a:ext uri="{FF2B5EF4-FFF2-40B4-BE49-F238E27FC236}">
                  <a16:creationId xmlns:a16="http://schemas.microsoft.com/office/drawing/2014/main" id="{43709D66-D82C-5971-50CD-7D6141556209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11" name="Ellipse 29">
              <a:extLst>
                <a:ext uri="{FF2B5EF4-FFF2-40B4-BE49-F238E27FC236}">
                  <a16:creationId xmlns:a16="http://schemas.microsoft.com/office/drawing/2014/main" id="{32AEDAE9-D970-E6C8-51FA-48183239B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9CF57B2E-EAC0-2DB2-E59E-E7C6DDF9A9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D875FB36-D724-6EF0-38AE-F2A30E3C5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280278CF-4623-26E9-71C1-962C577527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A26BFB57-EA9A-DABD-0C6B-3BA1D6AFF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591AC737-59AD-E549-A83D-30CBD7BA45E0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16F0C072-DE0B-169B-6B52-C7690C4D6042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2CFCCF9D-6179-B970-BDE8-E7977203F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2283AC8-B213-2BAB-820D-BAB5D8B7D14C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45" name="Rett linje 54">
                <a:extLst>
                  <a:ext uri="{FF2B5EF4-FFF2-40B4-BE49-F238E27FC236}">
                    <a16:creationId xmlns:a16="http://schemas.microsoft.com/office/drawing/2014/main" id="{E249562A-D797-D2C2-3BAD-107DF5995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kstSylinder 61">
                <a:extLst>
                  <a:ext uri="{FF2B5EF4-FFF2-40B4-BE49-F238E27FC236}">
                    <a16:creationId xmlns:a16="http://schemas.microsoft.com/office/drawing/2014/main" id="{B57D7015-B285-E35D-0E44-8EAEE69E1616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60F231F8-1648-0E93-94B1-B8B751CFD168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70524A07-B0EB-1768-3AB2-0DF4BD495DF2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8" name="Ellipse 74">
                  <a:extLst>
                    <a:ext uri="{FF2B5EF4-FFF2-40B4-BE49-F238E27FC236}">
                      <a16:creationId xmlns:a16="http://schemas.microsoft.com/office/drawing/2014/main" id="{6A5B15AC-8BBE-3B5B-A5BD-9728035D3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0" name="Ellipse 75">
                  <a:extLst>
                    <a:ext uri="{FF2B5EF4-FFF2-40B4-BE49-F238E27FC236}">
                      <a16:creationId xmlns:a16="http://schemas.microsoft.com/office/drawing/2014/main" id="{ED7A51A8-78DE-37B4-48E1-B69DE092F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2" name="Ellipse 76">
                  <a:extLst>
                    <a:ext uri="{FF2B5EF4-FFF2-40B4-BE49-F238E27FC236}">
                      <a16:creationId xmlns:a16="http://schemas.microsoft.com/office/drawing/2014/main" id="{9B667FA4-7B38-DC2A-CB35-99B92ED9E5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3" name="Ellipse 77">
                  <a:extLst>
                    <a:ext uri="{FF2B5EF4-FFF2-40B4-BE49-F238E27FC236}">
                      <a16:creationId xmlns:a16="http://schemas.microsoft.com/office/drawing/2014/main" id="{AD9556FF-3ECC-7793-67B7-3E3DAB31CC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4" name="Ellipse 78">
                  <a:extLst>
                    <a:ext uri="{FF2B5EF4-FFF2-40B4-BE49-F238E27FC236}">
                      <a16:creationId xmlns:a16="http://schemas.microsoft.com/office/drawing/2014/main" id="{56CE8422-55C0-ACEE-15E1-2A1E47F73F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6" name="TextBox 13">
                <a:extLst>
                  <a:ext uri="{FF2B5EF4-FFF2-40B4-BE49-F238E27FC236}">
                    <a16:creationId xmlns:a16="http://schemas.microsoft.com/office/drawing/2014/main" id="{37A987F4-1B9F-97EC-C2B6-F2FCA431F405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349E8014-56AE-9215-C51C-0F302E1BCB8A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CFD1289D-AD12-3A9B-E997-1020A97ED98F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30" name="Ellipse 56">
                  <a:extLst>
                    <a:ext uri="{FF2B5EF4-FFF2-40B4-BE49-F238E27FC236}">
                      <a16:creationId xmlns:a16="http://schemas.microsoft.com/office/drawing/2014/main" id="{4C5D7353-1FA8-CB49-B48C-F418E4F6E8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1" name="Ellipse 57">
                  <a:extLst>
                    <a:ext uri="{FF2B5EF4-FFF2-40B4-BE49-F238E27FC236}">
                      <a16:creationId xmlns:a16="http://schemas.microsoft.com/office/drawing/2014/main" id="{3815CB14-1590-280C-2CE4-2406032A25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58">
                  <a:extLst>
                    <a:ext uri="{FF2B5EF4-FFF2-40B4-BE49-F238E27FC236}">
                      <a16:creationId xmlns:a16="http://schemas.microsoft.com/office/drawing/2014/main" id="{2F633AF9-EE8D-75D0-9474-7ED7B6C22D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59">
                  <a:extLst>
                    <a:ext uri="{FF2B5EF4-FFF2-40B4-BE49-F238E27FC236}">
                      <a16:creationId xmlns:a16="http://schemas.microsoft.com/office/drawing/2014/main" id="{E4CE4CDB-9283-3E3E-2542-E6083FA47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60">
                  <a:extLst>
                    <a:ext uri="{FF2B5EF4-FFF2-40B4-BE49-F238E27FC236}">
                      <a16:creationId xmlns:a16="http://schemas.microsoft.com/office/drawing/2014/main" id="{54411182-CC78-4D9E-4997-DE01498CD3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A4B73B64-53F0-2534-D843-874149E7BD6D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47" name="TekstSylinder 50">
            <a:extLst>
              <a:ext uri="{FF2B5EF4-FFF2-40B4-BE49-F238E27FC236}">
                <a16:creationId xmlns:a16="http://schemas.microsoft.com/office/drawing/2014/main" id="{750E2E49-C7D5-7D74-EF77-C17878A0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CF1A38A-C181-C833-6252-05DF0E11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F804DF99-094D-7160-17C4-5F957DFE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09460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17FA5378-210C-749A-8F27-96DA68CE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7906" y="4218447"/>
            <a:ext cx="3568063" cy="2102400"/>
          </a:xfrm>
          <a:prstGeom prst="round2SameRect">
            <a:avLst>
              <a:gd name="adj1" fmla="val 0"/>
              <a:gd name="adj2" fmla="val 1224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FE34B-F7EE-8527-7C0A-E3EB4F759B3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309460" y="1191602"/>
            <a:ext cx="3013591" cy="3034797"/>
          </a:xfrm>
          <a:custGeom>
            <a:avLst/>
            <a:gdLst>
              <a:gd name="connsiteX0" fmla="*/ 213727 w 3013199"/>
              <a:gd name="connsiteY0" fmla="*/ 0 h 3034797"/>
              <a:gd name="connsiteX1" fmla="*/ 2799473 w 3013199"/>
              <a:gd name="connsiteY1" fmla="*/ 0 h 3034797"/>
              <a:gd name="connsiteX2" fmla="*/ 3013199 w 3013199"/>
              <a:gd name="connsiteY2" fmla="*/ 213726 h 3034797"/>
              <a:gd name="connsiteX3" fmla="*/ 3013199 w 3013199"/>
              <a:gd name="connsiteY3" fmla="*/ 3034797 h 3034797"/>
              <a:gd name="connsiteX4" fmla="*/ 0 w 3013199"/>
              <a:gd name="connsiteY4" fmla="*/ 3034797 h 3034797"/>
              <a:gd name="connsiteX5" fmla="*/ 0 w 3013199"/>
              <a:gd name="connsiteY5" fmla="*/ 213726 h 3034797"/>
              <a:gd name="connsiteX6" fmla="*/ 213727 w 3013199"/>
              <a:gd name="connsiteY6" fmla="*/ 0 h 303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797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797"/>
                </a:lnTo>
                <a:lnTo>
                  <a:pt x="0" y="3034797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60" y="4409517"/>
            <a:ext cx="3013591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61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0B13D-0409-309B-1131-2A9414999D2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7537905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2772000 h 3686400"/>
              <a:gd name="connsiteX4" fmla="*/ 3567600 w 3567600"/>
              <a:gd name="connsiteY4" fmla="*/ 3591460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91460 h 3686400"/>
              <a:gd name="connsiteX8" fmla="*/ 0 w 3567600"/>
              <a:gd name="connsiteY8" fmla="*/ 2772000 h 3686400"/>
              <a:gd name="connsiteX9" fmla="*/ 0 w 3567600"/>
              <a:gd name="connsiteY9" fmla="*/ 25305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5" y="0"/>
                  <a:pt x="3567600" y="113295"/>
                  <a:pt x="3567600" y="253050"/>
                </a:cubicBezTo>
                <a:lnTo>
                  <a:pt x="3567600" y="2772000"/>
                </a:lnTo>
                <a:lnTo>
                  <a:pt x="3567600" y="3591460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91460"/>
                </a:lnTo>
                <a:lnTo>
                  <a:pt x="0" y="2772000"/>
                </a:lnTo>
                <a:lnTo>
                  <a:pt x="0" y="253050"/>
                </a:lnTo>
                <a:cubicBezTo>
                  <a:pt x="0" y="113295"/>
                  <a:pt x="113295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0771" y="4584561"/>
            <a:ext cx="3568064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71" y="4977432"/>
            <a:ext cx="3568064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083B-2659-3EAD-34DF-643697173A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DBD2AC3-8722-074E-8BF2-FA2BE356B1CA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B077BF0-8879-521C-835B-713971F9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4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8159106-A0A3-C088-813C-324A860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13702CC-9C8D-883D-059E-F0EF5C16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08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nb-NO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919B8-80ED-4F06-7848-8CEAF79093C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003A70-5C79-7747-8481-96A9F5BCD085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D534EC88-CA2B-84B2-CAF3-8CADF3A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F5E1BFAF-2EFE-BB53-C421-988069E6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 3">
            <a:extLst>
              <a:ext uri="{FF2B5EF4-FFF2-40B4-BE49-F238E27FC236}">
                <a16:creationId xmlns:a16="http://schemas.microsoft.com/office/drawing/2014/main" id="{046E56DE-06FB-E56F-63EE-4794A1355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8" name="Form 3">
            <a:extLst>
              <a:ext uri="{FF2B5EF4-FFF2-40B4-BE49-F238E27FC236}">
                <a16:creationId xmlns:a16="http://schemas.microsoft.com/office/drawing/2014/main" id="{33D903DD-3E2E-94A0-7F74-9097B18F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9" name="Form 3">
            <a:extLst>
              <a:ext uri="{FF2B5EF4-FFF2-40B4-BE49-F238E27FC236}">
                <a16:creationId xmlns:a16="http://schemas.microsoft.com/office/drawing/2014/main" id="{F5397CF5-2DCB-2CD9-7BA3-C89353E6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446C1-F288-2B46-A82F-B09F310389D6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D3D187D2-9AFF-CD25-BBF0-8660ACE2D3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7B228BB0-18AE-5C39-F001-6C6D34398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7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tx1"/>
                </a:solidFill>
              </a:defRPr>
            </a:lvl1pPr>
            <a:lvl2pPr>
              <a:defRPr lang="en-GB" sz="1200" dirty="0">
                <a:solidFill>
                  <a:schemeClr val="tx1"/>
                </a:solidFill>
              </a:defRPr>
            </a:lvl2pPr>
            <a:lvl3pPr>
              <a:defRPr lang="en-GB" sz="1100" dirty="0">
                <a:solidFill>
                  <a:schemeClr val="tx1"/>
                </a:solidFill>
              </a:defRPr>
            </a:lvl3pPr>
            <a:lvl4pPr>
              <a:defRPr lang="en-GB" sz="1050" dirty="0">
                <a:solidFill>
                  <a:schemeClr val="tx1"/>
                </a:solidFill>
              </a:defRPr>
            </a:lvl4pPr>
            <a:lvl5pPr>
              <a:defRPr lang="nb-NO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59F459-2B92-6046-8FF3-29C9D69E449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C553E56-800A-386A-4966-A2E6EB56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C84CB55-BA65-7148-9331-9DC925373382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BD26808D-887B-363C-3909-C37E5090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8C3124C8-52A9-F18A-C827-A5FFF59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1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18A869-E6B7-0D50-214F-89FF988922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24AFC3-C301-B628-B150-8163EE6CE2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00913A-4C82-D68D-CED6-3B155B8BD39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8D53F3-0DE7-205F-22F3-BE782F51361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A960BCE-A6D2-E72F-E13C-15A4FD29016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0DEC-C96A-B215-D008-B7248CB377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91F43CE-8055-9249-81A3-A76C877C8534}" type="datetime1">
              <a:rPr lang="nb-NO" smtClean="0"/>
              <a:t>18.09.2026</a:t>
            </a:fld>
            <a:endParaRPr lang="en-GB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90FBC205-437A-FD72-D465-352591BEB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569486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6DAA0CC-6DB4-91C1-9BFB-D1B20E7C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A8012-C7C4-15C4-B6EA-B51DC7BC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549E9E-6D9B-F422-4DC8-E05686B57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  <a:lvl2pPr>
              <a:defRPr lang="en-GB" dirty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 lang="en-GB" dirty="0">
                <a:solidFill>
                  <a:schemeClr val="bg1"/>
                </a:solidFill>
              </a:defRPr>
            </a:lvl4pPr>
            <a:lvl5pPr>
              <a:defRPr lang="nb-NO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FB512A65-82DF-20F5-B94E-41DD80599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B4A1C09B-24A1-9F2A-6133-FF54F6CCF2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D6E5A6E-A02D-E44E-9CCD-81A5BF9290AA}" type="datetime1">
              <a:rPr lang="nb-NO" smtClean="0"/>
              <a:t>18.09.2026</a:t>
            </a:fld>
            <a:endParaRPr lang="en-GB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4EB497AA-0934-340C-218C-3E6E3F2B5A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7BE4A901-8216-1DDD-75B9-57B97BB19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310B9A9-D40D-F4FE-B475-EBD70B39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Form 3">
            <a:extLst>
              <a:ext uri="{FF2B5EF4-FFF2-40B4-BE49-F238E27FC236}">
                <a16:creationId xmlns:a16="http://schemas.microsoft.com/office/drawing/2014/main" id="{FADBAD41-F6A9-BAB7-0D9A-32FEC4B68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79A838A-CD1B-874B-A963-FDE3BF571F64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56D4F195-DE0A-A577-5436-8F1660B05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2DC48DA-E68D-97B8-E9BF-1BD5C657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4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 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F7A8001-C296-2B4E-8542-84F0BB5D156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65862A9-7C10-EF97-306C-76078EBBE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9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607ACC0-5180-6B4A-8B0A-49B8289FB7D5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638B95C4-BA14-A0F6-39BD-19DF74A7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C4916927-95BD-B0B9-74F5-33D60244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0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7236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0" y="3524905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F0412B5-F1B4-466D-AF3B-DB638F9ED9D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A0C24EB-38D2-2F0E-A9B0-B40306D5BF4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94E912E-14F2-EFB5-086E-FDB36D079E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0A8A-18F6-7204-6B91-76A5976B6AA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A9A3D492-F48C-A322-78C4-F3504B5D9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A5F583-AD20-4447-9A73-27B337E9FE7A}" type="datetime1">
              <a:rPr lang="nb-NO" smtClean="0"/>
              <a:t>18.09.2026</a:t>
            </a:fld>
            <a:endParaRPr lang="en-GB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7F87E38-78F1-EFDC-786D-CD57D3971C0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10A6D486-48B1-53B5-6395-D97EB0E7F0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tel 21">
            <a:extLst>
              <a:ext uri="{FF2B5EF4-FFF2-40B4-BE49-F238E27FC236}">
                <a16:creationId xmlns:a16="http://schemas.microsoft.com/office/drawing/2014/main" id="{4D6AECAB-A8DB-4F5B-D93F-4A7C03158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390022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5E5C7E22-6375-FFE1-66E4-F1C77574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78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CBDB8-3652-4BFC-E24F-5329ABC3E0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9230" y="536575"/>
            <a:ext cx="3393020" cy="4476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6000" indent="0">
              <a:buNone/>
              <a:defRPr/>
            </a:lvl5pPr>
          </a:lstStyle>
          <a:p>
            <a:pPr lvl="0"/>
            <a:r>
              <a:rPr lang="nb"/>
              <a:t>Undertittel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259230" y="984738"/>
            <a:ext cx="3391200" cy="520333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67A8F3F-C43A-E905-27E4-94C1EC2F84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1257" y="539750"/>
            <a:ext cx="3569486" cy="5778500"/>
          </a:xfrm>
          <a:custGeom>
            <a:avLst/>
            <a:gdLst>
              <a:gd name="connsiteX0" fmla="*/ 181294 w 3569486"/>
              <a:gd name="connsiteY0" fmla="*/ 0 h 5778500"/>
              <a:gd name="connsiteX1" fmla="*/ 3388192 w 3569486"/>
              <a:gd name="connsiteY1" fmla="*/ 0 h 5778500"/>
              <a:gd name="connsiteX2" fmla="*/ 3569486 w 3569486"/>
              <a:gd name="connsiteY2" fmla="*/ 181294 h 5778500"/>
              <a:gd name="connsiteX3" fmla="*/ 3569486 w 3569486"/>
              <a:gd name="connsiteY3" fmla="*/ 5597206 h 5778500"/>
              <a:gd name="connsiteX4" fmla="*/ 3388192 w 3569486"/>
              <a:gd name="connsiteY4" fmla="*/ 5778500 h 5778500"/>
              <a:gd name="connsiteX5" fmla="*/ 181294 w 3569486"/>
              <a:gd name="connsiteY5" fmla="*/ 5778500 h 5778500"/>
              <a:gd name="connsiteX6" fmla="*/ 0 w 3569486"/>
              <a:gd name="connsiteY6" fmla="*/ 5597206 h 5778500"/>
              <a:gd name="connsiteX7" fmla="*/ 0 w 3569486"/>
              <a:gd name="connsiteY7" fmla="*/ 181294 h 5778500"/>
              <a:gd name="connsiteX8" fmla="*/ 181294 w 3569486"/>
              <a:gd name="connsiteY8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9486" h="5778500">
                <a:moveTo>
                  <a:pt x="181294" y="0"/>
                </a:moveTo>
                <a:lnTo>
                  <a:pt x="3388192" y="0"/>
                </a:lnTo>
                <a:cubicBezTo>
                  <a:pt x="3488318" y="0"/>
                  <a:pt x="3569486" y="81168"/>
                  <a:pt x="3569486" y="181294"/>
                </a:cubicBezTo>
                <a:lnTo>
                  <a:pt x="3569486" y="5597206"/>
                </a:lnTo>
                <a:cubicBezTo>
                  <a:pt x="3569486" y="5697332"/>
                  <a:pt x="3488318" y="5778500"/>
                  <a:pt x="3388192" y="5778500"/>
                </a:cubicBezTo>
                <a:lnTo>
                  <a:pt x="181294" y="5778500"/>
                </a:lnTo>
                <a:cubicBezTo>
                  <a:pt x="81168" y="5778500"/>
                  <a:pt x="0" y="5697332"/>
                  <a:pt x="0" y="5597206"/>
                </a:cubicBezTo>
                <a:lnTo>
                  <a:pt x="0" y="181294"/>
                </a:lnTo>
                <a:cubicBezTo>
                  <a:pt x="0" y="81168"/>
                  <a:pt x="81168" y="0"/>
                  <a:pt x="18129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94D-E6E1-B3AB-25AE-8A8D29E1D37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0F908BE-031A-D840-B918-D1257D1476E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D0DC67-9203-BF0B-289D-132BF630042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150147-05BA-F61E-5381-28CB9BE386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9774D8-FDD7-BA9D-8E20-0DD60E2F7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24D744-09F9-99F8-A25F-9AE8A95F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0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umentation - not for 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numCol="2" spcCol="36000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1pPr>
            <a:lvl2pPr marL="180000" indent="-180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/>
            </a:lvl2pPr>
            <a:lvl3pPr marL="0" indent="0">
              <a:spcBef>
                <a:spcPts val="800"/>
              </a:spcBef>
              <a:spcAft>
                <a:spcPts val="0"/>
              </a:spcAft>
              <a:buNone/>
              <a:tabLst/>
              <a:defRPr sz="1200" b="1" i="0">
                <a:latin typeface="+mj-lt"/>
              </a:defRPr>
            </a:lvl3pPr>
            <a:lvl4pPr marL="407988" indent="-182563">
              <a:spcBef>
                <a:spcPts val="200"/>
              </a:spcBef>
              <a:spcAft>
                <a:spcPts val="200"/>
              </a:spcAft>
              <a:tabLst/>
              <a:defRPr sz="1200"/>
            </a:lvl4pPr>
            <a:lvl5pPr marL="579438" indent="-171450">
              <a:spcBef>
                <a:spcPts val="200"/>
              </a:spcBef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4440-F3B9-FCB7-E0E0-6591A11B09E1}"/>
              </a:ext>
            </a:extLst>
          </p:cNvPr>
          <p:cNvSpPr txBox="1"/>
          <p:nvPr/>
        </p:nvSpPr>
        <p:spPr>
          <a:xfrm>
            <a:off x="539749" y="6519600"/>
            <a:ext cx="857251" cy="15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b" sz="800" dirty="0">
                <a:solidFill>
                  <a:schemeClr val="tx2"/>
                </a:solidFill>
                <a:latin typeface="+mn-lt"/>
              </a:rPr>
              <a:t>Dokumentasjon</a:t>
            </a:r>
            <a:endParaRPr lang="en-US" sz="800" b="0" i="0" dirty="0">
              <a:solidFill>
                <a:schemeClr val="tx2"/>
              </a:solidFill>
              <a:latin typeface="+mn-lt"/>
              <a:cs typeface="TelenorEvolutionPPT-Light" panose="020B0604020202020204" charset="0"/>
            </a:endParaRPr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7EBBC536-8B67-BA29-1935-EE75B7ED8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C72EC1-43DD-15C7-5FE4-C2AB517FC6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4F2E20-6E09-5547-AEA2-61797C6F6700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29E547-C851-2001-8FB1-71A551667C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20850" y="6519600"/>
            <a:ext cx="849019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548C7-CE7A-DB15-956B-4D031221CA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80C41F-4BE8-2105-2D61-40724B46A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 tittelen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9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P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124E6-E0F2-4924-0E70-12F34D9FB0C8}"/>
              </a:ext>
            </a:extLst>
          </p:cNvPr>
          <p:cNvSpPr txBox="1"/>
          <p:nvPr/>
        </p:nvSpPr>
        <p:spPr>
          <a:xfrm>
            <a:off x="1" y="495657"/>
            <a:ext cx="1219200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23"/>
              </a:spcBef>
              <a:spcAft>
                <a:spcPts val="847"/>
              </a:spcAft>
            </a:pPr>
            <a:r>
              <a:rPr lang="nb" sz="12000" spc="-317" dirty="0">
                <a:solidFill>
                  <a:schemeClr val="tx2"/>
                </a:solidFill>
                <a:latin typeface="+mj-lt"/>
              </a:rPr>
              <a:t>IKKE BRUK OPPSETT ETTER DETTE</a:t>
            </a:r>
          </a:p>
        </p:txBody>
      </p:sp>
      <p:pic>
        <p:nvPicPr>
          <p:cNvPr id="7" name="Grafikk 9">
            <a:extLst>
              <a:ext uri="{FF2B5EF4-FFF2-40B4-BE49-F238E27FC236}">
                <a16:creationId xmlns:a16="http://schemas.microsoft.com/office/drawing/2014/main" id="{127343F3-6CFA-0B5A-FE1E-C7FA14190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033" y="3543390"/>
            <a:ext cx="3058326" cy="30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55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5CA1C-62DA-279C-6953-0B52048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11232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nb" noProof="0" dirty="0"/>
              <a:t>Klikk for å redigere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0132-4B0B-A424-F065-3672D46C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016000"/>
            <a:ext cx="11113200" cy="4171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  <a:p>
            <a:pPr lvl="2"/>
            <a:r>
              <a:rPr lang="nb" noProof="0" dirty="0"/>
              <a:t>Tredje nivå</a:t>
            </a:r>
            <a:endParaRPr lang="nb-NO" noProof="0" dirty="0"/>
          </a:p>
          <a:p>
            <a:pPr lvl="3"/>
            <a:r>
              <a:rPr lang="nb" noProof="0" dirty="0"/>
              <a:t>Fjerde nivå</a:t>
            </a:r>
            <a:endParaRPr lang="nb-NO" noProof="0" dirty="0"/>
          </a:p>
          <a:p>
            <a:pPr lvl="4"/>
            <a:r>
              <a:rPr lang="nb" noProof="0" dirty="0"/>
              <a:t>Femte nivå</a:t>
            </a:r>
            <a:endParaRPr lang="nb-NO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7FA9-D347-59DF-776B-CE3CE1FDF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1050" y="6519600"/>
            <a:ext cx="720475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9D7B6C4A-89AC-BA4F-ABC3-FBE73BF7B1F3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0C9C-4CA8-C540-0D7A-0D0AE862D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19600"/>
            <a:ext cx="9671049" cy="15120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B22E-486D-AF6C-C00E-1827BFA1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1526" y="6519600"/>
            <a:ext cx="721674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04CDEB6A-EC9F-A47E-AB0F-C408F31A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00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F3D713-F8BA-001B-13C0-EB5FDA7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47" name="Avrundet rektangel 4">
              <a:extLst>
                <a:ext uri="{FF2B5EF4-FFF2-40B4-BE49-F238E27FC236}">
                  <a16:creationId xmlns:a16="http://schemas.microsoft.com/office/drawing/2014/main" id="{6D63A4C4-00B5-369A-08BF-064C27E241AD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sz="100" noProof="0"/>
            </a:p>
          </p:txBody>
        </p:sp>
        <p:sp>
          <p:nvSpPr>
            <p:cNvPr id="54" name="TekstSylinder 48">
              <a:extLst>
                <a:ext uri="{FF2B5EF4-FFF2-40B4-BE49-F238E27FC236}">
                  <a16:creationId xmlns:a16="http://schemas.microsoft.com/office/drawing/2014/main" id="{EB10F4DD-B8AE-3019-112A-9139718F3AB2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  <a:endParaRPr lang="nb-NO" sz="110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49" name="Ellipse 29">
              <a:extLst>
                <a:ext uri="{FF2B5EF4-FFF2-40B4-BE49-F238E27FC236}">
                  <a16:creationId xmlns:a16="http://schemas.microsoft.com/office/drawing/2014/main" id="{736F8E83-D053-8E07-57FE-9EA0BEFC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0" name="Ellipse 30">
              <a:extLst>
                <a:ext uri="{FF2B5EF4-FFF2-40B4-BE49-F238E27FC236}">
                  <a16:creationId xmlns:a16="http://schemas.microsoft.com/office/drawing/2014/main" id="{339BA127-F574-FCAF-0AA4-E7ECB3A0C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1" name="Ellipse 31">
              <a:extLst>
                <a:ext uri="{FF2B5EF4-FFF2-40B4-BE49-F238E27FC236}">
                  <a16:creationId xmlns:a16="http://schemas.microsoft.com/office/drawing/2014/main" id="{E1D0C162-4C0F-1409-E253-151D1CF6E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2" name="Ellipse 33">
              <a:extLst>
                <a:ext uri="{FF2B5EF4-FFF2-40B4-BE49-F238E27FC236}">
                  <a16:creationId xmlns:a16="http://schemas.microsoft.com/office/drawing/2014/main" id="{6A5D3B67-2445-CF11-C108-008B91836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3" name="Ellipse 34">
              <a:extLst>
                <a:ext uri="{FF2B5EF4-FFF2-40B4-BE49-F238E27FC236}">
                  <a16:creationId xmlns:a16="http://schemas.microsoft.com/office/drawing/2014/main" id="{03DC1169-22CA-0FE7-C926-38078FA4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6" name="TekstSylinder 50">
              <a:extLst>
                <a:ext uri="{FF2B5EF4-FFF2-40B4-BE49-F238E27FC236}">
                  <a16:creationId xmlns:a16="http://schemas.microsoft.com/office/drawing/2014/main" id="{DB1633FD-E7F9-83E2-74E9-2C51E2781FEE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  <a:endParaRPr lang="nb-NO" sz="105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lvl="0">
                <a:lnSpc>
                  <a:spcPct val="110000"/>
                </a:lnSpc>
              </a:pPr>
              <a:r>
                <a:rPr lang="nb" sz="800" b="0" i="0" noProof="0" dirty="0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23" name="Rett linje 53">
              <a:extLst>
                <a:ext uri="{FF2B5EF4-FFF2-40B4-BE49-F238E27FC236}">
                  <a16:creationId xmlns:a16="http://schemas.microsoft.com/office/drawing/2014/main" id="{FD93F3A5-1124-4EF8-FD15-6442F0960A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tt linje 53">
              <a:extLst>
                <a:ext uri="{FF2B5EF4-FFF2-40B4-BE49-F238E27FC236}">
                  <a16:creationId xmlns:a16="http://schemas.microsoft.com/office/drawing/2014/main" id="{DAB232E4-C0AD-9AA6-BDFC-1EB2C92E8BDA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DC1086A-5C4C-C5FC-D068-7659024C2D76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59" name="Rett linje 54">
                <a:extLst>
                  <a:ext uri="{FF2B5EF4-FFF2-40B4-BE49-F238E27FC236}">
                    <a16:creationId xmlns:a16="http://schemas.microsoft.com/office/drawing/2014/main" id="{5C2C6591-BC4D-A0B3-AB72-C5B31411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kstSylinder 61">
                <a:extLst>
                  <a:ext uri="{FF2B5EF4-FFF2-40B4-BE49-F238E27FC236}">
                    <a16:creationId xmlns:a16="http://schemas.microsoft.com/office/drawing/2014/main" id="{EDDBEEC5-6199-5479-C0EF-2278450BF05F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noProof="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  <a:endParaRPr lang="nb-NO" sz="1050" b="0" i="0" kern="1200" noProof="0" dirty="0">
                  <a:solidFill>
                    <a:srgbClr val="070451"/>
                  </a:solidFill>
                  <a:latin typeface="+mj-lt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709970-256C-9419-FB47-3C8B3D12A58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806F39-3B2E-D367-6913-B80DA47AFABB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69" name="Ellipse 74">
                  <a:extLst>
                    <a:ext uri="{FF2B5EF4-FFF2-40B4-BE49-F238E27FC236}">
                      <a16:creationId xmlns:a16="http://schemas.microsoft.com/office/drawing/2014/main" id="{7A50EFDB-9394-128D-616B-C90872CE26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0" name="Ellipse 75">
                  <a:extLst>
                    <a:ext uri="{FF2B5EF4-FFF2-40B4-BE49-F238E27FC236}">
                      <a16:creationId xmlns:a16="http://schemas.microsoft.com/office/drawing/2014/main" id="{83C7EB67-0619-D1F1-3DB5-F344173323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1" name="Ellipse 76">
                  <a:extLst>
                    <a:ext uri="{FF2B5EF4-FFF2-40B4-BE49-F238E27FC236}">
                      <a16:creationId xmlns:a16="http://schemas.microsoft.com/office/drawing/2014/main" id="{C4029C04-990F-A95A-C2F8-5FE8494717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2" name="Ellipse 77">
                  <a:extLst>
                    <a:ext uri="{FF2B5EF4-FFF2-40B4-BE49-F238E27FC236}">
                      <a16:creationId xmlns:a16="http://schemas.microsoft.com/office/drawing/2014/main" id="{A0EAF171-6706-4088-712E-B94E68FC4A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3" name="Ellipse 78">
                  <a:extLst>
                    <a:ext uri="{FF2B5EF4-FFF2-40B4-BE49-F238E27FC236}">
                      <a16:creationId xmlns:a16="http://schemas.microsoft.com/office/drawing/2014/main" id="{193E5CFA-DDCF-8460-598C-49E53AE0F5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2C80A-D708-B1AF-DA7A-B0F5C7AC5D51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A871C5-6CEA-42BE-453C-12C13F727596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2231960-1C1A-5CAF-5888-9FBEDFC45B60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61" name="Ellipse 56">
                  <a:extLst>
                    <a:ext uri="{FF2B5EF4-FFF2-40B4-BE49-F238E27FC236}">
                      <a16:creationId xmlns:a16="http://schemas.microsoft.com/office/drawing/2014/main" id="{4AAD2FD4-B90B-9DE8-7378-31163D1B09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2" name="Ellipse 57">
                  <a:extLst>
                    <a:ext uri="{FF2B5EF4-FFF2-40B4-BE49-F238E27FC236}">
                      <a16:creationId xmlns:a16="http://schemas.microsoft.com/office/drawing/2014/main" id="{F9EC31B1-30FC-781E-38A3-2CF1D9FB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3" name="Ellipse 58">
                  <a:extLst>
                    <a:ext uri="{FF2B5EF4-FFF2-40B4-BE49-F238E27FC236}">
                      <a16:creationId xmlns:a16="http://schemas.microsoft.com/office/drawing/2014/main" id="{573ABCA9-925E-ADC3-3156-2286F0F788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4" name="Ellipse 59">
                  <a:extLst>
                    <a:ext uri="{FF2B5EF4-FFF2-40B4-BE49-F238E27FC236}">
                      <a16:creationId xmlns:a16="http://schemas.microsoft.com/office/drawing/2014/main" id="{37591B38-F715-BB13-C88E-77828CE80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5" name="Ellipse 60">
                  <a:extLst>
                    <a:ext uri="{FF2B5EF4-FFF2-40B4-BE49-F238E27FC236}">
                      <a16:creationId xmlns:a16="http://schemas.microsoft.com/office/drawing/2014/main" id="{E4C6EF15-81F7-54A5-1A6A-9DF8380624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3F57C-0E63-FAFF-121A-7F28BFAABCC3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744B20-C1BA-5DF2-BDD6-2A1DA8585C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98300" y="6672580"/>
            <a:ext cx="8175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5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49" r:id="rId3"/>
    <p:sldLayoutId id="2147483738" r:id="rId4"/>
    <p:sldLayoutId id="2147483667" r:id="rId5"/>
    <p:sldLayoutId id="2147483668" r:id="rId6"/>
    <p:sldLayoutId id="2147483742" r:id="rId7"/>
    <p:sldLayoutId id="2147483670" r:id="rId8"/>
    <p:sldLayoutId id="2147483671" r:id="rId9"/>
    <p:sldLayoutId id="2147483678" r:id="rId10"/>
    <p:sldLayoutId id="2147483741" r:id="rId11"/>
    <p:sldLayoutId id="2147483745" r:id="rId12"/>
    <p:sldLayoutId id="2147483675" r:id="rId13"/>
    <p:sldLayoutId id="2147483676" r:id="rId14"/>
    <p:sldLayoutId id="2147483677" r:id="rId15"/>
    <p:sldLayoutId id="2147483680" r:id="rId16"/>
    <p:sldLayoutId id="2147483687" r:id="rId17"/>
    <p:sldLayoutId id="2147483681" r:id="rId18"/>
    <p:sldLayoutId id="2147483688" r:id="rId19"/>
    <p:sldLayoutId id="2147483682" r:id="rId20"/>
    <p:sldLayoutId id="2147483689" r:id="rId21"/>
    <p:sldLayoutId id="2147483683" r:id="rId22"/>
    <p:sldLayoutId id="2147483690" r:id="rId23"/>
    <p:sldLayoutId id="2147483684" r:id="rId24"/>
    <p:sldLayoutId id="2147483691" r:id="rId25"/>
    <p:sldLayoutId id="2147483697" r:id="rId26"/>
    <p:sldLayoutId id="2147483700" r:id="rId27"/>
    <p:sldLayoutId id="2147483685" r:id="rId28"/>
    <p:sldLayoutId id="2147483748" r:id="rId29"/>
    <p:sldLayoutId id="2147483692" r:id="rId30"/>
    <p:sldLayoutId id="2147483686" r:id="rId31"/>
    <p:sldLayoutId id="2147483693" r:id="rId32"/>
    <p:sldLayoutId id="2147483746" r:id="rId33"/>
    <p:sldLayoutId id="2147483743" r:id="rId34"/>
    <p:sldLayoutId id="2147483694" r:id="rId35"/>
    <p:sldLayoutId id="2147483695" r:id="rId36"/>
    <p:sldLayoutId id="2147483696" r:id="rId37"/>
    <p:sldLayoutId id="2147483698" r:id="rId38"/>
    <p:sldLayoutId id="2147483701" r:id="rId39"/>
    <p:sldLayoutId id="2147483699" r:id="rId40"/>
    <p:sldLayoutId id="2147483702" r:id="rId41"/>
    <p:sldLayoutId id="2147483703" r:id="rId42"/>
    <p:sldLayoutId id="2147483704" r:id="rId43"/>
    <p:sldLayoutId id="2147483705" r:id="rId44"/>
    <p:sldLayoutId id="2147483708" r:id="rId45"/>
    <p:sldLayoutId id="2147483711" r:id="rId46"/>
    <p:sldLayoutId id="2147483710" r:id="rId47"/>
    <p:sldLayoutId id="2147483712" r:id="rId48"/>
    <p:sldLayoutId id="2147483713" r:id="rId49"/>
    <p:sldLayoutId id="2147483714" r:id="rId50"/>
    <p:sldLayoutId id="2147483721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2" r:id="rId57"/>
    <p:sldLayoutId id="2147483723" r:id="rId58"/>
    <p:sldLayoutId id="2147483747" r:id="rId59"/>
    <p:sldLayoutId id="2147483724" r:id="rId60"/>
    <p:sldLayoutId id="2147483725" r:id="rId61"/>
    <p:sldLayoutId id="2147483726" r:id="rId62"/>
    <p:sldLayoutId id="2147483728" r:id="rId63"/>
    <p:sldLayoutId id="2147483727" r:id="rId64"/>
    <p:sldLayoutId id="2147483729" r:id="rId65"/>
    <p:sldLayoutId id="2147483730" r:id="rId66"/>
    <p:sldLayoutId id="2147483731" r:id="rId67"/>
    <p:sldLayoutId id="2147483732" r:id="rId68"/>
    <p:sldLayoutId id="2147483733" r:id="rId6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40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3982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ED5734-273A-F7BE-F76A-D193B4B93A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sz="3200">
                <a:latin typeface="Segoe UI" panose="020B0502040204020203" pitchFamily="34" charset="0"/>
              </a:rPr>
              <a:t>Forvaltning og AI-agentstøtte for Mobile Free SIMs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3B0B15BB-2134-D00F-5505-1804D4C5F3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b-NO" sz="1400">
                <a:solidFill>
                  <a:srgbClr val="001848"/>
                </a:solidFill>
                <a:latin typeface="Segoe UI" panose="020B0502040204020203" pitchFamily="34" charset="0"/>
              </a:rPr>
              <a:t>Beslutningsunderlag for ledelsen i Telenor Business
• Styringsmodell: Prevent ➔ Detect ➔ Act ➔ Improve
• AI-kontroll: Gyldighetsbevis for MBN/NC &amp; opprydding av test-SIM
• Oppfølging av GIA Audit &amp; ICFR NOR 72
Saksansvarlig: Tor Marstein  |  Dato: 18. september 2026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DE484D84-1219-78CC-2C65-8EDB387F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37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5B25D19-9673-B120-B17D-ECFF2A9F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CE2C2008-C7D3-595F-989A-3C93A61A1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2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5605643A-1DCA-E18E-28A4-CEEB3B12E72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B508AB0-C1A6-A066-7268-5D0416B95F9E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BAKGRUNN &amp; KONTEKST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F44EBAF1-11C3-85FB-A985-2EE94CCFB8B8}"/>
              </a:ext>
            </a:extLst>
          </p:cNvPr>
          <p:cNvSpPr txBox="1"/>
          <p:nvPr/>
        </p:nvSpPr>
        <p:spPr>
          <a:xfrm>
            <a:off x="533400" y="558800"/>
            <a:ext cx="619131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Hvorfor kreves det et nytt forvaltningsregime?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1081E300-BDB4-21AF-D98D-310BCF87C8D6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9B824305-9D59-AB00-AD4B-9833CAEC08B8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GIA &amp; ICFR Styringskrav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F79BC487-A7F1-F963-1A46-9AADAFD4E18E}"/>
              </a:ext>
            </a:extLst>
          </p:cNvPr>
          <p:cNvSpPr txBox="1"/>
          <p:nvPr/>
        </p:nvSpPr>
        <p:spPr>
          <a:xfrm>
            <a:off x="762000" y="1841500"/>
            <a:ext cx="4953000" cy="21142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GIA Audit: Avdekket behov for vesentlig forbedret formålssporing og kostnadskontroll på SIM dekket av Telenor Norge.
• ICFR NOR 72: Pålegger årlig CxO-verifisering av oppnevnte divisjons-SPOC-er og kvartalsvise kontroller.
• 135 000+ abonnementer: Ligger i dag spredt over mer enn 1 300 kontoer uten helautomatisk bevisføring på gyldighet.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8C3BA990-9379-8A9C-E823-7C533D530EFF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80364171-B644-9239-3938-1B0E322267FE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Identifiserte Hovedrisikoer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06680AB3-C0B9-A9CA-A3A3-68A5037A853A}"/>
              </a:ext>
            </a:extLst>
          </p:cNvPr>
          <p:cNvSpPr txBox="1"/>
          <p:nvPr/>
        </p:nvSpPr>
        <p:spPr>
          <a:xfrm>
            <a:off x="6477000" y="1841500"/>
            <a:ext cx="4953000" cy="23512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1. 'Døde' MBN/NC-nummer:
Logiske nummer som henger igjen etter opphørte kundeforhold eller avtalenedgraderinger.
2. Økonomisk eksponering:
Risiko for at Telenor dekker abonnementer som burde vært viderefakturert kunder eller stengt.
3. Sikkerhet &amp; Fraud:
Test-SIM i omløp uten aktiv kontrolleier eller tidsbegrensning.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93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1BDB332-6DEB-6234-EAD1-F508CD54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29CA1FE8-13FD-2B39-7F53-7417605D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3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03AD14CE-48F3-A23D-3750-F7388342151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FA77F4F-E334-CF92-BA11-A9074D0D0FDA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PORTEFØLJEANALYSE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63C53944-016E-8123-03BD-AD8B31E91F2A}"/>
              </a:ext>
            </a:extLst>
          </p:cNvPr>
          <p:cNvSpPr txBox="1"/>
          <p:nvPr/>
        </p:nvSpPr>
        <p:spPr>
          <a:xfrm>
            <a:off x="533400" y="558800"/>
            <a:ext cx="72823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Dagens nummerbase: 135 281 Free SIM-abonnementer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14B3D05D-0303-05A5-18ED-4F76C7DB025C}"/>
              </a:ext>
            </a:extLst>
          </p:cNvPr>
          <p:cNvSpPr/>
          <p:nvPr/>
        </p:nvSpPr>
        <p:spPr>
          <a:xfrm>
            <a:off x="571500" y="1143000"/>
            <a:ext cx="3429000" cy="1714500"/>
          </a:xfrm>
          <a:prstGeom prst="rect">
            <a:avLst/>
          </a:prstGeom>
          <a:solidFill>
            <a:srgbClr val="001848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0F704BBC-1B78-1005-317F-7B7637AE85D0}"/>
              </a:ext>
            </a:extLst>
          </p:cNvPr>
          <p:cNvSpPr txBox="1"/>
          <p:nvPr/>
        </p:nvSpPr>
        <p:spPr>
          <a:xfrm>
            <a:off x="698500" y="1244600"/>
            <a:ext cx="2125454" cy="10309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400" b="1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135 281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Totalt volum Free SIM
Fordelt på &gt; 1 300 kontoer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3F7ABD91-0FAC-2C79-B2EC-4B0697B36CF8}"/>
              </a:ext>
            </a:extLst>
          </p:cNvPr>
          <p:cNvSpPr/>
          <p:nvPr/>
        </p:nvSpPr>
        <p:spPr>
          <a:xfrm>
            <a:off x="4381500" y="1143000"/>
            <a:ext cx="3429000" cy="1714500"/>
          </a:xfrm>
          <a:prstGeom prst="rect">
            <a:avLst/>
          </a:prstGeom>
          <a:solidFill>
            <a:srgbClr val="005FCC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FB6793B4-AE51-24E8-301D-E50335489894}"/>
              </a:ext>
            </a:extLst>
          </p:cNvPr>
          <p:cNvSpPr txBox="1"/>
          <p:nvPr/>
        </p:nvSpPr>
        <p:spPr>
          <a:xfrm>
            <a:off x="4508500" y="1244600"/>
            <a:ext cx="2705869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113 772 (84 %)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Logiske nummer (MBN/NC)
Krever gyldighetsbevis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409648F-7E6C-AA80-FF73-2B9EB1B1EC86}"/>
              </a:ext>
            </a:extLst>
          </p:cNvPr>
          <p:cNvSpPr/>
          <p:nvPr/>
        </p:nvSpPr>
        <p:spPr>
          <a:xfrm>
            <a:off x="8191500" y="1143000"/>
            <a:ext cx="3429000" cy="1714500"/>
          </a:xfrm>
          <a:prstGeom prst="rect">
            <a:avLst/>
          </a:prstGeom>
          <a:solidFill>
            <a:srgbClr val="C2410C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2B76E97B-9A1C-6273-7C16-FC4379A91088}"/>
              </a:ext>
            </a:extLst>
          </p:cNvPr>
          <p:cNvSpPr txBox="1"/>
          <p:nvPr/>
        </p:nvSpPr>
        <p:spPr>
          <a:xfrm>
            <a:off x="8318500" y="1244600"/>
            <a:ext cx="2484655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21 509 (16 %)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Ustrukturerte test/drift
Krever datavask &amp; kontroll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899E205B-D965-340A-7340-C9D48704C912}"/>
              </a:ext>
            </a:extLst>
          </p:cNvPr>
          <p:cNvSpPr/>
          <p:nvPr/>
        </p:nvSpPr>
        <p:spPr>
          <a:xfrm>
            <a:off x="571500" y="3048000"/>
            <a:ext cx="11049000" cy="3365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11EE22DC-5BD6-531C-D635-15425C42EEC9}"/>
              </a:ext>
            </a:extLst>
          </p:cNvPr>
          <p:cNvSpPr/>
          <p:nvPr/>
        </p:nvSpPr>
        <p:spPr>
          <a:xfrm>
            <a:off x="571500" y="3048000"/>
            <a:ext cx="11049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Oppfølgings- og Kontrollfokus per Hovedgruppe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ADB76EDB-0FF9-061E-B0BD-6FB1AE3D7422}"/>
              </a:ext>
            </a:extLst>
          </p:cNvPr>
          <p:cNvSpPr txBox="1"/>
          <p:nvPr/>
        </p:nvSpPr>
        <p:spPr>
          <a:xfrm>
            <a:off x="825500" y="3683000"/>
            <a:ext cx="10541000" cy="11663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84 % (MBN &amp; Nordic Connect): Logiske nummer for sentralbord, køer og svargrupper. AI-agenter etablerer kontinuerlig kryssvalidering mot aktive kundeavtaler for å bevise gyldighet og foreslå stenging av foreldreløse nummer (Krav 1).
• 16 % (Test- og Drifts-SIM): 21 509 fysiske SIM-kort fordelt på IT-test, kritiske drift-SIM og utstyr. AI-agenter gjennomfører datavask, avdekker inaktivitet &gt; 6 mnd og genererer forslag til sanering.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39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3792D05-D937-2E16-9A24-197F1FA73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2919B75F-1112-3C43-D323-013CBD4D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4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895E0507-1B6A-7371-EA14-45D10FB2146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FD68455-F4DC-F9C5-25BD-2D831BC2D7AE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STYRINGSRAMMEVERK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D9481397-E1F2-D7C8-6366-9EA04DC3BF5C}"/>
              </a:ext>
            </a:extLst>
          </p:cNvPr>
          <p:cNvSpPr txBox="1"/>
          <p:nvPr/>
        </p:nvSpPr>
        <p:spPr>
          <a:xfrm>
            <a:off x="533400" y="558800"/>
            <a:ext cx="7798417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Forvaltningsmodellen: Prevent ➔ Detect ➔ Act ➔ Improve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89F9FDB8-5962-56D3-6C27-A9DCD0942728}"/>
              </a:ext>
            </a:extLst>
          </p:cNvPr>
          <p:cNvSpPr/>
          <p:nvPr/>
        </p:nvSpPr>
        <p:spPr>
          <a:xfrm>
            <a:off x="571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AC706E8A-77EC-AE4B-FEDC-548EBEE6604A}"/>
              </a:ext>
            </a:extLst>
          </p:cNvPr>
          <p:cNvSpPr/>
          <p:nvPr/>
        </p:nvSpPr>
        <p:spPr>
          <a:xfrm>
            <a:off x="571500" y="1206500"/>
            <a:ext cx="2667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1. PREVENT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F540FB6-52AC-3019-D89D-EF3490D2F3E6}"/>
              </a:ext>
            </a:extLst>
          </p:cNvPr>
          <p:cNvSpPr txBox="1"/>
          <p:nvPr/>
        </p:nvSpPr>
        <p:spPr>
          <a:xfrm>
            <a:off x="698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Ordrekanaler &amp; API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Opprettelse KUN på godkjente kontoer
• Kobling til aktiv MBN/NC-avtale
• Maks 6 mnd levetid for test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D258339D-91A2-1B00-BBA8-6C2B91E38479}"/>
              </a:ext>
            </a:extLst>
          </p:cNvPr>
          <p:cNvSpPr/>
          <p:nvPr/>
        </p:nvSpPr>
        <p:spPr>
          <a:xfrm>
            <a:off x="3365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BFBEC7AB-4171-ABFE-56A7-152B61E6950B}"/>
              </a:ext>
            </a:extLst>
          </p:cNvPr>
          <p:cNvSpPr/>
          <p:nvPr/>
        </p:nvSpPr>
        <p:spPr>
          <a:xfrm>
            <a:off x="3365500" y="1206500"/>
            <a:ext cx="2667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2. DETECT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6AB6CF1D-6C42-FB44-8057-9D5A3CD0E1E9}"/>
              </a:ext>
            </a:extLst>
          </p:cNvPr>
          <p:cNvSpPr txBox="1"/>
          <p:nvPr/>
        </p:nvSpPr>
        <p:spPr>
          <a:xfrm>
            <a:off x="3492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Looker &amp; AI-Agenter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Kontinuerlig gyldighetsbevis på MBN/NC
• Avdekking av 'døde' logiske nr
• Automatiske avviksalarmer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4CD84B65-930E-384E-54AB-FF30AA9E9208}"/>
              </a:ext>
            </a:extLst>
          </p:cNvPr>
          <p:cNvSpPr/>
          <p:nvPr/>
        </p:nvSpPr>
        <p:spPr>
          <a:xfrm>
            <a:off x="6159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071ADEB3-C01A-E183-8832-94AF54E82EBC}"/>
              </a:ext>
            </a:extLst>
          </p:cNvPr>
          <p:cNvSpPr/>
          <p:nvPr/>
        </p:nvSpPr>
        <p:spPr>
          <a:xfrm>
            <a:off x="6159500" y="1206500"/>
            <a:ext cx="2667000" cy="50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3. ACT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11F75816-3FF0-AB25-902D-1DB7C9026DF9}"/>
              </a:ext>
            </a:extLst>
          </p:cNvPr>
          <p:cNvSpPr txBox="1"/>
          <p:nvPr/>
        </p:nvSpPr>
        <p:spPr>
          <a:xfrm>
            <a:off x="6286500" y="1841500"/>
            <a:ext cx="2413000" cy="1353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SPOC &amp; Customer Ops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AI-forslag til stenging av ugyldige nr
• Verifisering av divisjons-SPOC
• Månedlig bulk-terminering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F51F0131-A2AB-73BD-E96C-88D08ECC1E42}"/>
              </a:ext>
            </a:extLst>
          </p:cNvPr>
          <p:cNvSpPr/>
          <p:nvPr/>
        </p:nvSpPr>
        <p:spPr>
          <a:xfrm>
            <a:off x="8953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0011CD5A-A78E-8B61-9DC8-B964B08B4B1A}"/>
              </a:ext>
            </a:extLst>
          </p:cNvPr>
          <p:cNvSpPr/>
          <p:nvPr/>
        </p:nvSpPr>
        <p:spPr>
          <a:xfrm>
            <a:off x="8953500" y="1206500"/>
            <a:ext cx="2667000" cy="50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4. IMPROVE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E593337E-F7DE-C655-99A0-00EA823D3C5F}"/>
              </a:ext>
            </a:extLst>
          </p:cNvPr>
          <p:cNvSpPr txBox="1"/>
          <p:nvPr/>
        </p:nvSpPr>
        <p:spPr>
          <a:xfrm>
            <a:off x="9080500" y="1841500"/>
            <a:ext cx="2413000" cy="1124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Styringsinformasjon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Måling av løsningstid (MTTR)
• Dokumenterte revisjonsbevis
• Sikring mot inntektslekkasje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80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7FF85BB-8137-ECD0-E184-8CD48047E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9347FA19-31BA-BE3E-2021-04836F5D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5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D29D5FA-EB6A-A102-ED44-A16E2FDC10D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00844416-D65F-EC5A-4258-01400319F6B1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KRAVSPESIFIKASJON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191D1A03-A27B-1DC3-F7A3-6EBEADA3DD4F}"/>
              </a:ext>
            </a:extLst>
          </p:cNvPr>
          <p:cNvSpPr txBox="1"/>
          <p:nvPr/>
        </p:nvSpPr>
        <p:spPr>
          <a:xfrm>
            <a:off x="533400" y="558800"/>
            <a:ext cx="578075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6 ufravikelige forvaltningskrav for Free SIM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5BAD5C5-78E1-230B-17E8-9C67408C89B8}"/>
              </a:ext>
            </a:extLst>
          </p:cNvPr>
          <p:cNvSpPr/>
          <p:nvPr/>
        </p:nvSpPr>
        <p:spPr>
          <a:xfrm>
            <a:off x="571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5AEBB1E1-F28C-0927-C388-0A3CF08B9F4D}"/>
              </a:ext>
            </a:extLst>
          </p:cNvPr>
          <p:cNvSpPr/>
          <p:nvPr/>
        </p:nvSpPr>
        <p:spPr>
          <a:xfrm>
            <a:off x="723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1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CDE9A7B-B391-A61F-EC6F-72A677C1E597}"/>
              </a:ext>
            </a:extLst>
          </p:cNvPr>
          <p:cNvSpPr txBox="1"/>
          <p:nvPr/>
        </p:nvSpPr>
        <p:spPr>
          <a:xfrm>
            <a:off x="1841500" y="1308100"/>
            <a:ext cx="272831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Bevist kundebetaling (MBN/NC)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8BEDC271-B21F-2DC8-208E-786881894844}"/>
              </a:ext>
            </a:extLst>
          </p:cNvPr>
          <p:cNvSpPr txBox="1"/>
          <p:nvPr/>
        </p:nvSpPr>
        <p:spPr>
          <a:xfrm>
            <a:off x="723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bevis på kobling mot aktiv, betalende kundeavtale og stenging ved opphør.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13004FCB-24B2-3D57-0AC7-3196F95CA8F1}"/>
              </a:ext>
            </a:extLst>
          </p:cNvPr>
          <p:cNvSpPr/>
          <p:nvPr/>
        </p:nvSpPr>
        <p:spPr>
          <a:xfrm>
            <a:off x="6286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8180D7CA-E579-D18E-EE2E-37A95EA73637}"/>
              </a:ext>
            </a:extLst>
          </p:cNvPr>
          <p:cNvSpPr/>
          <p:nvPr/>
        </p:nvSpPr>
        <p:spPr>
          <a:xfrm>
            <a:off x="6438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2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DFCF238C-72B7-E85F-A220-DFEB4DCF230F}"/>
              </a:ext>
            </a:extLst>
          </p:cNvPr>
          <p:cNvSpPr txBox="1"/>
          <p:nvPr/>
        </p:nvSpPr>
        <p:spPr>
          <a:xfrm>
            <a:off x="7556500" y="1308100"/>
            <a:ext cx="2325124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Maks 6 mnd levetid for test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70CA5D88-02C6-BC48-E818-688A0D6F8E8C}"/>
              </a:ext>
            </a:extLst>
          </p:cNvPr>
          <p:cNvSpPr txBox="1"/>
          <p:nvPr/>
        </p:nvSpPr>
        <p:spPr>
          <a:xfrm>
            <a:off x="6438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utløpsdato ved opprettelse og fast terminering ved utløp.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BBA8B217-C41C-04A1-566F-E5A7C358BE5F}"/>
              </a:ext>
            </a:extLst>
          </p:cNvPr>
          <p:cNvSpPr/>
          <p:nvPr/>
        </p:nvSpPr>
        <p:spPr>
          <a:xfrm>
            <a:off x="571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3F256AE7-95DD-F3A4-FD6C-6822C30B3783}"/>
              </a:ext>
            </a:extLst>
          </p:cNvPr>
          <p:cNvSpPr/>
          <p:nvPr/>
        </p:nvSpPr>
        <p:spPr>
          <a:xfrm>
            <a:off x="723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3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4B6FCB92-CC65-72CC-B335-356B31E74158}"/>
              </a:ext>
            </a:extLst>
          </p:cNvPr>
          <p:cNvSpPr txBox="1"/>
          <p:nvPr/>
        </p:nvSpPr>
        <p:spPr>
          <a:xfrm>
            <a:off x="1841500" y="3086100"/>
            <a:ext cx="2202719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API / OneView regelstøtte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738650D9-6734-AFC7-34EB-C40F729BB7CD}"/>
              </a:ext>
            </a:extLst>
          </p:cNvPr>
          <p:cNvSpPr txBox="1"/>
          <p:nvPr/>
        </p:nvSpPr>
        <p:spPr>
          <a:xfrm>
            <a:off x="723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Endringsrobust håndheving av regler direkte i salgs- og bestillingskanalene.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8606C50F-46D8-C599-178E-3E0A9FE2EB66}"/>
              </a:ext>
            </a:extLst>
          </p:cNvPr>
          <p:cNvSpPr/>
          <p:nvPr/>
        </p:nvSpPr>
        <p:spPr>
          <a:xfrm>
            <a:off x="6286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465A060A-A7B9-8F71-8ED2-E388FD0F316B}"/>
              </a:ext>
            </a:extLst>
          </p:cNvPr>
          <p:cNvSpPr/>
          <p:nvPr/>
        </p:nvSpPr>
        <p:spPr>
          <a:xfrm>
            <a:off x="6438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4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kstSylinder 20">
            <a:extLst>
              <a:ext uri="{FF2B5EF4-FFF2-40B4-BE49-F238E27FC236}">
                <a16:creationId xmlns:a16="http://schemas.microsoft.com/office/drawing/2014/main" id="{D216076A-3865-B764-9E17-E63465AE24B1}"/>
              </a:ext>
            </a:extLst>
          </p:cNvPr>
          <p:cNvSpPr txBox="1"/>
          <p:nvPr/>
        </p:nvSpPr>
        <p:spPr>
          <a:xfrm>
            <a:off x="7556500" y="3086100"/>
            <a:ext cx="2209772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Google Cloud Looker flate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E6A33E6C-AC78-822A-B89E-00995EBB072B}"/>
              </a:ext>
            </a:extLst>
          </p:cNvPr>
          <p:cNvSpPr txBox="1"/>
          <p:nvPr/>
        </p:nvSpPr>
        <p:spPr>
          <a:xfrm>
            <a:off x="6438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Felles dashboards, avvikssporing og automatiserte alarmer til kontrolleiere.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CF6A946B-4AEC-6E88-4012-59975A26A5FE}"/>
              </a:ext>
            </a:extLst>
          </p:cNvPr>
          <p:cNvSpPr/>
          <p:nvPr/>
        </p:nvSpPr>
        <p:spPr>
          <a:xfrm>
            <a:off x="571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EF61FDFF-36D0-A6EC-A5A5-0680FDFA0C1F}"/>
              </a:ext>
            </a:extLst>
          </p:cNvPr>
          <p:cNvSpPr/>
          <p:nvPr/>
        </p:nvSpPr>
        <p:spPr>
          <a:xfrm>
            <a:off x="723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5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96E029D3-5CDF-A27E-CD22-79635355A085}"/>
              </a:ext>
            </a:extLst>
          </p:cNvPr>
          <p:cNvSpPr txBox="1"/>
          <p:nvPr/>
        </p:nvSpPr>
        <p:spPr>
          <a:xfrm>
            <a:off x="1841500" y="4864100"/>
            <a:ext cx="1897507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Kategoribasert regime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kstSylinder 25">
            <a:extLst>
              <a:ext uri="{FF2B5EF4-FFF2-40B4-BE49-F238E27FC236}">
                <a16:creationId xmlns:a16="http://schemas.microsoft.com/office/drawing/2014/main" id="{51C08E02-0138-29F1-85A2-BD1D4A9AF566}"/>
              </a:ext>
            </a:extLst>
          </p:cNvPr>
          <p:cNvSpPr txBox="1"/>
          <p:nvPr/>
        </p:nvSpPr>
        <p:spPr>
          <a:xfrm>
            <a:off x="723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Tydelig eierskap per kategori (Critical, Operational, Test) med SPOC/deputies.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DBBC1B52-22DC-93D6-32BE-F21ACA41AECE}"/>
              </a:ext>
            </a:extLst>
          </p:cNvPr>
          <p:cNvSpPr/>
          <p:nvPr/>
        </p:nvSpPr>
        <p:spPr>
          <a:xfrm>
            <a:off x="6286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8" name="Rektangel 27">
            <a:extLst>
              <a:ext uri="{FF2B5EF4-FFF2-40B4-BE49-F238E27FC236}">
                <a16:creationId xmlns:a16="http://schemas.microsoft.com/office/drawing/2014/main" id="{FBFF41D6-0B03-42B6-49FB-72F90E6181B9}"/>
              </a:ext>
            </a:extLst>
          </p:cNvPr>
          <p:cNvSpPr/>
          <p:nvPr/>
        </p:nvSpPr>
        <p:spPr>
          <a:xfrm>
            <a:off x="6438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6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6650ED4D-B4D4-3ADC-1D54-E2B8EC4F2048}"/>
              </a:ext>
            </a:extLst>
          </p:cNvPr>
          <p:cNvSpPr txBox="1"/>
          <p:nvPr/>
        </p:nvSpPr>
        <p:spPr>
          <a:xfrm>
            <a:off x="7556500" y="4864100"/>
            <a:ext cx="249876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Forretningskritisk forvaltning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kstSylinder 29">
            <a:extLst>
              <a:ext uri="{FF2B5EF4-FFF2-40B4-BE49-F238E27FC236}">
                <a16:creationId xmlns:a16="http://schemas.microsoft.com/office/drawing/2014/main" id="{397ABA76-6AF2-A83A-94C2-7B9C7090BF12}"/>
              </a:ext>
            </a:extLst>
          </p:cNvPr>
          <p:cNvSpPr txBox="1"/>
          <p:nvPr/>
        </p:nvSpPr>
        <p:spPr>
          <a:xfrm>
            <a:off x="6438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Strengere prevent-detect-act oppfølging for kritiske drifts- og nettverks-SIM.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83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78EB97E-D59E-D6EF-1A91-E02904E49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DEAF7E78-3C19-5F1A-930B-7EFC8D02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6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886FF937-77E6-E1AE-E0BC-7FCDAE28C09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A4EF1AE-6019-950C-00B6-C83A0118D27D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AI-AUTOMATISERING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CA07117D-3C4C-39DB-B2E8-B2A69417D09E}"/>
              </a:ext>
            </a:extLst>
          </p:cNvPr>
          <p:cNvSpPr txBox="1"/>
          <p:nvPr/>
        </p:nvSpPr>
        <p:spPr>
          <a:xfrm>
            <a:off x="533400" y="558800"/>
            <a:ext cx="8230908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AI-agentenes kjerneoppgaver: MBN/NC-validering &amp; Testvask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695FAC22-1CDA-8BD3-9263-4E0B176F4817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9F873551-E063-2FF2-25AC-2C5EEF1E179F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1. Gyldighetsbevis for MBN/NC (113 772 nr)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C8812EBA-5623-B78F-33F5-A94308E923F1}"/>
              </a:ext>
            </a:extLst>
          </p:cNvPr>
          <p:cNvSpPr txBox="1"/>
          <p:nvPr/>
        </p:nvSpPr>
        <p:spPr>
          <a:xfrm>
            <a:off x="762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Kontinuerlig avstemming:
AI-agenten kryss-sjekker daglig alle logiske nummer mot bedriftsavtaler og fakturasystemer.
• Bevisføring for revisjon:
Genererer dokumentert bevis på at hvert logisk nummer er knyttet til et aktivt kundeforhold.
• Forslag om stenging:
Identifiserer foreldreløse nummer etter oppsagte avtaler og foreslår automatisk stenging/sanering.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295E8F1A-6A45-B315-B8DA-2401B55BDF12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8760E5FD-D23E-D9E4-6025-89F33D239449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n-NO" sz="1400" b="1">
                <a:solidFill>
                  <a:srgbClr val="FFFFFF"/>
                </a:solidFill>
                <a:latin typeface="Segoe UI" panose="020B0502040204020203" pitchFamily="34" charset="0"/>
              </a:rPr>
              <a:t>2. Datavask av Test- &amp; Drifts-SIM (21 509 nr)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C48DAF4B-DBF5-22C5-20D1-0D3C586DF35C}"/>
              </a:ext>
            </a:extLst>
          </p:cNvPr>
          <p:cNvSpPr txBox="1"/>
          <p:nvPr/>
        </p:nvSpPr>
        <p:spPr>
          <a:xfrm>
            <a:off x="6477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Formålsklassifisering:
Grupperer ustrukturerte SIM inn i godkjente kategorier basert på historikk og bruksmønster.
• Inaktivitetsanalyse:
Flagger 'døde' testkort uten trafikk &gt; 6 mnd for umiddelbar terminering.
• Saneringsordre:
Overfører ferdige bulk-lister direkte til Customer Operations (Rørvik) for sletting.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97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E1CE9F0-0B06-AC39-A104-C4EC7762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6ED1CB96-F88C-1014-11C6-1F67BB1B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7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D9EC46B-02B3-0F37-0D2E-92554CA09FE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C145BFB-DC83-D540-2434-EBEDDA759C9B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ORGANISERING &amp; ROLLER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53C575D4-12B1-FA38-4A4D-8FC96AC4EB45}"/>
              </a:ext>
            </a:extLst>
          </p:cNvPr>
          <p:cNvSpPr txBox="1"/>
          <p:nvPr/>
        </p:nvSpPr>
        <p:spPr>
          <a:xfrm>
            <a:off x="533400" y="558800"/>
            <a:ext cx="60376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n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Styringsstruktur og forankring (ICFR NOR 72)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6C751C5-6B56-19F4-D7DD-79D30BCE2895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83E53409-2585-1DAC-D4B1-BD2C471EDCEA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Årlig CxO-verifisert ansvarsmatrise per divisjon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CE9C0F32-F70E-FD2E-EB5B-149DC8D535FF}"/>
              </a:ext>
            </a:extLst>
          </p:cNvPr>
          <p:cNvSpPr txBox="1"/>
          <p:nvPr/>
        </p:nvSpPr>
        <p:spPr>
          <a:xfrm>
            <a:off x="825500" y="1841500"/>
            <a:ext cx="10541000" cy="35362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Business: Tor Marstein  (CxO: Torfinn Eriksen / Nikolay / Annelene) — Eier MBN/NC &amp; B2B
• Technology: Geir Kolstad  (CxO: Roger Nerli) — Eier Critical &amp; Operational SIM
• Security Solutions &amp; Mobile: Rikke K. Nielsen  (CxO: Ric Brown)
• Entertainment &amp; Internet: Anna Hvattum  (CxO: Magnus S. Aasjord)
• Wholesale: Kjetil Jacobsen  (CxO: Ludwig Ulmer / Hugo Erichsen)
• IT: Hanne Sveipe Thowsen  (CxO: Torbjørn Larsen)
• People &amp; Organization: Pero Markanovic  (CxO: Kristin Ruud)
Styring for Test SIM: Primæreier + Deputies (Tor Marstein, Kjetil Furuly, Jesper Lade)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40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69D62E4-DF67-5DCF-1342-F048773E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17B6BF9F-CC5C-E18E-26B3-9BB04BF63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8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0EEF7AD-B870-2836-9064-863D7A193AB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02E33A12-7AE1-0D30-AEFF-D4C526E42AD8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GEVINSTBILDE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61C79D7E-3411-2E71-0A4B-2256C6E9764B}"/>
              </a:ext>
            </a:extLst>
          </p:cNvPr>
          <p:cNvSpPr txBox="1"/>
          <p:nvPr/>
        </p:nvSpPr>
        <p:spPr>
          <a:xfrm>
            <a:off x="533400" y="558800"/>
            <a:ext cx="6250044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Forventede effekter av nytt forvaltningsregime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F27D4A4-EAF0-A457-F51D-D3BFC39FDFF7}"/>
              </a:ext>
            </a:extLst>
          </p:cNvPr>
          <p:cNvSpPr/>
          <p:nvPr/>
        </p:nvSpPr>
        <p:spPr>
          <a:xfrm>
            <a:off x="571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2A412641-34C2-CED8-270E-D3FF190691C8}"/>
              </a:ext>
            </a:extLst>
          </p:cNvPr>
          <p:cNvSpPr/>
          <p:nvPr/>
        </p:nvSpPr>
        <p:spPr>
          <a:xfrm>
            <a:off x="571500" y="1206500"/>
            <a:ext cx="5334000" cy="482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Inntektssikring &amp; Sanering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6F4EC166-ABDF-0114-BE47-99D965333ACF}"/>
              </a:ext>
            </a:extLst>
          </p:cNvPr>
          <p:cNvSpPr txBox="1"/>
          <p:nvPr/>
        </p:nvSpPr>
        <p:spPr>
          <a:xfrm>
            <a:off x="762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stenging av ugyldige MBN/NC-nummer og ubrukte testkort gir umiddelbare kostnadskutt og ryddig fakturering.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97A54109-453A-C663-AD9F-81C8FBF18E87}"/>
              </a:ext>
            </a:extLst>
          </p:cNvPr>
          <p:cNvSpPr/>
          <p:nvPr/>
        </p:nvSpPr>
        <p:spPr>
          <a:xfrm>
            <a:off x="6286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8AD25A48-F6AA-69B3-3705-FCA8BAB354FF}"/>
              </a:ext>
            </a:extLst>
          </p:cNvPr>
          <p:cNvSpPr/>
          <p:nvPr/>
        </p:nvSpPr>
        <p:spPr>
          <a:xfrm>
            <a:off x="6286500" y="1206500"/>
            <a:ext cx="5334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100 % Revisjonsbevis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5A3D51FA-E525-064C-D6FF-B6D83CBE3DCA}"/>
              </a:ext>
            </a:extLst>
          </p:cNvPr>
          <p:cNvSpPr txBox="1"/>
          <p:nvPr/>
        </p:nvSpPr>
        <p:spPr>
          <a:xfrm>
            <a:off x="6477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Kontinuerlig maskinell bevisføring for GIA og ICFR NOR 72 på at alle aktive nummer har gyldig formål.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904C4818-99A8-5AEA-B9F4-EB2DF47F4087}"/>
              </a:ext>
            </a:extLst>
          </p:cNvPr>
          <p:cNvSpPr/>
          <p:nvPr/>
        </p:nvSpPr>
        <p:spPr>
          <a:xfrm>
            <a:off x="571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31E0B3AE-0B08-6F1F-46CE-C9E655D8E6C8}"/>
              </a:ext>
            </a:extLst>
          </p:cNvPr>
          <p:cNvSpPr/>
          <p:nvPr/>
        </p:nvSpPr>
        <p:spPr>
          <a:xfrm>
            <a:off x="571500" y="3302000"/>
            <a:ext cx="5334000" cy="482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Eliminering av Manuelt Arbeid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73A74F6E-477D-774C-7FA1-0CFD6A85D0C7}"/>
              </a:ext>
            </a:extLst>
          </p:cNvPr>
          <p:cNvSpPr txBox="1"/>
          <p:nvPr/>
        </p:nvSpPr>
        <p:spPr>
          <a:xfrm>
            <a:off x="762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Erstatter tunge regnearkkontroller med AI-agenter og Google Cloud Looker avvikslister.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F4427D4B-8930-DC09-DB8D-F77C6F1671ED}"/>
              </a:ext>
            </a:extLst>
          </p:cNvPr>
          <p:cNvSpPr/>
          <p:nvPr/>
        </p:nvSpPr>
        <p:spPr>
          <a:xfrm>
            <a:off x="6286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9BB38BD-EFF9-5134-F4AB-36BF13BF5C95}"/>
              </a:ext>
            </a:extLst>
          </p:cNvPr>
          <p:cNvSpPr/>
          <p:nvPr/>
        </p:nvSpPr>
        <p:spPr>
          <a:xfrm>
            <a:off x="6286500" y="3302000"/>
            <a:ext cx="5334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Proaktiv Fraud- og Risikokontroll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BB570DA2-84C5-6836-26C7-9F2EB6F9604D}"/>
              </a:ext>
            </a:extLst>
          </p:cNvPr>
          <p:cNvSpPr txBox="1"/>
          <p:nvPr/>
        </p:nvSpPr>
        <p:spPr>
          <a:xfrm>
            <a:off x="6477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Full sperre mot uautoriserte SIM i drift og automatisk varsling ved uventet trafikk.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46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3B9B1794-A536-A92C-7FF1-F3E9868E6E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E21E1A38-A049-0351-68CF-F695436B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>
                <a:solidFill>
                  <a:srgbClr val="FFFFFF"/>
                </a:solidFill>
                <a:latin typeface="Segoe UI" panose="020B0502040204020203" pitchFamily="34" charset="0"/>
              </a:rPr>
              <a:t>Forslag til Beslutning for Ledelsen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84B9754F-74E1-081A-E21E-E4DAC6411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4A391F8-9B81-C1AC-11B5-77367A9CDE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9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C69145CC-7EBA-FD01-BB4D-9F2377A6403F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52368BD7-80FA-8A0B-7639-B2BF90CC9691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Innstilling til godkjenning i Telenor Business / GIA Forum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F9140C8A-F4EA-7E2F-610F-4E290FE5AACD}"/>
              </a:ext>
            </a:extLst>
          </p:cNvPr>
          <p:cNvSpPr txBox="1"/>
          <p:nvPr/>
        </p:nvSpPr>
        <p:spPr>
          <a:xfrm>
            <a:off x="825500" y="1841500"/>
            <a:ext cx="10541000" cy="3638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Det innstilles på at ledelsen fatter følgende vedtak:
1. Godkjenning av forvaltningsmodell:
Forvaltningsrammeverket (Prevent-Detect-Act-Improve) og de 6 forvaltningskravene godkjennes som gjeldende standard for Telenor Business.
2. AI-agent mandat for MBN/NC-gyldighet &amp; sanering:
Det godkjennes at AI-agenter etablerer kontrollmekanismer for løpende gyldighetsbevis for 113 772 logiske nummer på MBN/NC, samt genererer forslag om automatisk stenging av ugyldige nummer.
3. Innføring av 6 mnd levetid for test-SIM:
Det innføres standard 6 måneders levetid og automatisk terminering for alle nye Test-1 abonnementer.
4. Looker &amp; Customer Operations forankring:
Google Cloud Looker etableres som felles avviksflate, og Customer Operations (Rørvik) gis mandat til månedlige bulk-saneringer etter forslag fra AI-agenter og SPOC-er.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78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enor 2025">
  <a:themeElements>
    <a:clrScheme name="Telenor 2025 Office colour theme">
      <a:dk1>
        <a:srgbClr val="070451"/>
      </a:dk1>
      <a:lt1>
        <a:srgbClr val="FFFFFF"/>
      </a:lt1>
      <a:dk2>
        <a:srgbClr val="1C16C5"/>
      </a:dk2>
      <a:lt2>
        <a:srgbClr val="EBFFFF"/>
      </a:lt2>
      <a:accent1>
        <a:srgbClr val="00C8FF"/>
      </a:accent1>
      <a:accent2>
        <a:srgbClr val="2954FF"/>
      </a:accent2>
      <a:accent3>
        <a:srgbClr val="ADFFFE"/>
      </a:accent3>
      <a:accent4>
        <a:srgbClr val="B0FBB8"/>
      </a:accent4>
      <a:accent5>
        <a:srgbClr val="FEF6B8"/>
      </a:accent5>
      <a:accent6>
        <a:srgbClr val="FFB8D7"/>
      </a:accent6>
      <a:hlink>
        <a:srgbClr val="00C8FE"/>
      </a:hlink>
      <a:folHlink>
        <a:srgbClr val="00C8FE"/>
      </a:folHlink>
    </a:clrScheme>
    <a:fontScheme name="Test">
      <a:majorFont>
        <a:latin typeface="TelenorEvolution PPT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lenor-mal-NO.pptx" id="{C1BBCD63-355D-4F5B-8E1C-673ECC7E7166}" vid="{33D4B2D0-0271-43FD-B671-5964AE226D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A0F02228F8548BE5CD6AF06EF2189" ma:contentTypeVersion="4" ma:contentTypeDescription="Create a new document." ma:contentTypeScope="" ma:versionID="5cc467db965d387c4d49a8b87bbe69eb">
  <xsd:schema xmlns:xsd="http://www.w3.org/2001/XMLSchema" xmlns:xs="http://www.w3.org/2001/XMLSchema" xmlns:p="http://schemas.microsoft.com/office/2006/metadata/properties" xmlns:ns2="46f2b503-baca-4175-bf9d-c69e87a494e7" targetNamespace="http://schemas.microsoft.com/office/2006/metadata/properties" ma:root="true" ma:fieldsID="233beabca6f80146fb330de4af5393ba" ns2:_="">
    <xsd:import namespace="46f2b503-baca-4175-bf9d-c69e87a494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2b503-baca-4175-bf9d-c69e87a494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FF392-0D84-4EA2-8196-6F9DD44543A5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6f2b503-baca-4175-bf9d-c69e87a494e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113B0C4-3245-4F01-8BF4-033F411AD7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9B927C-C923-413F-90E4-F130BE584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2b503-baca-4175-bf9d-c69e87a494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Telenor-mal-NO</Template>
  <TotalTime>3138</TotalTime>
  <Words>1109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5" baseType="lpstr">
      <vt:lpstr>Segoe UI</vt:lpstr>
      <vt:lpstr>Arial</vt:lpstr>
      <vt:lpstr>TelenorEvolutionPPT-Light</vt:lpstr>
      <vt:lpstr>TelenorEvolution PPT</vt:lpstr>
      <vt:lpstr>Calibri</vt:lpstr>
      <vt:lpstr>Telenor 2025</vt:lpstr>
      <vt:lpstr>Forvaltning og AI-agentstøtte for Mobile Free SIMs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Forslag til Beslutning for Ledelsen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Johansen</dc:creator>
  <cp:lastModifiedBy>Tor Marstein</cp:lastModifiedBy>
  <cp:revision>7</cp:revision>
  <dcterms:created xsi:type="dcterms:W3CDTF">2025-11-04T11:05:11Z</dcterms:created>
  <dcterms:modified xsi:type="dcterms:W3CDTF">2026-09-18T10:26:12Z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2025-06-18T09:57:08Z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87aee2b2-f572-435d-bbe9-d9f454cd0e4e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  <property fmtid="{D5CDD505-2E9C-101B-9397-08002B2CF9AE}" pid="10" name="ContentTypeId">
    <vt:lpwstr>0x010100367A0F02228F8548BE5CD6AF06EF2189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Telenor 2025:12</vt:lpwstr>
  </property>
  <property fmtid="{D5CDD505-2E9C-101B-9397-08002B2CF9AE}" pid="13" name="ClassificationContentMarkingFooterText">
    <vt:lpwstr>Sensitivity: Internal</vt:lpwstr>
  </property>
</Properties>
</file>