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FB1EC3-49EB-6419-2540-66507A232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6F1E1F30-2552-038D-BDEA-53B6FA39A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243AB0D-6A91-ED42-6219-977FEFC1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21F851D-A9AC-7E8E-C292-D7AA551C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95CD10C-CC42-E9AB-D624-AF4C3686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890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4B543B-555E-8277-7E44-52EEF008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3D9538B-C856-B7A2-72D0-BA6CF607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5D99AD7-ED41-9E63-6F78-29A67B3E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117DA28-B677-D194-15B7-0C22009A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1BD1626-EFA7-5678-DFD3-FF8617FA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56490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497AA9E-C514-CE7D-BE03-81819E8A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BE3FFE3-5889-C9C3-7F79-17585044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5846C37-941F-AC8D-49EF-68F1A31D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8C9EE2C-23E1-96DC-1623-1A1F7647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AEDB9E9-E820-E7FC-28C4-CD4523A5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814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7C70E6D-5A9E-2036-5AA4-BA830A0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129A0A5-171C-429A-B93C-EA3757A6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72396E0-9DAE-8684-72C8-00C18EEBB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F262AE8-A92B-30E6-7DD0-F537B0F5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F8D42EC-E160-3E48-DB90-1CE4646D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6249344-A182-F563-E2DD-935E97AF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523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26708C2-3336-D27E-8D5B-4CCD74C8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4E4C78D-B490-1F8D-614D-39787534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A9194FD-3C20-9AD0-76D3-9EF8113BD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33DCC5E-485A-33A2-480A-E5ADF175A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0BA61646-1191-B6C8-0D0A-63F521DCC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7A6F56C-625F-3E3C-7E29-760323E9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FA8DF18B-01B1-F41C-A5E2-478A1649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1B150D9F-920D-9BA4-FC76-2B7117C4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1924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BD00BA-A2FA-B1A3-CB0F-56B261BA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C684B8CF-7984-D490-135C-AF36A63F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EB16AD6-6AC6-EB5C-CD04-3E153261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AD5FC8F-CCB1-2978-C0CB-5F58CC2D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392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CD479E4D-1D79-C9D8-0895-03A69C9D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DDA68D7-D587-E853-9157-C0963589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06DBB0A5-49CD-EB5D-4FAE-9D32250C1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063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E264869-AF29-00F8-971A-F2537010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F8B60A0-F8C9-CAE0-4896-C5D80A8F6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0CF20E71-527C-6C1E-B790-1A7A5E8A2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1D49767-27C7-5B96-D101-D10734B1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ACD76EDE-0F0D-02AA-4D0C-2CA9898A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ACBF504-00F8-EE89-0F81-98BF8131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346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C85AA1A-A9C3-D6D0-445A-B950B3B2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119BA03B-8461-D735-B106-3806C82D9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B9F37A5-F672-5D0A-105A-02CB18394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9A0365C-65B1-4965-08F3-D2862647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A4B36C9C-1689-5854-B930-22C019ED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B17A513-BE55-9DE4-0DA2-E413A4F1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096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057279-063A-EE0F-1C5F-FE6D339B4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01C7EA7D-6186-F6BC-3EA9-E6B7D5975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50207B0-2AB3-FE8A-4C80-FA67A113F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A5FF5F8-97D8-0548-5B8D-881B18BE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33773F0-686D-6D1F-D175-D87D7175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42600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3DE5B363-5BF9-7746-2654-21424AC19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36C64F89-65FE-D9CD-FDB5-161ABE5BA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0545133-FC34-FFAF-05A5-30D6F427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296B1-8B37-7443-151B-4079249C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BB1D990-D540-EA5B-9D40-022E9A4E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629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31E8389-1EC8-0801-4D9B-D9F27386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8B97B55-5DD4-AF4F-E9A9-DCC5A737D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A50D177-E4AB-84F4-3BC0-7063DAA93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AACA8-D89B-49DD-9160-0D3BCA623670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0978420-554A-C747-0830-DA1F4A2FD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E7CA8CE-9866-80A5-CF06-9766BA833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D6FA4-8BF5-47A8-B964-C38117C871D9}" type="slidenum">
              <a:rPr lang="nb-NO" smtClean="0"/>
              <a:t>‹#›</a:t>
            </a:fld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FC28398C-AB4A-9387-7D35-32934CD493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57340"/>
            <a:ext cx="9906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nb-NO" sz="900">
                <a:solidFill>
                  <a:srgbClr val="A6A6A6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50418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2A0227C-E92E-2B80-8142-1827927E44AE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F51476E1-23EA-0134-81F7-4E2BA145F56F}"/>
              </a:ext>
            </a:extLst>
          </p:cNvPr>
          <p:cNvSpPr/>
          <p:nvPr/>
        </p:nvSpPr>
        <p:spPr>
          <a:xfrm>
            <a:off x="762000" y="762000"/>
            <a:ext cx="2286000" cy="3556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BESLUTNINGSNOTAT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D440D5BD-59B8-2580-9239-4178D84D89A8}"/>
              </a:ext>
            </a:extLst>
          </p:cNvPr>
          <p:cNvSpPr txBox="1"/>
          <p:nvPr/>
        </p:nvSpPr>
        <p:spPr>
          <a:xfrm>
            <a:off x="698500" y="1397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400" b="1">
                <a:solidFill>
                  <a:srgbClr val="FFFFFF"/>
                </a:solidFill>
                <a:latin typeface="Segoe UI" panose="020B0502040204020203" pitchFamily="34" charset="0"/>
              </a:rPr>
              <a:t>Forvaltning og AI-agentstøtte for Mobile Free SIMs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EF2D900F-6F53-3F0E-F0DD-63447BE2A3FD}"/>
              </a:ext>
            </a:extLst>
          </p:cNvPr>
          <p:cNvSpPr txBox="1"/>
          <p:nvPr/>
        </p:nvSpPr>
        <p:spPr>
          <a:xfrm>
            <a:off x="698500" y="31750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600">
                <a:solidFill>
                  <a:srgbClr val="BAD7FF"/>
                </a:solidFill>
                <a:latin typeface="Segoe UI" panose="020B0502040204020203" pitchFamily="34" charset="0"/>
              </a:rPr>
              <a:t>Etablering av helhetlig styringsmodell (Prevent-Detect-Act-Improve), 6 forvaltningskrav og AI-basert kontroll i tråd med GIA Audit &amp; ICFR NOR 72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972AEA9C-CC4B-5A19-BF7B-23E1E412B800}"/>
              </a:ext>
            </a:extLst>
          </p:cNvPr>
          <p:cNvSpPr/>
          <p:nvPr/>
        </p:nvSpPr>
        <p:spPr>
          <a:xfrm>
            <a:off x="762000" y="4572000"/>
            <a:ext cx="10668000" cy="1143000"/>
          </a:xfrm>
          <a:prstGeom prst="rect">
            <a:avLst/>
          </a:prstGeom>
          <a:solidFill>
            <a:srgbClr val="0A2D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300">
                <a:solidFill>
                  <a:srgbClr val="FFFFFF"/>
                </a:solidFill>
                <a:latin typeface="Segoe UI" panose="020B0502040204020203" pitchFamily="34" charset="0"/>
              </a:rPr>
              <a:t>Saksansvarlig: Tor Marstein, Telenor Business  |  Dato: 18. september 2026
Målgruppe: Ledelsen i Telenor Business / GIA &amp; ICFR Styringsgruppe
Status: Til formell beslutning og godkjenning</a:t>
            </a:r>
          </a:p>
        </p:txBody>
      </p:sp>
    </p:spTree>
    <p:extLst>
      <p:ext uri="{BB962C8B-B14F-4D97-AF65-F5344CB8AC3E}">
        <p14:creationId xmlns:p14="http://schemas.microsoft.com/office/powerpoint/2010/main" val="244731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3DF02E9-1863-9DBF-95FB-46A77FDBD8F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6AD53C55-13C8-ECFF-1DFA-339E32D0F363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BAKGRUNN &amp; KONTEKST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1A06100-1602-839E-D695-FB1F03A099EE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2060"/>
                </a:solidFill>
                <a:latin typeface="Segoe UI" panose="020B0502040204020203" pitchFamily="34" charset="0"/>
              </a:rPr>
              <a:t>Hvorfor kreves det et nytt forvaltningsregime?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F1F209F-D30A-32A4-5F69-3CC775487154}"/>
              </a:ext>
            </a:extLst>
          </p:cNvPr>
          <p:cNvSpPr/>
          <p:nvPr/>
        </p:nvSpPr>
        <p:spPr>
          <a:xfrm>
            <a:off x="571500" y="1270000"/>
            <a:ext cx="5334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29ED915D-2908-7FA4-FA67-BAD65B4F69B0}"/>
              </a:ext>
            </a:extLst>
          </p:cNvPr>
          <p:cNvSpPr txBox="1"/>
          <p:nvPr/>
        </p:nvSpPr>
        <p:spPr>
          <a:xfrm>
            <a:off x="762000" y="1460500"/>
            <a:ext cx="4953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1E293B"/>
                </a:solidFill>
                <a:latin typeface="Segoe UI" panose="020B0502040204020203" pitchFamily="34" charset="0"/>
              </a:rPr>
              <a:t>Revisjonskrav &amp; Styringsbakgrunn
• GIA Audit avdekket behov for forbedret formålssporing og kostnadskontroll på SIM-kort dekket av Telenor Norge.
• ICFR (NOR 72) krever årlig CxO-verifisering av oppnevnte divisjons-SPOC-er og kvartalsvis kontroll.
• Over 135 000 abonnementer ligger i dag fordelt over mer enn 1 300 kontoer uten tilstrekkelig automatisert sperre.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07557E9-2C8D-D300-564D-4F078B17E26E}"/>
              </a:ext>
            </a:extLst>
          </p:cNvPr>
          <p:cNvSpPr/>
          <p:nvPr/>
        </p:nvSpPr>
        <p:spPr>
          <a:xfrm>
            <a:off x="6286500" y="1270000"/>
            <a:ext cx="5334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80F47E30-F624-7810-B455-B378D3977111}"/>
              </a:ext>
            </a:extLst>
          </p:cNvPr>
          <p:cNvSpPr txBox="1"/>
          <p:nvPr/>
        </p:nvSpPr>
        <p:spPr>
          <a:xfrm>
            <a:off x="6477000" y="1460500"/>
            <a:ext cx="4953000" cy="28931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1E293B"/>
                </a:solidFill>
                <a:latin typeface="Segoe UI" panose="020B0502040204020203" pitchFamily="34" charset="0"/>
              </a:rPr>
              <a:t>Identifiserte Risikoer i Dagens Drift
1. Økonomisk eksponering:
Risiko for at Telenor dekker abonnementer som burde vært viderefakturert sluttkunder eller terminert.
2. Sikkerhet &amp; Misbruk:
Test- og utstyrs-SIM i omløp uten aktiv kontrolleier eller tidsbegrensning.
3. Manuell byrde:
Tunge manuelle Excel-kontroller og manglende systemstøtte for automatisk opprydding.</a:t>
            </a:r>
          </a:p>
        </p:txBody>
      </p:sp>
    </p:spTree>
    <p:extLst>
      <p:ext uri="{BB962C8B-B14F-4D97-AF65-F5344CB8AC3E}">
        <p14:creationId xmlns:p14="http://schemas.microsoft.com/office/powerpoint/2010/main" val="2544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5ECC74D-A2E3-5259-6D0E-B9AB2AE33BC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8C7A086B-4AD6-E140-19FB-39AEFC39D2EF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PORTEFØLJEANALYSE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E4CEDA9-60B5-4A7E-5B09-1CF6B0A408A1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2060"/>
                </a:solidFill>
                <a:latin typeface="Segoe UI" panose="020B0502040204020203" pitchFamily="34" charset="0"/>
              </a:rPr>
              <a:t>Dagens nummerbase: 135 281 Free SIM-abonnementer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6B0EC8C-5B68-4D2A-2EA7-3218D4CDF200}"/>
              </a:ext>
            </a:extLst>
          </p:cNvPr>
          <p:cNvSpPr/>
          <p:nvPr/>
        </p:nvSpPr>
        <p:spPr>
          <a:xfrm>
            <a:off x="571500" y="1270000"/>
            <a:ext cx="3429000" cy="1651000"/>
          </a:xfrm>
          <a:prstGeom prst="rect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229B49D8-468D-2C7D-818A-A6CA190CFFB1}"/>
              </a:ext>
            </a:extLst>
          </p:cNvPr>
          <p:cNvSpPr txBox="1"/>
          <p:nvPr/>
        </p:nvSpPr>
        <p:spPr>
          <a:xfrm>
            <a:off x="698500" y="1397000"/>
            <a:ext cx="317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Segoe UI" panose="020B0502040204020203" pitchFamily="34" charset="0"/>
              </a:rPr>
              <a:t>135 281
</a:t>
            </a:r>
            <a:r>
              <a:rPr lang="nb-NO" sz="1400">
                <a:solidFill>
                  <a:srgbClr val="FFFFFF"/>
                </a:solidFill>
                <a:latin typeface="Segoe UI" panose="020B0502040204020203" pitchFamily="34" charset="0"/>
              </a:rPr>
              <a:t>Totalt volum Free SIM
Fordelt på &gt; 1 300 kontoer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A8E9FC54-AB3E-00C7-EDEE-CDD2BB4BB160}"/>
              </a:ext>
            </a:extLst>
          </p:cNvPr>
          <p:cNvSpPr/>
          <p:nvPr/>
        </p:nvSpPr>
        <p:spPr>
          <a:xfrm>
            <a:off x="4381500" y="1270000"/>
            <a:ext cx="3429000" cy="16510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C568CF5F-FFA7-A7CC-E2F5-3F1520ADAC52}"/>
              </a:ext>
            </a:extLst>
          </p:cNvPr>
          <p:cNvSpPr txBox="1"/>
          <p:nvPr/>
        </p:nvSpPr>
        <p:spPr>
          <a:xfrm>
            <a:off x="4508500" y="1397000"/>
            <a:ext cx="3175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000" b="1">
                <a:solidFill>
                  <a:srgbClr val="FFFFFF"/>
                </a:solidFill>
                <a:latin typeface="Segoe UI" panose="020B0502040204020203" pitchFamily="34" charset="0"/>
              </a:rPr>
              <a:t>113 772 (84 %)
</a:t>
            </a:r>
            <a:r>
              <a:rPr lang="nb-NO" sz="1400">
                <a:solidFill>
                  <a:srgbClr val="FFFFFF"/>
                </a:solidFill>
                <a:latin typeface="Segoe UI" panose="020B0502040204020203" pitchFamily="34" charset="0"/>
              </a:rPr>
              <a:t>Etablerte tjenester
MBN / Logiske nummer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DFFAC4A-7512-7D98-9687-A92D3C40C2AD}"/>
              </a:ext>
            </a:extLst>
          </p:cNvPr>
          <p:cNvSpPr/>
          <p:nvPr/>
        </p:nvSpPr>
        <p:spPr>
          <a:xfrm>
            <a:off x="8191500" y="1270000"/>
            <a:ext cx="3429000" cy="1651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72294850-C543-2325-FA16-310463D7454C}"/>
              </a:ext>
            </a:extLst>
          </p:cNvPr>
          <p:cNvSpPr txBox="1"/>
          <p:nvPr/>
        </p:nvSpPr>
        <p:spPr>
          <a:xfrm>
            <a:off x="8318500" y="1397000"/>
            <a:ext cx="3175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3000" b="1">
                <a:solidFill>
                  <a:srgbClr val="FFFFFF"/>
                </a:solidFill>
                <a:latin typeface="Segoe UI" panose="020B0502040204020203" pitchFamily="34" charset="0"/>
              </a:rPr>
              <a:t>21 509 (16 %)
</a:t>
            </a:r>
            <a:r>
              <a:rPr lang="nb-NO" sz="1400">
                <a:solidFill>
                  <a:srgbClr val="FFFFFF"/>
                </a:solidFill>
                <a:latin typeface="Segoe UI" panose="020B0502040204020203" pitchFamily="34" charset="0"/>
              </a:rPr>
              <a:t>Ustrukturerte test/drift
Krever datavask &amp; kontroll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B2F0AEA7-4F8D-F130-F30E-C044B32D1B52}"/>
              </a:ext>
            </a:extLst>
          </p:cNvPr>
          <p:cNvSpPr/>
          <p:nvPr/>
        </p:nvSpPr>
        <p:spPr>
          <a:xfrm>
            <a:off x="571500" y="3175000"/>
            <a:ext cx="11049000" cy="3111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E40B7975-1474-FE78-9363-3D18C080EF00}"/>
              </a:ext>
            </a:extLst>
          </p:cNvPr>
          <p:cNvSpPr txBox="1"/>
          <p:nvPr/>
        </p:nvSpPr>
        <p:spPr>
          <a:xfrm>
            <a:off x="762000" y="3365500"/>
            <a:ext cx="10668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500">
                <a:solidFill>
                  <a:srgbClr val="1E293B"/>
                </a:solidFill>
                <a:latin typeface="Segoe UI" panose="020B0502040204020203" pitchFamily="34" charset="0"/>
              </a:rPr>
              <a:t>Kategoriinndeling og Forvaltningsstatus:
• 84 % (MBN Logiske Nummer): Strukturert portefølje som forvaltes gjennom maskinell kontroll mot gyldige kunde- og tjenesteavtaler (Krav 1).
• 16 % (Test- og Drifts-SIM): Svært heterogen masse bestående av Test IT (~10k), Kritiske/Operasjonelle SIM (~20k), M2M/IoT, og testabonnementer. Det er i denne gruppen det største potensialet for kostnadskutt, sanering og AI-automatisert kontroll ligger.</a:t>
            </a:r>
          </a:p>
        </p:txBody>
      </p:sp>
    </p:spTree>
    <p:extLst>
      <p:ext uri="{BB962C8B-B14F-4D97-AF65-F5344CB8AC3E}">
        <p14:creationId xmlns:p14="http://schemas.microsoft.com/office/powerpoint/2010/main" val="3480698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8DF8DDA-B577-26B0-D69C-42328F449E3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1550D41B-F526-7FF7-7748-569F5D3DF644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STYRINGSRAMMEVERK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137D4F2F-3BE3-9D33-F45B-A2C5D361318B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2060"/>
                </a:solidFill>
                <a:latin typeface="Segoe UI" panose="020B0502040204020203" pitchFamily="34" charset="0"/>
              </a:rPr>
              <a:t>Forvaltningsmodellen: Prevent ➔ Detect ➔ Act ➔ Improve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C1C446C-D717-51D1-D111-6DBE6579B931}"/>
              </a:ext>
            </a:extLst>
          </p:cNvPr>
          <p:cNvSpPr/>
          <p:nvPr/>
        </p:nvSpPr>
        <p:spPr>
          <a:xfrm>
            <a:off x="571500" y="1397000"/>
            <a:ext cx="2667000" cy="4826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665E829-7684-E11F-2693-D2A833745CC8}"/>
              </a:ext>
            </a:extLst>
          </p:cNvPr>
          <p:cNvSpPr/>
          <p:nvPr/>
        </p:nvSpPr>
        <p:spPr>
          <a:xfrm>
            <a:off x="571500" y="1397000"/>
            <a:ext cx="2667000" cy="571500"/>
          </a:xfrm>
          <a:prstGeom prst="rect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A23DBDF-812B-1942-C787-D31E4F76FA81}"/>
              </a:ext>
            </a:extLst>
          </p:cNvPr>
          <p:cNvSpPr txBox="1"/>
          <p:nvPr/>
        </p:nvSpPr>
        <p:spPr>
          <a:xfrm>
            <a:off x="698500" y="2095500"/>
            <a:ext cx="2413000" cy="1308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1E293B"/>
                </a:solidFill>
                <a:latin typeface="Segoe UI" panose="020B0502040204020203" pitchFamily="34" charset="0"/>
              </a:rPr>
              <a:t>Ordrekanaler &amp; API
</a:t>
            </a:r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
• Opprettelse kun på godkjente kontoer
• Obligatorisk kontrolleier
• Maks 6 mnd levetid for test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BC7A9100-9FC1-5070-37B7-E22CE37E26D7}"/>
              </a:ext>
            </a:extLst>
          </p:cNvPr>
          <p:cNvSpPr/>
          <p:nvPr/>
        </p:nvSpPr>
        <p:spPr>
          <a:xfrm>
            <a:off x="3365500" y="1397000"/>
            <a:ext cx="2667000" cy="4826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9B924E9-5CF8-3BD0-ECA1-B2BEACC92FD4}"/>
              </a:ext>
            </a:extLst>
          </p:cNvPr>
          <p:cNvSpPr/>
          <p:nvPr/>
        </p:nvSpPr>
        <p:spPr>
          <a:xfrm>
            <a:off x="3365500" y="1397000"/>
            <a:ext cx="2667000" cy="5715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0CF7AB8D-8606-BC8B-3711-B0AEB3C9BC7E}"/>
              </a:ext>
            </a:extLst>
          </p:cNvPr>
          <p:cNvSpPr txBox="1"/>
          <p:nvPr/>
        </p:nvSpPr>
        <p:spPr>
          <a:xfrm>
            <a:off x="3492500" y="2095500"/>
            <a:ext cx="2413000" cy="1308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1E293B"/>
                </a:solidFill>
                <a:latin typeface="Segoe UI" panose="020B0502040204020203" pitchFamily="34" charset="0"/>
              </a:rPr>
              <a:t>Looker &amp; AI-Agenter
</a:t>
            </a:r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
• Kontinuerlig regelkjøring
• Avdekking av manglende trafikk
• Alarmer ved regelbrudd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7621DE5-85C2-53F0-3275-1B6B523BFF29}"/>
              </a:ext>
            </a:extLst>
          </p:cNvPr>
          <p:cNvSpPr/>
          <p:nvPr/>
        </p:nvSpPr>
        <p:spPr>
          <a:xfrm>
            <a:off x="6159500" y="1397000"/>
            <a:ext cx="2667000" cy="4826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0262343-41E6-0C2E-5EBA-FE57B681B070}"/>
              </a:ext>
            </a:extLst>
          </p:cNvPr>
          <p:cNvSpPr/>
          <p:nvPr/>
        </p:nvSpPr>
        <p:spPr>
          <a:xfrm>
            <a:off x="6159500" y="1397000"/>
            <a:ext cx="2667000" cy="571500"/>
          </a:xfrm>
          <a:prstGeom prst="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EA04C307-C791-9CCC-FAAB-6934A8B05B58}"/>
              </a:ext>
            </a:extLst>
          </p:cNvPr>
          <p:cNvSpPr txBox="1"/>
          <p:nvPr/>
        </p:nvSpPr>
        <p:spPr>
          <a:xfrm>
            <a:off x="6286500" y="2095500"/>
            <a:ext cx="2413000" cy="1308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1E293B"/>
                </a:solidFill>
                <a:latin typeface="Segoe UI" panose="020B0502040204020203" pitchFamily="34" charset="0"/>
              </a:rPr>
              <a:t>SPOC &amp; Customer Ops
</a:t>
            </a:r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
• Automatisk tildeling av avvik
• Verifisering av divisjons-SPOC
• Månedlig bulk-terminering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3CF28F62-C8D1-C2B2-D0BF-5BC1D0DA8DCE}"/>
              </a:ext>
            </a:extLst>
          </p:cNvPr>
          <p:cNvSpPr/>
          <p:nvPr/>
        </p:nvSpPr>
        <p:spPr>
          <a:xfrm>
            <a:off x="8953500" y="1397000"/>
            <a:ext cx="2667000" cy="4826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53F002E7-71F9-445C-D78B-0CA6C6DF8DE3}"/>
              </a:ext>
            </a:extLst>
          </p:cNvPr>
          <p:cNvSpPr/>
          <p:nvPr/>
        </p:nvSpPr>
        <p:spPr>
          <a:xfrm>
            <a:off x="8953500" y="1397000"/>
            <a:ext cx="2667000" cy="571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852CAF12-AD34-AE78-6F95-3DE3D00B76F9}"/>
              </a:ext>
            </a:extLst>
          </p:cNvPr>
          <p:cNvSpPr txBox="1"/>
          <p:nvPr/>
        </p:nvSpPr>
        <p:spPr>
          <a:xfrm>
            <a:off x="9080500" y="2095500"/>
            <a:ext cx="2413000" cy="13080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1E293B"/>
                </a:solidFill>
                <a:latin typeface="Segoe UI" panose="020B0502040204020203" pitchFamily="34" charset="0"/>
              </a:rPr>
              <a:t>Styringsinformasjon
</a:t>
            </a:r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
• Måling av løsningstid (MTTR)
• Kostnadsoppfølging
• Revisjonssikret dokumentasjon</a:t>
            </a:r>
          </a:p>
        </p:txBody>
      </p:sp>
    </p:spTree>
    <p:extLst>
      <p:ext uri="{BB962C8B-B14F-4D97-AF65-F5344CB8AC3E}">
        <p14:creationId xmlns:p14="http://schemas.microsoft.com/office/powerpoint/2010/main" val="243052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12F49EF-91CF-1A68-426C-2EEEAB5A3B4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6EA2B9BC-B96D-4761-3DD8-06D337AA8374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KRAVSPESIFIKASJON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1E5B0C24-E096-4CFD-2BD9-813FEDAA37A1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2060"/>
                </a:solidFill>
                <a:latin typeface="Segoe UI" panose="020B0502040204020203" pitchFamily="34" charset="0"/>
              </a:rPr>
              <a:t>6 ufravikelige forvaltningskrav for Free SIM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72B9637-7225-0004-DC65-A4F32D81EAF0}"/>
              </a:ext>
            </a:extLst>
          </p:cNvPr>
          <p:cNvSpPr/>
          <p:nvPr/>
        </p:nvSpPr>
        <p:spPr>
          <a:xfrm>
            <a:off x="571500" y="1333500"/>
            <a:ext cx="5334000" cy="1460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D90FD444-78DE-69A7-1209-679FB5AC62AD}"/>
              </a:ext>
            </a:extLst>
          </p:cNvPr>
          <p:cNvSpPr/>
          <p:nvPr/>
        </p:nvSpPr>
        <p:spPr>
          <a:xfrm>
            <a:off x="723900" y="1485900"/>
            <a:ext cx="952500" cy="304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0C398EC-E2DE-A34C-C143-E64EC5C9D9C1}"/>
              </a:ext>
            </a:extLst>
          </p:cNvPr>
          <p:cNvSpPr txBox="1"/>
          <p:nvPr/>
        </p:nvSpPr>
        <p:spPr>
          <a:xfrm>
            <a:off x="1778000" y="1435100"/>
            <a:ext cx="393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2060"/>
                </a:solidFill>
                <a:latin typeface="Segoe UI" panose="020B0502040204020203" pitchFamily="34" charset="0"/>
              </a:rPr>
              <a:t>Sporbar kundebetaling (MBN)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9B7710F7-8106-DC90-34F6-7EF07E54F9BC}"/>
              </a:ext>
            </a:extLst>
          </p:cNvPr>
          <p:cNvSpPr txBox="1"/>
          <p:nvPr/>
        </p:nvSpPr>
        <p:spPr>
          <a:xfrm>
            <a:off x="723900" y="1905000"/>
            <a:ext cx="5016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200">
                <a:solidFill>
                  <a:srgbClr val="1E293B"/>
                </a:solidFill>
                <a:latin typeface="Segoe UI" panose="020B0502040204020203" pitchFamily="34" charset="0"/>
              </a:rPr>
              <a:t>Maskinell kobling mellom logiske abonnement og gyldig kunde-/tjenesteavtale.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3431F660-8395-E2ED-4EB5-F8BFBF6BBB79}"/>
              </a:ext>
            </a:extLst>
          </p:cNvPr>
          <p:cNvSpPr/>
          <p:nvPr/>
        </p:nvSpPr>
        <p:spPr>
          <a:xfrm>
            <a:off x="6286500" y="1333500"/>
            <a:ext cx="5334000" cy="1460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1ED3458-03F2-4957-9B3F-D0A4C7F305B6}"/>
              </a:ext>
            </a:extLst>
          </p:cNvPr>
          <p:cNvSpPr/>
          <p:nvPr/>
        </p:nvSpPr>
        <p:spPr>
          <a:xfrm>
            <a:off x="6438900" y="1485900"/>
            <a:ext cx="952500" cy="304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9587252C-F226-5AE8-A383-CDB8EEF6D7A0}"/>
              </a:ext>
            </a:extLst>
          </p:cNvPr>
          <p:cNvSpPr txBox="1"/>
          <p:nvPr/>
        </p:nvSpPr>
        <p:spPr>
          <a:xfrm>
            <a:off x="7493000" y="1435100"/>
            <a:ext cx="393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2060"/>
                </a:solidFill>
                <a:latin typeface="Segoe UI" panose="020B0502040204020203" pitchFamily="34" charset="0"/>
              </a:rPr>
              <a:t>Maks 6 mnd levetid for test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F4CF4141-9B10-E19C-5A15-EDBD7B3AF1F3}"/>
              </a:ext>
            </a:extLst>
          </p:cNvPr>
          <p:cNvSpPr txBox="1"/>
          <p:nvPr/>
        </p:nvSpPr>
        <p:spPr>
          <a:xfrm>
            <a:off x="6438900" y="19050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200">
                <a:solidFill>
                  <a:srgbClr val="1E293B"/>
                </a:solidFill>
                <a:latin typeface="Segoe UI" panose="020B0502040204020203" pitchFamily="34" charset="0"/>
              </a:rPr>
              <a:t>Automatisk utløpsdato ved opprettelse og fast terminering ved utløp.</a:t>
            </a: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3A02BA8-0B40-DAF5-8A7F-864D8BDBF0B6}"/>
              </a:ext>
            </a:extLst>
          </p:cNvPr>
          <p:cNvSpPr/>
          <p:nvPr/>
        </p:nvSpPr>
        <p:spPr>
          <a:xfrm>
            <a:off x="571500" y="2984500"/>
            <a:ext cx="5334000" cy="1460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207606E-36FF-EFE4-F690-BF0C2635D1D6}"/>
              </a:ext>
            </a:extLst>
          </p:cNvPr>
          <p:cNvSpPr/>
          <p:nvPr/>
        </p:nvSpPr>
        <p:spPr>
          <a:xfrm>
            <a:off x="723900" y="3136900"/>
            <a:ext cx="952500" cy="304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75241961-AD2A-8DBB-9E5A-3721C1D81FA9}"/>
              </a:ext>
            </a:extLst>
          </p:cNvPr>
          <p:cNvSpPr txBox="1"/>
          <p:nvPr/>
        </p:nvSpPr>
        <p:spPr>
          <a:xfrm>
            <a:off x="1778000" y="3086100"/>
            <a:ext cx="393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2060"/>
                </a:solidFill>
                <a:latin typeface="Segoe UI" panose="020B0502040204020203" pitchFamily="34" charset="0"/>
              </a:rPr>
              <a:t>API / OneView regelstøtte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495D1ABF-2D79-AA30-C62D-27AEF356C94D}"/>
              </a:ext>
            </a:extLst>
          </p:cNvPr>
          <p:cNvSpPr txBox="1"/>
          <p:nvPr/>
        </p:nvSpPr>
        <p:spPr>
          <a:xfrm>
            <a:off x="723900" y="3556000"/>
            <a:ext cx="5016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200">
                <a:solidFill>
                  <a:srgbClr val="1E293B"/>
                </a:solidFill>
                <a:latin typeface="Segoe UI" panose="020B0502040204020203" pitchFamily="34" charset="0"/>
              </a:rPr>
              <a:t>Endringsrobust håndheving av regler direkte i salgs- og bestillingskanalene.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3F01611C-4BFE-FF87-8D79-BBE78F0B40F0}"/>
              </a:ext>
            </a:extLst>
          </p:cNvPr>
          <p:cNvSpPr/>
          <p:nvPr/>
        </p:nvSpPr>
        <p:spPr>
          <a:xfrm>
            <a:off x="6286500" y="2984500"/>
            <a:ext cx="5334000" cy="1460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BA44C763-0BEA-6FC0-EF29-45A2AF5F22DC}"/>
              </a:ext>
            </a:extLst>
          </p:cNvPr>
          <p:cNvSpPr/>
          <p:nvPr/>
        </p:nvSpPr>
        <p:spPr>
          <a:xfrm>
            <a:off x="6438900" y="3136900"/>
            <a:ext cx="952500" cy="304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3D7AAA58-62AA-A083-A5CC-8831303E4F39}"/>
              </a:ext>
            </a:extLst>
          </p:cNvPr>
          <p:cNvSpPr txBox="1"/>
          <p:nvPr/>
        </p:nvSpPr>
        <p:spPr>
          <a:xfrm>
            <a:off x="7493000" y="3086100"/>
            <a:ext cx="393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2060"/>
                </a:solidFill>
                <a:latin typeface="Segoe UI" panose="020B0502040204020203" pitchFamily="34" charset="0"/>
              </a:rPr>
              <a:t>Google Cloud Looker flate</a:t>
            </a: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EB57696D-AF10-D474-6BB9-25D6A8FCBE33}"/>
              </a:ext>
            </a:extLst>
          </p:cNvPr>
          <p:cNvSpPr txBox="1"/>
          <p:nvPr/>
        </p:nvSpPr>
        <p:spPr>
          <a:xfrm>
            <a:off x="6438900" y="3556000"/>
            <a:ext cx="50165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200">
                <a:solidFill>
                  <a:srgbClr val="1E293B"/>
                </a:solidFill>
                <a:latin typeface="Segoe UI" panose="020B0502040204020203" pitchFamily="34" charset="0"/>
              </a:rPr>
              <a:t>Dashboards, avvikssporing og automatiserte alarmer til kontrolleiere.</a:t>
            </a:r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690D2BF8-038D-E81D-4C98-F42B40BBEF21}"/>
              </a:ext>
            </a:extLst>
          </p:cNvPr>
          <p:cNvSpPr/>
          <p:nvPr/>
        </p:nvSpPr>
        <p:spPr>
          <a:xfrm>
            <a:off x="571500" y="4635500"/>
            <a:ext cx="5334000" cy="1460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46BE77D5-CD04-9917-492B-CB2CF11B0FEC}"/>
              </a:ext>
            </a:extLst>
          </p:cNvPr>
          <p:cNvSpPr/>
          <p:nvPr/>
        </p:nvSpPr>
        <p:spPr>
          <a:xfrm>
            <a:off x="723900" y="4787900"/>
            <a:ext cx="952500" cy="304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</a:p>
        </p:txBody>
      </p:sp>
      <p:sp>
        <p:nvSpPr>
          <p:cNvPr id="23" name="TekstSylinder 22">
            <a:extLst>
              <a:ext uri="{FF2B5EF4-FFF2-40B4-BE49-F238E27FC236}">
                <a16:creationId xmlns:a16="http://schemas.microsoft.com/office/drawing/2014/main" id="{80F07CDF-1B6F-3F32-0CD5-F6BD62E582D9}"/>
              </a:ext>
            </a:extLst>
          </p:cNvPr>
          <p:cNvSpPr txBox="1"/>
          <p:nvPr/>
        </p:nvSpPr>
        <p:spPr>
          <a:xfrm>
            <a:off x="1778000" y="4737100"/>
            <a:ext cx="393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2060"/>
                </a:solidFill>
                <a:latin typeface="Segoe UI" panose="020B0502040204020203" pitchFamily="34" charset="0"/>
              </a:rPr>
              <a:t>Kategoribasert regime</a:t>
            </a:r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EA2CDC05-D65E-28DD-D20B-404ECAF0C9F1}"/>
              </a:ext>
            </a:extLst>
          </p:cNvPr>
          <p:cNvSpPr txBox="1"/>
          <p:nvPr/>
        </p:nvSpPr>
        <p:spPr>
          <a:xfrm>
            <a:off x="723900" y="5207000"/>
            <a:ext cx="5016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200">
                <a:solidFill>
                  <a:srgbClr val="1E293B"/>
                </a:solidFill>
                <a:latin typeface="Segoe UI" panose="020B0502040204020203" pitchFamily="34" charset="0"/>
              </a:rPr>
              <a:t>Tydelig eierskap per kategori (Critical, Operational, Test) med SPOC/deputies.</a:t>
            </a:r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80CE2FFE-7DA2-9FEA-3237-FFA08E05CCE6}"/>
              </a:ext>
            </a:extLst>
          </p:cNvPr>
          <p:cNvSpPr/>
          <p:nvPr/>
        </p:nvSpPr>
        <p:spPr>
          <a:xfrm>
            <a:off x="6286500" y="4635500"/>
            <a:ext cx="5334000" cy="1460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63BF1E76-EE5E-CD2C-7694-113F0872EA38}"/>
              </a:ext>
            </a:extLst>
          </p:cNvPr>
          <p:cNvSpPr/>
          <p:nvPr/>
        </p:nvSpPr>
        <p:spPr>
          <a:xfrm>
            <a:off x="6438900" y="4787900"/>
            <a:ext cx="952500" cy="304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BBAE80E3-5396-A9A1-21CB-56B5411797BA}"/>
              </a:ext>
            </a:extLst>
          </p:cNvPr>
          <p:cNvSpPr txBox="1"/>
          <p:nvPr/>
        </p:nvSpPr>
        <p:spPr>
          <a:xfrm>
            <a:off x="7493000" y="4737100"/>
            <a:ext cx="393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 b="1">
                <a:solidFill>
                  <a:srgbClr val="002060"/>
                </a:solidFill>
                <a:latin typeface="Segoe UI" panose="020B0502040204020203" pitchFamily="34" charset="0"/>
              </a:rPr>
              <a:t>Forretningskritisk forvaltning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FC8045EC-AC21-A5C0-E21B-E7BF50B51198}"/>
              </a:ext>
            </a:extLst>
          </p:cNvPr>
          <p:cNvSpPr txBox="1"/>
          <p:nvPr/>
        </p:nvSpPr>
        <p:spPr>
          <a:xfrm>
            <a:off x="6438900" y="5207000"/>
            <a:ext cx="5016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200">
                <a:solidFill>
                  <a:srgbClr val="1E293B"/>
                </a:solidFill>
                <a:latin typeface="Segoe UI" panose="020B0502040204020203" pitchFamily="34" charset="0"/>
              </a:rPr>
              <a:t>Strengere prevent-detect-act oppfølging for kritiske drifts- og nettverks-SIM.</a:t>
            </a:r>
          </a:p>
        </p:txBody>
      </p:sp>
    </p:spTree>
    <p:extLst>
      <p:ext uri="{BB962C8B-B14F-4D97-AF65-F5344CB8AC3E}">
        <p14:creationId xmlns:p14="http://schemas.microsoft.com/office/powerpoint/2010/main" val="91099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1744728-26AB-70F1-636F-1D939975174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1B098B32-69BF-8D5B-ED47-D43673F75EAF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AI-AUTOMATISERING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FB2A682-5C5D-C3CF-B26D-29CE518B60E0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2060"/>
                </a:solidFill>
                <a:latin typeface="Segoe UI" panose="020B0502040204020203" pitchFamily="34" charset="0"/>
              </a:rPr>
              <a:t>AI-agentstøtte for kontroll og datavask av 21 509 testnummer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1067606-76C3-78F8-5D61-3505CA4593CA}"/>
              </a:ext>
            </a:extLst>
          </p:cNvPr>
          <p:cNvSpPr/>
          <p:nvPr/>
        </p:nvSpPr>
        <p:spPr>
          <a:xfrm>
            <a:off x="571500" y="1270000"/>
            <a:ext cx="5334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933649F3-D736-3F5E-4B0C-86FB7583E21A}"/>
              </a:ext>
            </a:extLst>
          </p:cNvPr>
          <p:cNvSpPr txBox="1"/>
          <p:nvPr/>
        </p:nvSpPr>
        <p:spPr>
          <a:xfrm>
            <a:off x="762000" y="1460500"/>
            <a:ext cx="4953000" cy="267765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1E293B"/>
                </a:solidFill>
                <a:latin typeface="Segoe UI" panose="020B0502040204020203" pitchFamily="34" charset="0"/>
              </a:rPr>
              <a:t>Hvorfor AI-Agenter?
• Manuell gjennomgang av 21 509 ustrukturerte test-SIM er tidkrevende og skjer kun periodisk.
• AI-agenter kjører kontinuerlig mønstergjenkjenning på tvers av CCDW, trafikklogger og forhandlerdata.
• Avdekker automatisk:
  - 'Døde' testkort uten trafikk &gt; 6 mnd
  - SIM opprettet på feil betalerkonto
  - Manglende/ugyldige brukerreferanser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B6CB5C5D-B03E-2DCE-D9C4-E3F263C98057}"/>
              </a:ext>
            </a:extLst>
          </p:cNvPr>
          <p:cNvSpPr/>
          <p:nvPr/>
        </p:nvSpPr>
        <p:spPr>
          <a:xfrm>
            <a:off x="6286500" y="1270000"/>
            <a:ext cx="5334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2A721A02-9AB8-CAA0-B031-9C18B67FB600}"/>
              </a:ext>
            </a:extLst>
          </p:cNvPr>
          <p:cNvSpPr txBox="1"/>
          <p:nvPr/>
        </p:nvSpPr>
        <p:spPr>
          <a:xfrm>
            <a:off x="6477000" y="1460500"/>
            <a:ext cx="4953000" cy="28931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1E293B"/>
                </a:solidFill>
                <a:latin typeface="Segoe UI" panose="020B0502040204020203" pitchFamily="34" charset="0"/>
              </a:rPr>
              <a:t>Operativ Verdi &amp; Funksjonalitet
1. Automatisk klassifisering:
Grupperer abonnementer inn i godkjente kategorier basert på historikk og bruksmønster.
2. Forslag til terminering:
Genererer ferdig saneringsliste til Customer Operations (Rørvik) for bulk-sletting.
3. Revisjonsklar logg:
Full dokumentasjon av alle vurderinger og handlinger for GIA- og ICFR-revisjon.</a:t>
            </a:r>
          </a:p>
        </p:txBody>
      </p:sp>
    </p:spTree>
    <p:extLst>
      <p:ext uri="{BB962C8B-B14F-4D97-AF65-F5344CB8AC3E}">
        <p14:creationId xmlns:p14="http://schemas.microsoft.com/office/powerpoint/2010/main" val="395623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2C276B3-59A2-F975-4888-5F0584D4698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9FEAC79-4833-DB74-8786-3F33C82B28A7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ORGANISERING &amp; ROLLER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7EC1CEBD-5C34-7353-18D4-5346DD6D6E47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n-NO" sz="2200" b="1">
                <a:solidFill>
                  <a:srgbClr val="002060"/>
                </a:solidFill>
                <a:latin typeface="Segoe UI" panose="020B0502040204020203" pitchFamily="34" charset="0"/>
              </a:rPr>
              <a:t>Styringsstruktur og forankring (ICFR NOR 72)</a:t>
            </a:r>
            <a:endParaRPr lang="nb-NO" sz="2200" b="1">
              <a:solidFill>
                <a:srgbClr val="00206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FBD2078-3762-816E-9F4E-675456696139}"/>
              </a:ext>
            </a:extLst>
          </p:cNvPr>
          <p:cNvSpPr/>
          <p:nvPr/>
        </p:nvSpPr>
        <p:spPr>
          <a:xfrm>
            <a:off x="571500" y="1270000"/>
            <a:ext cx="11049000" cy="49530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544F623E-B7ED-009B-46C2-719FCF35C945}"/>
              </a:ext>
            </a:extLst>
          </p:cNvPr>
          <p:cNvSpPr txBox="1"/>
          <p:nvPr/>
        </p:nvSpPr>
        <p:spPr>
          <a:xfrm>
            <a:off x="762000" y="1460500"/>
            <a:ext cx="10668000" cy="24622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400">
                <a:solidFill>
                  <a:srgbClr val="1E293B"/>
                </a:solidFill>
                <a:latin typeface="Segoe UI" panose="020B0502040204020203" pitchFamily="34" charset="0"/>
              </a:rPr>
              <a:t>Årlig CxO-verifisert ansvarsmatrise:
• Business: Tor Marstein (CxO: Torfinn Eriksen / Nikolay / Annelene)
• Technology: Geir Kolstad (CxO: Roger Nerli) — Eier Critical &amp; Operational SIM
• Security Solutions &amp; Mobile: Rikke K. Nielsen (CxO: Ric Brown)
• Entertainment &amp; Internet: Anna Hvattum (CxO: Magnus S. Aasjord)
• Wholesale: Kjetil Jacobsen (CxO: Ludwig Ulmer / Hugo Erichsen)
• IT: Hanne Sveipe Thowsen (CxO: Torbjørn Larsen)
• People &amp; Organization: Pero Markanovic (CxO: Kristin Ruud)
Test SIM Eierskap: Primæreier + Deputies (Tor Marstein, Kjetil Furuly, Jesper Lade)</a:t>
            </a:r>
          </a:p>
        </p:txBody>
      </p:sp>
    </p:spTree>
    <p:extLst>
      <p:ext uri="{BB962C8B-B14F-4D97-AF65-F5344CB8AC3E}">
        <p14:creationId xmlns:p14="http://schemas.microsoft.com/office/powerpoint/2010/main" val="327844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8AB657C-CED9-59D4-FBE1-455C8152BE3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9C17DEFB-3191-2554-7D34-B9932991435D}"/>
              </a:ext>
            </a:extLst>
          </p:cNvPr>
          <p:cNvSpPr txBox="1"/>
          <p:nvPr/>
        </p:nvSpPr>
        <p:spPr>
          <a:xfrm>
            <a:off x="571500" y="254000"/>
            <a:ext cx="1104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000" b="1">
                <a:solidFill>
                  <a:srgbClr val="0078D7"/>
                </a:solidFill>
                <a:latin typeface="Segoe UI" panose="020B0502040204020203" pitchFamily="34" charset="0"/>
              </a:rPr>
              <a:t>GEVINSTBILDE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B123FFD-C83C-DE7A-C30C-8835738A30B4}"/>
              </a:ext>
            </a:extLst>
          </p:cNvPr>
          <p:cNvSpPr txBox="1"/>
          <p:nvPr/>
        </p:nvSpPr>
        <p:spPr>
          <a:xfrm>
            <a:off x="571500" y="482600"/>
            <a:ext cx="11049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200" b="1">
                <a:solidFill>
                  <a:srgbClr val="002060"/>
                </a:solidFill>
                <a:latin typeface="Segoe UI" panose="020B0502040204020203" pitchFamily="34" charset="0"/>
              </a:rPr>
              <a:t>Forventede effekter av nytt forvaltningsregime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B032286-4969-8AFF-10ED-53711B87FDC8}"/>
              </a:ext>
            </a:extLst>
          </p:cNvPr>
          <p:cNvSpPr/>
          <p:nvPr/>
        </p:nvSpPr>
        <p:spPr>
          <a:xfrm>
            <a:off x="571500" y="1397000"/>
            <a:ext cx="5334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F1D91FE8-EE10-1335-550A-1CD4E51C7A47}"/>
              </a:ext>
            </a:extLst>
          </p:cNvPr>
          <p:cNvSpPr/>
          <p:nvPr/>
        </p:nvSpPr>
        <p:spPr>
          <a:xfrm>
            <a:off x="571500" y="1397000"/>
            <a:ext cx="5334000" cy="4572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Betydelig kostnadskutt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44C3B200-51A1-31AF-307D-134520F82ACF}"/>
              </a:ext>
            </a:extLst>
          </p:cNvPr>
          <p:cNvSpPr txBox="1"/>
          <p:nvPr/>
        </p:nvSpPr>
        <p:spPr>
          <a:xfrm>
            <a:off x="762000" y="1968500"/>
            <a:ext cx="4953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Rask identifisering og terminering av ubrukte testkort og feilbetalte SIM gir umiddelbar kostnadsreduksjon.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1A28D07A-2B34-C431-AB5A-C32706D6D326}"/>
              </a:ext>
            </a:extLst>
          </p:cNvPr>
          <p:cNvSpPr/>
          <p:nvPr/>
        </p:nvSpPr>
        <p:spPr>
          <a:xfrm>
            <a:off x="6286500" y="1397000"/>
            <a:ext cx="5334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945ED02-66AE-304F-83A2-363DC3BB808D}"/>
              </a:ext>
            </a:extLst>
          </p:cNvPr>
          <p:cNvSpPr/>
          <p:nvPr/>
        </p:nvSpPr>
        <p:spPr>
          <a:xfrm>
            <a:off x="6286500" y="1397000"/>
            <a:ext cx="5334000" cy="457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Fraud-sikring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95CF9253-5812-7542-9317-00031569A99B}"/>
              </a:ext>
            </a:extLst>
          </p:cNvPr>
          <p:cNvSpPr txBox="1"/>
          <p:nvPr/>
        </p:nvSpPr>
        <p:spPr>
          <a:xfrm>
            <a:off x="6477000" y="1968500"/>
            <a:ext cx="4953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Eliminerer ukjente SIM i omløp og stopper uautorisert trafikk umiddelbart via automatiserte alarmer.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86061B7E-ECF3-0130-EB25-6C9E1D08F3ED}"/>
              </a:ext>
            </a:extLst>
          </p:cNvPr>
          <p:cNvSpPr/>
          <p:nvPr/>
        </p:nvSpPr>
        <p:spPr>
          <a:xfrm>
            <a:off x="571500" y="3365500"/>
            <a:ext cx="5334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6C1BCDF0-69B7-D165-6275-151F7A96D0B6}"/>
              </a:ext>
            </a:extLst>
          </p:cNvPr>
          <p:cNvSpPr/>
          <p:nvPr/>
        </p:nvSpPr>
        <p:spPr>
          <a:xfrm>
            <a:off x="571500" y="3365500"/>
            <a:ext cx="5334000" cy="457200"/>
          </a:xfrm>
          <a:prstGeom prst="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Effektiv ressursbruk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DCAFDE35-2D5B-1410-A3C9-686EB4960AC8}"/>
              </a:ext>
            </a:extLst>
          </p:cNvPr>
          <p:cNvSpPr txBox="1"/>
          <p:nvPr/>
        </p:nvSpPr>
        <p:spPr>
          <a:xfrm>
            <a:off x="762000" y="3937000"/>
            <a:ext cx="4953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Erstatter manuelle regneark med automatiserte Looker dashboards og AI-assistert saksbehandling.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EE29A1B0-C779-CA7E-9CB0-4575850C2893}"/>
              </a:ext>
            </a:extLst>
          </p:cNvPr>
          <p:cNvSpPr/>
          <p:nvPr/>
        </p:nvSpPr>
        <p:spPr>
          <a:xfrm>
            <a:off x="6286500" y="3365500"/>
            <a:ext cx="5334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10570CC2-1397-E595-73A6-BEECA464686D}"/>
              </a:ext>
            </a:extLst>
          </p:cNvPr>
          <p:cNvSpPr/>
          <p:nvPr/>
        </p:nvSpPr>
        <p:spPr>
          <a:xfrm>
            <a:off x="6286500" y="3365500"/>
            <a:ext cx="5334000" cy="457200"/>
          </a:xfrm>
          <a:prstGeom prst="rect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Compliance &amp; Audit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B129B497-83C2-C83C-6739-6CD4CD444C37}"/>
              </a:ext>
            </a:extLst>
          </p:cNvPr>
          <p:cNvSpPr txBox="1"/>
          <p:nvPr/>
        </p:nvSpPr>
        <p:spPr>
          <a:xfrm>
            <a:off x="6477000" y="3937000"/>
            <a:ext cx="4953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Full etterlevelse av GIA-krav og ICFR NOR 72 med fullt automatisert revisjonsspor.</a:t>
            </a:r>
          </a:p>
        </p:txBody>
      </p:sp>
    </p:spTree>
    <p:extLst>
      <p:ext uri="{BB962C8B-B14F-4D97-AF65-F5344CB8AC3E}">
        <p14:creationId xmlns:p14="http://schemas.microsoft.com/office/powerpoint/2010/main" val="221281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80EABB7-C3F6-8C8B-7A34-6420688A7753}"/>
              </a:ext>
            </a:extLst>
          </p:cNvPr>
          <p:cNvSpPr/>
          <p:nvPr/>
        </p:nvSpPr>
        <p:spPr>
          <a:xfrm>
            <a:off x="571500" y="508000"/>
            <a:ext cx="2032000" cy="330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VEDTAKSPUNKTER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09F7B18D-553A-A01F-EEB3-A06903419C62}"/>
              </a:ext>
            </a:extLst>
          </p:cNvPr>
          <p:cNvSpPr txBox="1"/>
          <p:nvPr/>
        </p:nvSpPr>
        <p:spPr>
          <a:xfrm>
            <a:off x="508000" y="952500"/>
            <a:ext cx="1104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2400" b="1">
                <a:solidFill>
                  <a:srgbClr val="FFFFFF"/>
                </a:solidFill>
                <a:latin typeface="Segoe UI" panose="020B0502040204020203" pitchFamily="34" charset="0"/>
              </a:rPr>
              <a:t>Forslag til Beslutning for Ledelsen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C27AEE12-B830-594B-85E6-3F4AC5C4E41F}"/>
              </a:ext>
            </a:extLst>
          </p:cNvPr>
          <p:cNvSpPr/>
          <p:nvPr/>
        </p:nvSpPr>
        <p:spPr>
          <a:xfrm>
            <a:off x="571500" y="1651000"/>
            <a:ext cx="11049000" cy="457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23AE6CA1-C686-7CD5-C1C3-AF2E29962CBC}"/>
              </a:ext>
            </a:extLst>
          </p:cNvPr>
          <p:cNvSpPr txBox="1"/>
          <p:nvPr/>
        </p:nvSpPr>
        <p:spPr>
          <a:xfrm>
            <a:off x="825500" y="1841500"/>
            <a:ext cx="10541000" cy="28931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b-NO" sz="1300">
                <a:solidFill>
                  <a:srgbClr val="1E293B"/>
                </a:solidFill>
                <a:latin typeface="Segoe UI" panose="020B0502040204020203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Innføring av 6 mnd levetid for test-SIM:
Det innføres standard 6 måneders levetid og automatisk terminering for alle nye Test-1 abonnementer.
3. Google Cloud Looker &amp; Operativ forankring:
Google Cloud Looker etableres som offisiell oppfølgingsflate, og Customer Operations gis mandat til månedlige bulk-saneringer etter innspill fra SPOC-ene.
4. Oppstart av AI-agent pilot:
Det godkjennes igangsetting av pilot for AI-agentbasert datavask og kontroll av de 21 509 ustrukturerte testnumrene.</a:t>
            </a:r>
          </a:p>
        </p:txBody>
      </p:sp>
    </p:spTree>
    <p:extLst>
      <p:ext uri="{BB962C8B-B14F-4D97-AF65-F5344CB8AC3E}">
        <p14:creationId xmlns:p14="http://schemas.microsoft.com/office/powerpoint/2010/main" val="158605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Egendefinert</PresentationFormat>
  <Paragraphs>64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 Marstein</dc:creator>
  <cp:lastModifiedBy>Tor Marstein</cp:lastModifiedBy>
  <cp:revision>1</cp:revision>
  <dcterms:created xsi:type="dcterms:W3CDTF">2026-09-18T10:00:27Z</dcterms:created>
  <dcterms:modified xsi:type="dcterms:W3CDTF">2026-09-18T10:00:27Z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Office-tema:8</vt:lpwstr>
  </property>
  <property fmtid="{D5CDD505-2E9C-101B-9397-08002B2CF9AE}" pid="3" name="ClassificationContentMarkingFooterText">
    <vt:lpwstr>Sensitivity: Internal</vt:lpwstr>
  </property>
</Properties>
</file>