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TelenorEvolution PPT" pitchFamily="2" charset="0"/>
      <p:regular r:id="rId20"/>
      <p:bold r:id="rId21"/>
      <p:italic r:id="rId22"/>
      <p:boldItalic r:id="rId23"/>
    </p:embeddedFont>
    <p:embeddedFont>
      <p:font typeface="TelenorEvolutionPPT-Light" pitchFamily="2" charset="0"/>
      <p:regular r:id="rId24"/>
      <p:bold r:id="rId25"/>
      <p:italic r:id="rId26"/>
      <p:boldItalic r:id="rId27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1B0ABE67-6808-6E41-3344-159E7F3A64B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F1F2B44-E0A8-608E-C914-52921118726A}"/>
              </a:ext>
            </a:extLst>
          </p:cNvPr>
          <p:cNvSpPr/>
          <p:nvPr/>
        </p:nvSpPr>
        <p:spPr>
          <a:xfrm>
            <a:off x="635000" y="508000"/>
            <a:ext cx="2667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50" b="1">
                <a:solidFill>
                  <a:srgbClr val="FFFFFF"/>
                </a:solidFill>
                <a:latin typeface="Segoe UI" panose="020B0502040204020203" pitchFamily="34" charset="0"/>
              </a:rPr>
              <a:t>BESLUTNINGSUNDERLAG</a:t>
            </a:r>
            <a:endParaRPr lang="nb-NO" sz="105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3835C7B9-9F7C-10B9-D7CC-F4AF0F1B4884}"/>
              </a:ext>
            </a:extLst>
          </p:cNvPr>
          <p:cNvSpPr txBox="1"/>
          <p:nvPr/>
        </p:nvSpPr>
        <p:spPr>
          <a:xfrm>
            <a:off x="584200" y="939800"/>
            <a:ext cx="7915821" cy="46801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 og AI-agentstøtte for Free SIMs</a:t>
            </a:r>
            <a:endParaRPr kumimoji="0" lang="nb-NO" sz="30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903C6E74-EF13-7255-C98B-238D7B87F1F5}"/>
              </a:ext>
            </a:extLst>
          </p:cNvPr>
          <p:cNvSpPr txBox="1"/>
          <p:nvPr/>
        </p:nvSpPr>
        <p:spPr>
          <a:xfrm>
            <a:off x="609600" y="1727200"/>
            <a:ext cx="6792693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Styringsmodell for 135 281 abonnementer  |  Oppfølging av GIA Audit &amp; ICFR NOR 72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482AE9B-57AA-9E25-F87B-17722017ACB8}"/>
              </a:ext>
            </a:extLst>
          </p:cNvPr>
          <p:cNvSpPr/>
          <p:nvPr/>
        </p:nvSpPr>
        <p:spPr>
          <a:xfrm>
            <a:off x="609600" y="2311400"/>
            <a:ext cx="6350000" cy="387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454D8AE7-7CFD-4FED-DBD6-3A978B7BEDE7}"/>
              </a:ext>
            </a:extLst>
          </p:cNvPr>
          <p:cNvSpPr/>
          <p:nvPr/>
        </p:nvSpPr>
        <p:spPr>
          <a:xfrm>
            <a:off x="609600" y="2311400"/>
            <a:ext cx="6350000" cy="457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50" b="1">
                <a:solidFill>
                  <a:srgbClr val="FFFFFF"/>
                </a:solidFill>
                <a:latin typeface="Segoe UI" panose="020B0502040204020203" pitchFamily="34" charset="0"/>
              </a:rPr>
              <a:t>SAKSINNHOLD OG FORMÅL</a:t>
            </a:r>
            <a:endParaRPr lang="nb-NO" sz="115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8C2FC695-9392-DA78-893C-E440F77D40CB}"/>
              </a:ext>
            </a:extLst>
          </p:cNvPr>
          <p:cNvSpPr txBox="1"/>
          <p:nvPr/>
        </p:nvSpPr>
        <p:spPr>
          <a:xfrm>
            <a:off x="787400" y="2870200"/>
            <a:ext cx="5994400" cy="20993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Sak:
  Etablering av ny forvaltningsmodell og AI-agentbasert kontroll for mobilabonnementer dekket av Telenor Norge AS.
• Hovedformål:
  1. Bevise maskinelt at 113 772 logiske MBN/NC-nummer er gyldige og i aktiv kundebruk.
  2. Foreslå automatisk stenging av 'døde' numre og sanere 21 509 ustrukturerte test-SIM.
  3. Sikre Telenor mot inntektstap og oppnå 100 % revisjonssikkerhet.</a:t>
            </a:r>
            <a:endParaRPr kumimoji="0" lang="nb-NO" sz="12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E300B55A-3BCA-199F-0B60-C5508B8FFC2F}"/>
              </a:ext>
            </a:extLst>
          </p:cNvPr>
          <p:cNvSpPr/>
          <p:nvPr/>
        </p:nvSpPr>
        <p:spPr>
          <a:xfrm>
            <a:off x="7175500" y="2311400"/>
            <a:ext cx="4445000" cy="38735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1EBEE1DC-F1E1-77E1-7F1D-724DE2CA690A}"/>
              </a:ext>
            </a:extLst>
          </p:cNvPr>
          <p:cNvSpPr/>
          <p:nvPr/>
        </p:nvSpPr>
        <p:spPr>
          <a:xfrm>
            <a:off x="7175500" y="2311400"/>
            <a:ext cx="4445000" cy="457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50" b="1">
                <a:solidFill>
                  <a:srgbClr val="FFFFFF"/>
                </a:solidFill>
                <a:latin typeface="Segoe UI" panose="020B0502040204020203" pitchFamily="34" charset="0"/>
              </a:rPr>
              <a:t>ROLLER OG SAKSINFORMASJON</a:t>
            </a:r>
            <a:endParaRPr lang="nb-NO" sz="115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1872FCA8-C81D-2D80-155D-9F5E22702927}"/>
              </a:ext>
            </a:extLst>
          </p:cNvPr>
          <p:cNvSpPr txBox="1"/>
          <p:nvPr/>
        </p:nvSpPr>
        <p:spPr>
          <a:xfrm>
            <a:off x="7340600" y="2870200"/>
            <a:ext cx="4114800" cy="25225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Saksinnmelder:
   Tor Marstein (Telenor Business)
• Ansvarlige for kontrollen:
   - Tor Marstein (SPOC Business)
   - Geir Kolstad (SPOC Technology)
• Målgruppe:
   Ledelsen i Telenor Business / GIA Forum
• Dato &amp; Status:
   18. september 2026  |  Til beslutning</a:t>
            </a:r>
            <a:endParaRPr kumimoji="0" lang="nb-NO" sz="12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31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E06A441-EC32-E2E4-1677-636AE382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2165A7D5-0BE6-7AB3-FB50-E8EF2D78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02FDDF29-0173-07C9-1E0D-FD5634B8943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005FC103-3638-B87F-DE8E-23DA153E3236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3AFEBFE6-2CEA-F200-EFFE-E328B2F06160}"/>
              </a:ext>
            </a:extLst>
          </p:cNvPr>
          <p:cNvSpPr txBox="1"/>
          <p:nvPr/>
        </p:nvSpPr>
        <p:spPr>
          <a:xfrm>
            <a:off x="533400" y="558800"/>
            <a:ext cx="619131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Hvorfor kreves det et nytt forvaltningsregime?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7D57A03E-0583-8DC4-6FBF-98F903C7CBC0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BC227A7-C895-C61E-28F1-4AAC4193D3B9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Styringskrav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B2C7AF51-BEBF-2000-41F0-EC8A566113ED}"/>
              </a:ext>
            </a:extLst>
          </p:cNvPr>
          <p:cNvSpPr txBox="1"/>
          <p:nvPr/>
        </p:nvSpPr>
        <p:spPr>
          <a:xfrm>
            <a:off x="762000" y="1841500"/>
            <a:ext cx="4953000" cy="21142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GIA Audit: Avdekket behov for vesentlig forbedret formålssporing og kostnadskontroll på SIM dekket av Telenor Norge.
• ICFR NOR 72: Pålegger årlig CxO-verifisering av oppnevnte divisjons-SPOC-er og kvartalsvise kontroller.
• 135 000+ abonnementer: Ligger i dag spredt over mer enn 1 300 kontoer uten helautomatisk bevisføring på gyldighet.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5BAB0F40-E145-991F-C0AB-2EB8B9B96FA5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5B4BE992-C3DC-79BE-36C6-1DA8F02DA763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Identifiserte Hovedrisikoer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92EAE9A-C193-80CD-5BE5-2A3564C3D5F8}"/>
              </a:ext>
            </a:extLst>
          </p:cNvPr>
          <p:cNvSpPr txBox="1"/>
          <p:nvPr/>
        </p:nvSpPr>
        <p:spPr>
          <a:xfrm>
            <a:off x="6477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'Døde' MBN/NC-nummer:
Logiske nummer som henger igjen etter opphørte kundeforhold eller avtalenedgraderinger.
2. Økonomisk eksponering:
Risiko for at Telenor dekker abonnementer som burde vært viderefakturert kunder eller stengt.
3. Sikkerhet &amp; Fraud:
Test-SIM i omløp uten aktiv kontrolleier eller tidsbegrensning.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0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DE7BF7-04AD-1DF9-C995-1D352CF14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FFB9CE51-D7E4-6E57-658C-B51D6ED2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3471AA9-5E6E-66D9-971B-0EB37957A82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60E1D42-CE3F-CE4A-3EB0-BD0E504063FD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6D474CB-360A-8EF9-F444-EA85410050CB}"/>
              </a:ext>
            </a:extLst>
          </p:cNvPr>
          <p:cNvSpPr txBox="1"/>
          <p:nvPr/>
        </p:nvSpPr>
        <p:spPr>
          <a:xfrm>
            <a:off x="533400" y="558800"/>
            <a:ext cx="72823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Dagens nummerbase: 135 281 Free SIM-abonnementer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275E429A-F6E7-D522-99E1-88F39EE22572}"/>
              </a:ext>
            </a:extLst>
          </p:cNvPr>
          <p:cNvSpPr/>
          <p:nvPr/>
        </p:nvSpPr>
        <p:spPr>
          <a:xfrm>
            <a:off x="571500" y="11430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5BDFD5E2-4CA0-8A19-F8A4-696144D948EB}"/>
              </a:ext>
            </a:extLst>
          </p:cNvPr>
          <p:cNvSpPr txBox="1"/>
          <p:nvPr/>
        </p:nvSpPr>
        <p:spPr>
          <a:xfrm>
            <a:off x="698500" y="1244600"/>
            <a:ext cx="2125454" cy="10309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4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B48B764-4B86-A5A5-2551-D35A3B4171E9}"/>
              </a:ext>
            </a:extLst>
          </p:cNvPr>
          <p:cNvSpPr/>
          <p:nvPr/>
        </p:nvSpPr>
        <p:spPr>
          <a:xfrm>
            <a:off x="4381500" y="11430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80D6AD2C-5524-AD89-83B4-77192C6C8051}"/>
              </a:ext>
            </a:extLst>
          </p:cNvPr>
          <p:cNvSpPr txBox="1"/>
          <p:nvPr/>
        </p:nvSpPr>
        <p:spPr>
          <a:xfrm>
            <a:off x="4508500" y="1244600"/>
            <a:ext cx="2705869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Logiske nummer (MBN/NC)
Krever gyldighetsbevis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1235159A-3A93-7EC4-69C1-08787FF6FC63}"/>
              </a:ext>
            </a:extLst>
          </p:cNvPr>
          <p:cNvSpPr/>
          <p:nvPr/>
        </p:nvSpPr>
        <p:spPr>
          <a:xfrm>
            <a:off x="8191500" y="11430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692CC1E6-B584-36C3-E32B-139911E23435}"/>
              </a:ext>
            </a:extLst>
          </p:cNvPr>
          <p:cNvSpPr txBox="1"/>
          <p:nvPr/>
        </p:nvSpPr>
        <p:spPr>
          <a:xfrm>
            <a:off x="8318500" y="1244600"/>
            <a:ext cx="2484655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Ustrukturerte test/drift
Krever datavask &amp; kontroll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3387B9F2-7EC5-7A7C-FAFD-F1DE794332AC}"/>
              </a:ext>
            </a:extLst>
          </p:cNvPr>
          <p:cNvSpPr/>
          <p:nvPr/>
        </p:nvSpPr>
        <p:spPr>
          <a:xfrm>
            <a:off x="571500" y="3048000"/>
            <a:ext cx="11049000" cy="3365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DCA384C3-FF20-35A6-B6A1-6C8BFAB402E7}"/>
              </a:ext>
            </a:extLst>
          </p:cNvPr>
          <p:cNvSpPr/>
          <p:nvPr/>
        </p:nvSpPr>
        <p:spPr>
          <a:xfrm>
            <a:off x="571500" y="3048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Oppfølgings- og Kontrollfokus per Hovedgruppe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A995F6CE-029A-6FDD-06B5-39C3DBDF6A5D}"/>
              </a:ext>
            </a:extLst>
          </p:cNvPr>
          <p:cNvSpPr txBox="1"/>
          <p:nvPr/>
        </p:nvSpPr>
        <p:spPr>
          <a:xfrm>
            <a:off x="825500" y="3683000"/>
            <a:ext cx="10541000" cy="12080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84 % (MBN &amp; Nordic Connect): Logiske nummer for sentralbord, køer og svargrupper. AI-agenter etablerer kontinuerlig kryssvalidering mot aktive kundeavtaler for å bevise gyldighet og foreslå stenging av foreldreløse nummer (Krav 1).
• 16 % (Test- og Drifts-SIM): 21 509 fysiske SIM-kort fordelt på IT-test, kritiske drift-SIM og utstyr. AI-agenter gjennomfører datavask, avdekker inaktivitet &gt; 6 mnd og genererer forslag til sanering.</a:t>
            </a:r>
            <a:endParaRPr kumimoji="0" lang="nb-NO" sz="14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4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FE93795-C176-474C-268A-131C63C5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61F697C8-0756-AEBB-7215-BEA8BD43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5E4DBD5-7E98-5384-C652-5B0BC146C6B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0629A44-F9C1-32D9-566D-9AD757391469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534FF360-1051-63D9-18E1-708F520A85F6}"/>
              </a:ext>
            </a:extLst>
          </p:cNvPr>
          <p:cNvSpPr txBox="1"/>
          <p:nvPr/>
        </p:nvSpPr>
        <p:spPr>
          <a:xfrm>
            <a:off x="533400" y="558800"/>
            <a:ext cx="7798417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Forvaltningsmodellen: Prevent ➔ Detect ➔ Act ➔ Improve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0A41234-6A00-8F6C-9D48-7994D937729F}"/>
              </a:ext>
            </a:extLst>
          </p:cNvPr>
          <p:cNvSpPr/>
          <p:nvPr/>
        </p:nvSpPr>
        <p:spPr>
          <a:xfrm>
            <a:off x="571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5375BD31-2BB1-29F9-BCDA-B11D6B2AEF1F}"/>
              </a:ext>
            </a:extLst>
          </p:cNvPr>
          <p:cNvSpPr/>
          <p:nvPr/>
        </p:nvSpPr>
        <p:spPr>
          <a:xfrm>
            <a:off x="571500" y="1206500"/>
            <a:ext cx="2667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F630620B-0485-949F-40E7-7DD63B1117CC}"/>
              </a:ext>
            </a:extLst>
          </p:cNvPr>
          <p:cNvSpPr txBox="1"/>
          <p:nvPr/>
        </p:nvSpPr>
        <p:spPr>
          <a:xfrm>
            <a:off x="698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Opprettelse KUN på godkjente kontoer
• Kobling til aktiv MBN/NC-avtale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749C7584-C5F2-47C3-AB92-E6FB24B48703}"/>
              </a:ext>
            </a:extLst>
          </p:cNvPr>
          <p:cNvSpPr/>
          <p:nvPr/>
        </p:nvSpPr>
        <p:spPr>
          <a:xfrm>
            <a:off x="3365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38841B36-C94B-67EE-FF5C-62976FAF1CC8}"/>
              </a:ext>
            </a:extLst>
          </p:cNvPr>
          <p:cNvSpPr/>
          <p:nvPr/>
        </p:nvSpPr>
        <p:spPr>
          <a:xfrm>
            <a:off x="3365500" y="1206500"/>
            <a:ext cx="2667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56A17571-31CD-EFD0-55CF-C1F0DD67DEAC}"/>
              </a:ext>
            </a:extLst>
          </p:cNvPr>
          <p:cNvSpPr txBox="1"/>
          <p:nvPr/>
        </p:nvSpPr>
        <p:spPr>
          <a:xfrm>
            <a:off x="3492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Kontinuerlig gyldighetsbevis på MBN/NC
• Avdekking av 'døde' logiske nr
• Automatiske avviksalarmer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8C029E29-921B-66AB-7B09-008D97873B20}"/>
              </a:ext>
            </a:extLst>
          </p:cNvPr>
          <p:cNvSpPr/>
          <p:nvPr/>
        </p:nvSpPr>
        <p:spPr>
          <a:xfrm>
            <a:off x="6159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3AD60313-562F-8399-C477-C6CCACEC4656}"/>
              </a:ext>
            </a:extLst>
          </p:cNvPr>
          <p:cNvSpPr/>
          <p:nvPr/>
        </p:nvSpPr>
        <p:spPr>
          <a:xfrm>
            <a:off x="6159500" y="1206500"/>
            <a:ext cx="2667000" cy="50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3F953AF5-2CC0-C782-330A-270BBAA4B1DA}"/>
              </a:ext>
            </a:extLst>
          </p:cNvPr>
          <p:cNvSpPr txBox="1"/>
          <p:nvPr/>
        </p:nvSpPr>
        <p:spPr>
          <a:xfrm>
            <a:off x="6286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AI-forslag til stenging av ugyldige nr
• Verifisering av divisjons-SPOC
• Månedlig bulk-terminering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02324D8B-780D-730E-7B12-ADDBCD0D34DE}"/>
              </a:ext>
            </a:extLst>
          </p:cNvPr>
          <p:cNvSpPr/>
          <p:nvPr/>
        </p:nvSpPr>
        <p:spPr>
          <a:xfrm>
            <a:off x="8953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074A1865-0649-852D-1134-F66C6C03ADED}"/>
              </a:ext>
            </a:extLst>
          </p:cNvPr>
          <p:cNvSpPr/>
          <p:nvPr/>
        </p:nvSpPr>
        <p:spPr>
          <a:xfrm>
            <a:off x="8953500" y="1206500"/>
            <a:ext cx="2667000" cy="50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C954462D-FB31-DB5F-2D14-360EC785242C}"/>
              </a:ext>
            </a:extLst>
          </p:cNvPr>
          <p:cNvSpPr txBox="1"/>
          <p:nvPr/>
        </p:nvSpPr>
        <p:spPr>
          <a:xfrm>
            <a:off x="9080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Måling av løsningstid (MTTR)
• Dokumenterte revisjonsbevis
• Sikring mot inntektslekkasje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96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2976987-0E31-E110-9F50-77724FE0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6203BAC0-8137-A92F-E533-CA2E5BAB1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6B7A523-0C0F-CD0D-3110-D4BF45A79A7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B663FBD-1C39-8AC2-8767-C6946CD5870F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F11C596D-53B4-5B40-DBB5-B9F04F3BE17E}"/>
              </a:ext>
            </a:extLst>
          </p:cNvPr>
          <p:cNvSpPr txBox="1"/>
          <p:nvPr/>
        </p:nvSpPr>
        <p:spPr>
          <a:xfrm>
            <a:off x="533400" y="558800"/>
            <a:ext cx="578075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6 ufravikelige forvaltningskrav for Free SIM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5280B9D-7607-F664-8A96-E6C2EC259B6B}"/>
              </a:ext>
            </a:extLst>
          </p:cNvPr>
          <p:cNvSpPr/>
          <p:nvPr/>
        </p:nvSpPr>
        <p:spPr>
          <a:xfrm>
            <a:off x="571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820A7546-EDD2-27D2-BE38-AE5CCD9EA025}"/>
              </a:ext>
            </a:extLst>
          </p:cNvPr>
          <p:cNvSpPr/>
          <p:nvPr/>
        </p:nvSpPr>
        <p:spPr>
          <a:xfrm>
            <a:off x="723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C90B46A5-4E9A-6B82-9636-F2DDD5FBEC37}"/>
              </a:ext>
            </a:extLst>
          </p:cNvPr>
          <p:cNvSpPr txBox="1"/>
          <p:nvPr/>
        </p:nvSpPr>
        <p:spPr>
          <a:xfrm>
            <a:off x="1841500" y="1308100"/>
            <a:ext cx="272831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Bevist kundebetaling (MBN/NC)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85133FEB-DEEE-CD05-7202-DF16437AE9AD}"/>
              </a:ext>
            </a:extLst>
          </p:cNvPr>
          <p:cNvSpPr txBox="1"/>
          <p:nvPr/>
        </p:nvSpPr>
        <p:spPr>
          <a:xfrm>
            <a:off x="723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Maskinell kobling som beviser at logiske MBN/NC-nummer dekkes av en gyldig kundeavtale, med automatisk stenging ved opphør.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17EDAEF2-FB9D-F021-9CD3-94AFDC7AA7F9}"/>
              </a:ext>
            </a:extLst>
          </p:cNvPr>
          <p:cNvSpPr/>
          <p:nvPr/>
        </p:nvSpPr>
        <p:spPr>
          <a:xfrm>
            <a:off x="6286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1F197257-B20F-7375-6FBD-30B987358125}"/>
              </a:ext>
            </a:extLst>
          </p:cNvPr>
          <p:cNvSpPr/>
          <p:nvPr/>
        </p:nvSpPr>
        <p:spPr>
          <a:xfrm>
            <a:off x="6438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BC01A92E-EC61-D60B-84B6-845B7CA0A663}"/>
              </a:ext>
            </a:extLst>
          </p:cNvPr>
          <p:cNvSpPr txBox="1"/>
          <p:nvPr/>
        </p:nvSpPr>
        <p:spPr>
          <a:xfrm>
            <a:off x="7556500" y="1308100"/>
            <a:ext cx="2325124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2E3E8AB8-9118-1FBC-0600-591E84CAE204}"/>
              </a:ext>
            </a:extLst>
          </p:cNvPr>
          <p:cNvSpPr txBox="1"/>
          <p:nvPr/>
        </p:nvSpPr>
        <p:spPr>
          <a:xfrm>
            <a:off x="6438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8A79EAC3-36EE-988A-6708-147ED658784E}"/>
              </a:ext>
            </a:extLst>
          </p:cNvPr>
          <p:cNvSpPr/>
          <p:nvPr/>
        </p:nvSpPr>
        <p:spPr>
          <a:xfrm>
            <a:off x="571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F3D463A-1E31-0406-CAB8-4C7391E21CE3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9B46351E-2FBB-DA65-17CC-E6F55C147DB0}"/>
              </a:ext>
            </a:extLst>
          </p:cNvPr>
          <p:cNvSpPr txBox="1"/>
          <p:nvPr/>
        </p:nvSpPr>
        <p:spPr>
          <a:xfrm>
            <a:off x="1841500" y="3086100"/>
            <a:ext cx="2202719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777CB74D-6923-0E33-1DA7-C4D68604C678}"/>
              </a:ext>
            </a:extLst>
          </p:cNvPr>
          <p:cNvSpPr txBox="1"/>
          <p:nvPr/>
        </p:nvSpPr>
        <p:spPr>
          <a:xfrm>
            <a:off x="723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B2A9D498-CAF6-32A0-B568-F381BB4DF222}"/>
              </a:ext>
            </a:extLst>
          </p:cNvPr>
          <p:cNvSpPr/>
          <p:nvPr/>
        </p:nvSpPr>
        <p:spPr>
          <a:xfrm>
            <a:off x="6286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5E8D0A39-50E0-D640-2A07-A9F0B1CF3EE4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E3A0CDD7-06F4-9316-6040-935ED9EB5901}"/>
              </a:ext>
            </a:extLst>
          </p:cNvPr>
          <p:cNvSpPr txBox="1"/>
          <p:nvPr/>
        </p:nvSpPr>
        <p:spPr>
          <a:xfrm>
            <a:off x="7556500" y="3086100"/>
            <a:ext cx="2209772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377225C0-E383-DCA2-24EB-834E823A2FBC}"/>
              </a:ext>
            </a:extLst>
          </p:cNvPr>
          <p:cNvSpPr txBox="1"/>
          <p:nvPr/>
        </p:nvSpPr>
        <p:spPr>
          <a:xfrm>
            <a:off x="6438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E0EE2C6A-B33A-2C1B-4D27-ED58B8D80B7F}"/>
              </a:ext>
            </a:extLst>
          </p:cNvPr>
          <p:cNvSpPr/>
          <p:nvPr/>
        </p:nvSpPr>
        <p:spPr>
          <a:xfrm>
            <a:off x="571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0F577FFE-F342-FAA2-702A-A467F5A9E393}"/>
              </a:ext>
            </a:extLst>
          </p:cNvPr>
          <p:cNvSpPr/>
          <p:nvPr/>
        </p:nvSpPr>
        <p:spPr>
          <a:xfrm>
            <a:off x="723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559F07F5-0CDD-3DF7-1E9E-41604B58B37A}"/>
              </a:ext>
            </a:extLst>
          </p:cNvPr>
          <p:cNvSpPr txBox="1"/>
          <p:nvPr/>
        </p:nvSpPr>
        <p:spPr>
          <a:xfrm>
            <a:off x="1841500" y="4864100"/>
            <a:ext cx="1897507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33D0A074-CDFC-5BF9-1A8F-4F9F9ED968E6}"/>
              </a:ext>
            </a:extLst>
          </p:cNvPr>
          <p:cNvSpPr txBox="1"/>
          <p:nvPr/>
        </p:nvSpPr>
        <p:spPr>
          <a:xfrm>
            <a:off x="723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56D8D321-8917-AD25-E47A-5797404C399F}"/>
              </a:ext>
            </a:extLst>
          </p:cNvPr>
          <p:cNvSpPr/>
          <p:nvPr/>
        </p:nvSpPr>
        <p:spPr>
          <a:xfrm>
            <a:off x="6286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B208D0B2-209A-A556-121F-6E6C24078C15}"/>
              </a:ext>
            </a:extLst>
          </p:cNvPr>
          <p:cNvSpPr/>
          <p:nvPr/>
        </p:nvSpPr>
        <p:spPr>
          <a:xfrm>
            <a:off x="6438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2430CFA7-E49F-870C-4A90-2222573927CC}"/>
              </a:ext>
            </a:extLst>
          </p:cNvPr>
          <p:cNvSpPr txBox="1"/>
          <p:nvPr/>
        </p:nvSpPr>
        <p:spPr>
          <a:xfrm>
            <a:off x="7556500" y="4864100"/>
            <a:ext cx="249876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75C7D4CA-64B9-981A-E419-86934A572DD6}"/>
              </a:ext>
            </a:extLst>
          </p:cNvPr>
          <p:cNvSpPr txBox="1"/>
          <p:nvPr/>
        </p:nvSpPr>
        <p:spPr>
          <a:xfrm>
            <a:off x="6438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Strengere prevent-detect-act oppfølging for kritiske drifts- og nettverks-SIM.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01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A18C86D-72B7-3F87-9481-5DD54A5F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CC470EB5-F810-602E-FF8F-D3E1E2A3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913F37E2-0A74-116B-075C-DA9EC0B429D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15A4C99-1AD2-235B-5104-6772A433D779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EBB5B4B6-9DBA-035C-B2CE-9DE66597653A}"/>
              </a:ext>
            </a:extLst>
          </p:cNvPr>
          <p:cNvSpPr txBox="1"/>
          <p:nvPr/>
        </p:nvSpPr>
        <p:spPr>
          <a:xfrm>
            <a:off x="533400" y="558800"/>
            <a:ext cx="8230908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AI-agentenes kjerneoppgaver: MBN/NC-validering &amp; Testvask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9F484E3-972D-1639-60B8-ABD3C0BE1D8F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2E37581-AD5B-422C-A2E5-A6CF3C7388A7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1. Gyldighetsbevis for MBN/NC (113 772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FB39FF1-8AD5-7129-2CF6-242D15F85DCF}"/>
              </a:ext>
            </a:extLst>
          </p:cNvPr>
          <p:cNvSpPr txBox="1"/>
          <p:nvPr/>
        </p:nvSpPr>
        <p:spPr>
          <a:xfrm>
            <a:off x="762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Kontinuerlig avstemming:
AI-agenten kryss-sjekker daglig alle logiske nummer mot bedriftsavtaler og fakturasystemer.
• Bevisføring for revisjon:
Genererer dokumentert bevis på at hvert logisk nummer er knyttet til et aktivt kundeforhold.
• Forslag om stenging:
Identifiserer foreldreløse nummer etter oppsagte avtaler og foreslår automatisk stenging/sanering.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0606536E-A440-0F4F-ACFA-61D59620BDFC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672B3701-2447-4C8E-01B5-B035DA29A7AE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n-NO" sz="1400" b="1">
                <a:solidFill>
                  <a:srgbClr val="FFFFFF"/>
                </a:solidFill>
                <a:latin typeface="Segoe UI" panose="020B0502040204020203" pitchFamily="34" charset="0"/>
              </a:rPr>
              <a:t>2. Datavask av Test- &amp; Drifts-SIM (21 509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B41B176B-6F8C-5AD3-A3DC-CEECDB05B703}"/>
              </a:ext>
            </a:extLst>
          </p:cNvPr>
          <p:cNvSpPr txBox="1"/>
          <p:nvPr/>
        </p:nvSpPr>
        <p:spPr>
          <a:xfrm>
            <a:off x="6477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Formålsklassifisering:
Grupperer ustrukturerte SIM inn i godkjente kategorier basert på historikk og bruksmønster.
• Inaktivitetsanalyse:
Flagger 'døde' testkort uten trafikk &gt; 6 mnd for umiddelbar terminering.
• Saneringsordre:
Overfører ferdige bulk-lister direkte til Customer Operations (Rørvik) for sletting.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96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55A620-7DFB-F126-2A48-41F09617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71036579-05FE-1686-94A5-6C11407F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0081CE5-5D57-55A5-6BD5-539AE2A82B2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9D47327-D30A-F711-0642-919327DB724F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CAA86342-B12B-37F2-116F-F0AB6031244E}"/>
              </a:ext>
            </a:extLst>
          </p:cNvPr>
          <p:cNvSpPr txBox="1"/>
          <p:nvPr/>
        </p:nvSpPr>
        <p:spPr>
          <a:xfrm>
            <a:off x="533400" y="558800"/>
            <a:ext cx="60376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n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Styringsstruktur og forankring (ICFR NOR 72)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D7A9414C-887B-7A00-A30D-F65D722F42D8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4A932A0B-279B-D596-05A1-152663BFC9C9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per divisjon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073B840F-A867-F34F-05E4-7BBBCA2815DE}"/>
              </a:ext>
            </a:extLst>
          </p:cNvPr>
          <p:cNvSpPr txBox="1"/>
          <p:nvPr/>
        </p:nvSpPr>
        <p:spPr>
          <a:xfrm>
            <a:off x="825500" y="1841500"/>
            <a:ext cx="10541000" cy="35362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Business: Tor Marstein  (CxO: Torfinn Eriksen / Nikolay / Annelene) — Eier MBN/NC &amp; B2B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28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6024DE-9DEF-BA98-08DC-7581328D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1D20AC62-BE9A-1C90-DABA-C8F9F4E5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E96714E-82B3-A3A7-AA2D-591C5545148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834BCD9-F393-49E9-D143-22D24C55E2B1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627D4701-9F08-E7B2-0194-50F308FB7493}"/>
              </a:ext>
            </a:extLst>
          </p:cNvPr>
          <p:cNvSpPr txBox="1"/>
          <p:nvPr/>
        </p:nvSpPr>
        <p:spPr>
          <a:xfrm>
            <a:off x="533400" y="558800"/>
            <a:ext cx="6250044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Forventede effekter av nytt forvaltningsregime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0515EC1-C0D1-7ECB-D002-6220475A7637}"/>
              </a:ext>
            </a:extLst>
          </p:cNvPr>
          <p:cNvSpPr/>
          <p:nvPr/>
        </p:nvSpPr>
        <p:spPr>
          <a:xfrm>
            <a:off x="571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64CF7A1C-C5D9-F06F-13D1-EED9F4E85D85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Inntektssikring &amp; Sanering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36C68FB0-1787-1DD0-BA6B-62CAD562443E}"/>
              </a:ext>
            </a:extLst>
          </p:cNvPr>
          <p:cNvSpPr txBox="1"/>
          <p:nvPr/>
        </p:nvSpPr>
        <p:spPr>
          <a:xfrm>
            <a:off x="762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stenging av ugyldige MBN/NC-nummer og ubrukte testkort gir umiddelbare kostnadskutt og ryddig fakturering.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B6DF35B9-B150-6C97-4804-7E672DD25AA3}"/>
              </a:ext>
            </a:extLst>
          </p:cNvPr>
          <p:cNvSpPr/>
          <p:nvPr/>
        </p:nvSpPr>
        <p:spPr>
          <a:xfrm>
            <a:off x="6286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C57A09F5-CC67-174D-E971-88A29FAA8BF0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Revisjonsbevis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4E572E9F-9609-AE46-6B17-4CA55194F859}"/>
              </a:ext>
            </a:extLst>
          </p:cNvPr>
          <p:cNvSpPr txBox="1"/>
          <p:nvPr/>
        </p:nvSpPr>
        <p:spPr>
          <a:xfrm>
            <a:off x="6477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Kontinuerlig maskinell bevisføring for GIA og ICFR NOR 72 på at alle aktive nummer har gyldig formål.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C4C777E-124E-0C6C-201E-B34600C84C83}"/>
              </a:ext>
            </a:extLst>
          </p:cNvPr>
          <p:cNvSpPr/>
          <p:nvPr/>
        </p:nvSpPr>
        <p:spPr>
          <a:xfrm>
            <a:off x="571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2A073C83-E7DC-5F01-7F7D-C06C55431CD5}"/>
              </a:ext>
            </a:extLst>
          </p:cNvPr>
          <p:cNvSpPr/>
          <p:nvPr/>
        </p:nvSpPr>
        <p:spPr>
          <a:xfrm>
            <a:off x="571500" y="3302000"/>
            <a:ext cx="5334000" cy="482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Eliminering av Manuelt Arbeid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CF91E0C0-37DF-FD51-51A3-9E0283470392}"/>
              </a:ext>
            </a:extLst>
          </p:cNvPr>
          <p:cNvSpPr txBox="1"/>
          <p:nvPr/>
        </p:nvSpPr>
        <p:spPr>
          <a:xfrm>
            <a:off x="762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Erstatter tunge regnearkkontroller med AI-agenter og Google Cloud Looker avvikslister.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AC6D358C-98F5-BD4A-26CA-38E00C319A44}"/>
              </a:ext>
            </a:extLst>
          </p:cNvPr>
          <p:cNvSpPr/>
          <p:nvPr/>
        </p:nvSpPr>
        <p:spPr>
          <a:xfrm>
            <a:off x="6286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B08E611B-AE9D-0547-9F5A-A6E3A24B8BB8}"/>
              </a:ext>
            </a:extLst>
          </p:cNvPr>
          <p:cNvSpPr/>
          <p:nvPr/>
        </p:nvSpPr>
        <p:spPr>
          <a:xfrm>
            <a:off x="6286500" y="3302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 og Risikokontroll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27E1CFF6-ED78-FC57-4D34-1E50BDF80909}"/>
              </a:ext>
            </a:extLst>
          </p:cNvPr>
          <p:cNvSpPr txBox="1"/>
          <p:nvPr/>
        </p:nvSpPr>
        <p:spPr>
          <a:xfrm>
            <a:off x="6477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Full sperre mot uautoriserte SIM i drift og automatisk varsling ved uventet trafikk.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82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558FE300-2668-9DB5-228E-316EC3BF59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B25ECD17-E00E-5220-A82D-CFF1E85D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60A214DD-FF13-FAE6-53B6-95AFA3DBB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BAB5F84-1E3E-36BC-0612-8EB09360380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C4388F06-34EA-DB2B-B06F-295B16D69AC4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FC079D5-CE49-57F0-B28A-98C06ED5FC2D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701D105D-D394-C52B-A511-991D464C394D}"/>
              </a:ext>
            </a:extLst>
          </p:cNvPr>
          <p:cNvSpPr txBox="1"/>
          <p:nvPr/>
        </p:nvSpPr>
        <p:spPr>
          <a:xfrm>
            <a:off x="825500" y="1841500"/>
            <a:ext cx="10541000" cy="3638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AI-agent mandat for MBN/NC-gyldighet &amp; stenging:
Det godkjennes at AI-agenter etablerer kontrollmekanismer for løpende gyldighetsbevis for 113 772 logiske nummer på MBN/NC, samt genererer forslag om automatisk stenging av ugyldige nummer.
3. Innføring av 6 mnd levetid for test-SIM:
Det innføres standard 6 måneders levetid og automatisk terminering for alle nye Test-1 abonnementer.
4. Looker &amp; Customer Operations forankring:
Google Cloud Looker etableres som offisiell oppfølgingsflate, og Customer Operations (Rørvik) gis mandat til månedlige bulk-saneringer etter forslag fra AI-agenter og SPOC-ene.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1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1224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5" baseType="lpstr">
      <vt:lpstr>Segoe UI</vt:lpstr>
      <vt:lpstr>Arial</vt:lpstr>
      <vt:lpstr>TelenorEvolutionPPT-Light</vt:lpstr>
      <vt:lpstr>TelenorEvolution PPT</vt:lpstr>
      <vt:lpstr>Calibri</vt:lpstr>
      <vt:lpstr>Telenor 2025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2026-09-18T10:36:33Z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