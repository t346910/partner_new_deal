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0CE3891-244E-908C-6AEC-4B21ECFAD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E47013A1-5412-4335-327D-06F5FC68C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D3A9AC8-D114-E088-59C9-08C27F98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E1EB-DCFC-4123-A52D-B5F056770337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05340B8-53CC-DDBB-E5EA-DD52FF62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BC035EC-B5FD-2DAA-294E-8F90798A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E4157-9D07-445F-BC97-8FE2F847158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84073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6166F9A-3903-E77C-18D7-DE6E9087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6A4A97F-1AC5-BEAB-BDEC-C34C92B2E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741A4E3-A454-DFCB-D233-68A7B0128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E1EB-DCFC-4123-A52D-B5F056770337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D08DAF9-AC0D-08A2-6478-3F26388AD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F9A6033-2D83-B4C4-4E13-DBAB5518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E4157-9D07-445F-BC97-8FE2F847158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7093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F4A5954-5A9B-21F7-CB1B-152785DB1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55E38FC4-CBDD-65AD-6503-BCDE610BB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43C7DDC-50AC-47DD-BD60-E511DCDB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E1EB-DCFC-4123-A52D-B5F056770337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6EC50F9-CF0F-9AE9-FE87-986F5827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9F52E67-248C-0628-775C-EACC29E95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E4157-9D07-445F-BC97-8FE2F847158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33559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EB46F26-D299-126C-F77A-4926DC4F3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6BDA2C4-5E04-D87D-F0B2-24BBA6D36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BD1CB93-3183-A43B-4281-904BEC428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C8D12EA6-CE5A-0874-F260-6B9789C44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E1EB-DCFC-4123-A52D-B5F056770337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8E0377FA-08A3-F589-8AA1-E7D3E2A2F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AF236417-9C74-16DA-50F4-2F378BB43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E4157-9D07-445F-BC97-8FE2F847158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7028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6BE8DB8-59ED-8113-1C0E-AC55D3CBA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AFC0234D-2ECD-3384-BE9B-B50A9F31F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0715DF8B-2DFE-1494-B897-A9488B418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CFB841C3-5F82-353D-193D-6B877F9BE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018D744A-13BD-2AE2-3140-2CF62DE6C6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B39A3DCD-E04E-A4A4-F8A8-820578DE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E1EB-DCFC-4123-A52D-B5F056770337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39E8FE6B-B91A-46BC-18F5-D7FCE6890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3D8B7433-CA6C-B70F-A3E1-C4536F9E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E4157-9D07-445F-BC97-8FE2F847158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2527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B3E01DC-4234-3574-294E-D259F6D2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301548AE-B15E-08A9-F7E1-AEFAF0536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E1EB-DCFC-4123-A52D-B5F056770337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702EA3AE-45AF-0D8D-5B18-E1E476BB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322BFD16-D6FB-2628-E467-568E7907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E4157-9D07-445F-BC97-8FE2F847158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738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DF5CA300-8E78-DBE1-814B-FB7CDC4AE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E1EB-DCFC-4123-A52D-B5F056770337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283A8284-4C18-A804-A1DF-3C78B52E8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0D8768F-056B-1C58-58B4-94496A06F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E4157-9D07-445F-BC97-8FE2F847158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3574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8D0A562-10BE-DF15-3CC0-040B7F4EE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08DA619-DF1C-4370-A2A6-8FB178EEF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AB24A3EB-9E5F-B1B5-1A08-042CBB01E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C36B7614-F5E2-0326-BD52-4BFC2481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E1EB-DCFC-4123-A52D-B5F056770337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A031AE9D-ABAE-511A-CF5D-BE66B328B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3734026B-313E-5415-0ECC-B2032D098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E4157-9D07-445F-BC97-8FE2F847158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68583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89C54FE-1888-733C-6FE0-484B2EBD9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50EA0995-B73A-73A4-E855-37B40D8D99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40756FD5-0990-B013-8012-212E77EE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E7E7670-A6FC-9D37-C3C1-B4D5F4FE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E1EB-DCFC-4123-A52D-B5F056770337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52AEB4A8-78EF-25C2-276D-B0B130233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8A058A1-E3A0-30C1-FFF7-10BEE4659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E4157-9D07-445F-BC97-8FE2F847158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69135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90A8964-3750-BD13-6E22-4B1D1420D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0BF97A26-F661-BFA9-F25B-9973603AA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B2DC113-89BD-393F-CC12-521A4C026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E1EB-DCFC-4123-A52D-B5F056770337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AE17D07-71EB-2989-3FB8-D7F21029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8691519-3271-8B4D-A988-A80DBCC2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E4157-9D07-445F-BC97-8FE2F847158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06797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1A650128-41BA-50F6-7D7C-B90B58AA1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DC3AF0E2-8B95-70A7-9FD1-895437A70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36012D6-B861-0E79-7F6F-F2DA7B50E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E1EB-DCFC-4123-A52D-B5F056770337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6925FB8-A213-6CE9-6D29-358752D1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42F8E98-1C59-68F2-EE3B-114EE8148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E4157-9D07-445F-BC97-8FE2F847158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51617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AAB0BB1E-5029-B9C8-A437-4C50A8176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CB85095-BA9A-800F-B043-EB6D36579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383EDB-9594-23F0-C6CD-747E4F17C6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6E1EB-DCFC-4123-A52D-B5F056770337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38E2119-D5F7-5441-2B31-154916292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9DA2336-902C-0BA0-9E95-13F7BC09F3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E4157-9D07-445F-BC97-8FE2F8471581}" type="slidenum">
              <a:rPr lang="nb-NO" smtClean="0"/>
              <a:t>‹#›</a:t>
            </a:fld>
            <a:endParaRPr lang="nb-NO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9DBB8863-1A5D-FE86-5924-F54A0CB0451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16575" y="6657340"/>
            <a:ext cx="9906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nb-NO" sz="900">
                <a:solidFill>
                  <a:srgbClr val="A6A6A6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548364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03720635-D5D5-9D77-6F71-5A464D6615ED}"/>
              </a:ext>
            </a:extLst>
          </p:cNvPr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005F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88BE69E9-2207-42AD-8891-E646070AC0CE}"/>
              </a:ext>
            </a:extLst>
          </p:cNvPr>
          <p:cNvSpPr/>
          <p:nvPr/>
        </p:nvSpPr>
        <p:spPr>
          <a:xfrm>
            <a:off x="698500" y="571500"/>
            <a:ext cx="2540000" cy="381000"/>
          </a:xfrm>
          <a:prstGeom prst="rect">
            <a:avLst/>
          </a:prstGeom>
          <a:solidFill>
            <a:srgbClr val="005F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TELENOR BUSINESS | GIA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49211907-B591-0D5C-122A-FDB3B7D650B0}"/>
              </a:ext>
            </a:extLst>
          </p:cNvPr>
          <p:cNvSpPr txBox="1"/>
          <p:nvPr/>
        </p:nvSpPr>
        <p:spPr>
          <a:xfrm>
            <a:off x="635000" y="1206500"/>
            <a:ext cx="10922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3400" b="1">
                <a:solidFill>
                  <a:srgbClr val="FFFFFF"/>
                </a:solidFill>
                <a:latin typeface="Segoe UI" panose="020B0502040204020203" pitchFamily="34" charset="0"/>
              </a:rPr>
              <a:t>Forvaltning og AI-agentstøtte
for Mobile Free SIMs</a:t>
            </a: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C55AB36C-7DF6-F292-C855-0F9E16E97E92}"/>
              </a:ext>
            </a:extLst>
          </p:cNvPr>
          <p:cNvSpPr txBox="1"/>
          <p:nvPr/>
        </p:nvSpPr>
        <p:spPr>
          <a:xfrm>
            <a:off x="635000" y="29845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600">
                <a:solidFill>
                  <a:srgbClr val="FACC15"/>
                </a:solidFill>
                <a:latin typeface="Segoe UI" panose="020B0502040204020203" pitchFamily="34" charset="0"/>
              </a:rPr>
              <a:t>Etablering av helhetlig styringsmodell (Prevent-Detect-Act-Improve), 6 forvaltningskrav og AI-basert kontroll i tråd med GIA Audit &amp; ICFR NOR 72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E61475E5-6767-0721-5952-AE55A5D02D4E}"/>
              </a:ext>
            </a:extLst>
          </p:cNvPr>
          <p:cNvSpPr/>
          <p:nvPr/>
        </p:nvSpPr>
        <p:spPr>
          <a:xfrm>
            <a:off x="698500" y="4254500"/>
            <a:ext cx="10795000" cy="177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DC2BE341-EB76-44DF-904A-0B63758C0F81}"/>
              </a:ext>
            </a:extLst>
          </p:cNvPr>
          <p:cNvSpPr txBox="1"/>
          <p:nvPr/>
        </p:nvSpPr>
        <p:spPr>
          <a:xfrm>
            <a:off x="952500" y="4381500"/>
            <a:ext cx="10287000" cy="116955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01848"/>
                </a:solidFill>
                <a:latin typeface="Segoe UI" panose="020B0502040204020203" pitchFamily="34" charset="0"/>
              </a:rPr>
              <a:t>BESLUTNINGSUNDERLAG FOR LEDELSEN
</a:t>
            </a:r>
            <a:r>
              <a:rPr lang="nb-NO" sz="1400">
                <a:solidFill>
                  <a:srgbClr val="000000"/>
                </a:solidFill>
                <a:latin typeface="Segoe UI" panose="020B0502040204020203" pitchFamily="34" charset="0"/>
              </a:rPr>
              <a:t>
• Saksansvarlig: Tor Marstein, Telenor Business
• Målgruppe: Ledelsen i Telenor Business / GIA &amp; ICFR Styringsgruppe
• Dato: 18. september 2026   |   Status: Til formell beslutning</a:t>
            </a:r>
          </a:p>
        </p:txBody>
      </p:sp>
    </p:spTree>
    <p:extLst>
      <p:ext uri="{BB962C8B-B14F-4D97-AF65-F5344CB8AC3E}">
        <p14:creationId xmlns:p14="http://schemas.microsoft.com/office/powerpoint/2010/main" val="3372839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3A3C7B65-CF5F-73FD-2E33-3F6BE5D3039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58111810-67DF-14A3-015E-ED30BAEB69E4}"/>
              </a:ext>
            </a:extLst>
          </p:cNvPr>
          <p:cNvSpPr/>
          <p:nvPr/>
        </p:nvSpPr>
        <p:spPr>
          <a:xfrm>
            <a:off x="571500" y="228600"/>
            <a:ext cx="2794000" cy="2794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BAKGRUNN &amp; KONTEKST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60C5EF17-5FE6-BC7D-8876-23D765D568FC}"/>
              </a:ext>
            </a:extLst>
          </p:cNvPr>
          <p:cNvSpPr txBox="1"/>
          <p:nvPr/>
        </p:nvSpPr>
        <p:spPr>
          <a:xfrm>
            <a:off x="533400" y="533400"/>
            <a:ext cx="11112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2200" b="1">
                <a:solidFill>
                  <a:srgbClr val="001848"/>
                </a:solidFill>
                <a:latin typeface="Segoe UI" panose="020B0502040204020203" pitchFamily="34" charset="0"/>
              </a:rPr>
              <a:t>Hvorfor kreves det et nytt forvaltningsregime?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5B7F665-6A83-14C1-8B03-5F734A3D7664}"/>
              </a:ext>
            </a:extLst>
          </p:cNvPr>
          <p:cNvSpPr/>
          <p:nvPr/>
        </p:nvSpPr>
        <p:spPr>
          <a:xfrm>
            <a:off x="571500" y="1206500"/>
            <a:ext cx="5334000" cy="51435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2DE26228-A3DB-B98E-9D92-363A79BBF78D}"/>
              </a:ext>
            </a:extLst>
          </p:cNvPr>
          <p:cNvSpPr/>
          <p:nvPr/>
        </p:nvSpPr>
        <p:spPr>
          <a:xfrm>
            <a:off x="571500" y="1206500"/>
            <a:ext cx="5334000" cy="4826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GIA &amp; ICFR Styringsbehov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E1274583-9C94-F44D-40FE-91E2D183D895}"/>
              </a:ext>
            </a:extLst>
          </p:cNvPr>
          <p:cNvSpPr txBox="1"/>
          <p:nvPr/>
        </p:nvSpPr>
        <p:spPr>
          <a:xfrm>
            <a:off x="762000" y="1841500"/>
            <a:ext cx="4953000" cy="20313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>
                <a:solidFill>
                  <a:srgbClr val="000000"/>
                </a:solidFill>
                <a:latin typeface="Segoe UI" panose="020B0502040204020203" pitchFamily="34" charset="0"/>
              </a:rPr>
              <a:t>• GIA Audit avdekket behov for vesentlig forbedret formålssporing og kostnadskontroll for SIM dekket av Telenor Norge.
• ICFR (NOR 72) krever årlig CxO-verifisering av oppnevnte divisjons-SPOC-er samt kvartalsvis kontroll.
• Over 135 000 abonnementer ligger i dag spredt over mer enn 1 300 kontoer uten automatiske sperrer.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66F1128B-023B-A1C9-ECAE-4B4BAAD239BB}"/>
              </a:ext>
            </a:extLst>
          </p:cNvPr>
          <p:cNvSpPr/>
          <p:nvPr/>
        </p:nvSpPr>
        <p:spPr>
          <a:xfrm>
            <a:off x="6286500" y="1206500"/>
            <a:ext cx="5334000" cy="5143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1187D734-C886-115C-D86B-EDE24FAD938B}"/>
              </a:ext>
            </a:extLst>
          </p:cNvPr>
          <p:cNvSpPr/>
          <p:nvPr/>
        </p:nvSpPr>
        <p:spPr>
          <a:xfrm>
            <a:off x="6286500" y="1206500"/>
            <a:ext cx="5334000" cy="482600"/>
          </a:xfrm>
          <a:prstGeom prst="rect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Hovedrisikoer i Dagens Situasjon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4DC6DD0B-F69A-D264-3BDD-CB8134A6C42F}"/>
              </a:ext>
            </a:extLst>
          </p:cNvPr>
          <p:cNvSpPr txBox="1"/>
          <p:nvPr/>
        </p:nvSpPr>
        <p:spPr>
          <a:xfrm>
            <a:off x="6477000" y="1841500"/>
            <a:ext cx="4953000" cy="246221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>
                <a:solidFill>
                  <a:srgbClr val="000000"/>
                </a:solidFill>
                <a:latin typeface="Segoe UI" panose="020B0502040204020203" pitchFamily="34" charset="0"/>
              </a:rPr>
              <a:t>1. Økonomisk tap:
Risiko for at Telenor dekker abonnementer som skulle vært viderefakturert kunder eller terminert.
2. Sikkerhet og misbruk (Fraud):
Ustrukturerte test-SIM i omløp uten aktiv kontrolleier eller tidsbegrensning.
3. Manuelle flaskehalser:
Tungvint oppfølging i regneark uten automatisk systemstøtte for sanering.</a:t>
            </a:r>
          </a:p>
        </p:txBody>
      </p:sp>
    </p:spTree>
    <p:extLst>
      <p:ext uri="{BB962C8B-B14F-4D97-AF65-F5344CB8AC3E}">
        <p14:creationId xmlns:p14="http://schemas.microsoft.com/office/powerpoint/2010/main" val="3603000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33FF2C04-5DE4-F67C-04E5-AA323C21616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92EE1F53-39C7-5DF8-C60C-81DAC22E0C5E}"/>
              </a:ext>
            </a:extLst>
          </p:cNvPr>
          <p:cNvSpPr/>
          <p:nvPr/>
        </p:nvSpPr>
        <p:spPr>
          <a:xfrm>
            <a:off x="571500" y="228600"/>
            <a:ext cx="2794000" cy="2794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PORTEFØLJEANALYSE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F9FB307A-C541-9B06-51A7-CF20A24F5349}"/>
              </a:ext>
            </a:extLst>
          </p:cNvPr>
          <p:cNvSpPr txBox="1"/>
          <p:nvPr/>
        </p:nvSpPr>
        <p:spPr>
          <a:xfrm>
            <a:off x="533400" y="533400"/>
            <a:ext cx="11112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2200" b="1">
                <a:solidFill>
                  <a:srgbClr val="001848"/>
                </a:solidFill>
                <a:latin typeface="Segoe UI" panose="020B0502040204020203" pitchFamily="34" charset="0"/>
              </a:rPr>
              <a:t>Dagens nummerbase: 135 281 Free SIM-abonnementer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41FA592C-2915-D919-6557-D2E0A36A8B42}"/>
              </a:ext>
            </a:extLst>
          </p:cNvPr>
          <p:cNvSpPr/>
          <p:nvPr/>
        </p:nvSpPr>
        <p:spPr>
          <a:xfrm>
            <a:off x="571500" y="1206500"/>
            <a:ext cx="3429000" cy="1714500"/>
          </a:xfrm>
          <a:prstGeom prst="rect">
            <a:avLst/>
          </a:prstGeom>
          <a:solidFill>
            <a:srgbClr val="001848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6EEC04F0-E1FB-A7A9-8AF1-AAAEC0C90B42}"/>
              </a:ext>
            </a:extLst>
          </p:cNvPr>
          <p:cNvSpPr txBox="1"/>
          <p:nvPr/>
        </p:nvSpPr>
        <p:spPr>
          <a:xfrm>
            <a:off x="698500" y="1333500"/>
            <a:ext cx="3175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3400" b="1">
                <a:solidFill>
                  <a:srgbClr val="FACC15"/>
                </a:solidFill>
                <a:latin typeface="Segoe UI" panose="020B0502040204020203" pitchFamily="34" charset="0"/>
              </a:rPr>
              <a:t>135 281
</a:t>
            </a:r>
            <a:r>
              <a:rPr lang="nb-NO" sz="1400">
                <a:solidFill>
                  <a:srgbClr val="FFFFFF"/>
                </a:solidFill>
                <a:latin typeface="Segoe UI" panose="020B0502040204020203" pitchFamily="34" charset="0"/>
              </a:rPr>
              <a:t>Totalt volum Free SIM
Fordelt på &gt; 1 300 kontoer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2F6DE6A5-8987-CB15-D3EC-9CE8E8B272AF}"/>
              </a:ext>
            </a:extLst>
          </p:cNvPr>
          <p:cNvSpPr/>
          <p:nvPr/>
        </p:nvSpPr>
        <p:spPr>
          <a:xfrm>
            <a:off x="4381500" y="1206500"/>
            <a:ext cx="3429000" cy="1714500"/>
          </a:xfrm>
          <a:prstGeom prst="rect">
            <a:avLst/>
          </a:prstGeom>
          <a:solidFill>
            <a:srgbClr val="005FCC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D18549F3-0EF5-3093-C062-C457BED57C15}"/>
              </a:ext>
            </a:extLst>
          </p:cNvPr>
          <p:cNvSpPr txBox="1"/>
          <p:nvPr/>
        </p:nvSpPr>
        <p:spPr>
          <a:xfrm>
            <a:off x="4508500" y="1333500"/>
            <a:ext cx="317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Segoe UI" panose="020B0502040204020203" pitchFamily="34" charset="0"/>
              </a:rPr>
              <a:t>113 772 (84 %)
</a:t>
            </a:r>
            <a:r>
              <a:rPr lang="nb-NO" sz="1400">
                <a:solidFill>
                  <a:srgbClr val="FFFFFF"/>
                </a:solidFill>
                <a:latin typeface="Segoe UI" panose="020B0502040204020203" pitchFamily="34" charset="0"/>
              </a:rPr>
              <a:t>Etablerte tjenester
MBN / Logiske nummer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5EEBFDE6-E5A9-34A6-FC10-D889093687D4}"/>
              </a:ext>
            </a:extLst>
          </p:cNvPr>
          <p:cNvSpPr/>
          <p:nvPr/>
        </p:nvSpPr>
        <p:spPr>
          <a:xfrm>
            <a:off x="8191500" y="1206500"/>
            <a:ext cx="3429000" cy="1714500"/>
          </a:xfrm>
          <a:prstGeom prst="rect">
            <a:avLst/>
          </a:prstGeom>
          <a:solidFill>
            <a:srgbClr val="C2410C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7D43C3E3-1A56-37FC-9B00-B8F23FBFA01A}"/>
              </a:ext>
            </a:extLst>
          </p:cNvPr>
          <p:cNvSpPr txBox="1"/>
          <p:nvPr/>
        </p:nvSpPr>
        <p:spPr>
          <a:xfrm>
            <a:off x="8318500" y="1333500"/>
            <a:ext cx="317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Segoe UI" panose="020B0502040204020203" pitchFamily="34" charset="0"/>
              </a:rPr>
              <a:t>21 509 (16 %)
</a:t>
            </a:r>
            <a:r>
              <a:rPr lang="nb-NO" sz="1400">
                <a:solidFill>
                  <a:srgbClr val="FFFFFF"/>
                </a:solidFill>
                <a:latin typeface="Segoe UI" panose="020B0502040204020203" pitchFamily="34" charset="0"/>
              </a:rPr>
              <a:t>Ustrukturerte test/drift
Krever datavask &amp; kontroll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4203CA8D-EE67-95E2-4ABA-91187C0866C2}"/>
              </a:ext>
            </a:extLst>
          </p:cNvPr>
          <p:cNvSpPr/>
          <p:nvPr/>
        </p:nvSpPr>
        <p:spPr>
          <a:xfrm>
            <a:off x="571500" y="3111500"/>
            <a:ext cx="11049000" cy="32385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684A6085-D730-7359-1CA6-51F5A1306620}"/>
              </a:ext>
            </a:extLst>
          </p:cNvPr>
          <p:cNvSpPr/>
          <p:nvPr/>
        </p:nvSpPr>
        <p:spPr>
          <a:xfrm>
            <a:off x="571500" y="3111500"/>
            <a:ext cx="11049000" cy="4572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Porteføljestatus og Oppfølgingstiltak</a:t>
            </a: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B2A8F511-9304-513E-416A-D2CE490C597C}"/>
              </a:ext>
            </a:extLst>
          </p:cNvPr>
          <p:cNvSpPr txBox="1"/>
          <p:nvPr/>
        </p:nvSpPr>
        <p:spPr>
          <a:xfrm>
            <a:off x="762000" y="3683000"/>
            <a:ext cx="10668000" cy="120802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50">
                <a:solidFill>
                  <a:srgbClr val="000000"/>
                </a:solidFill>
                <a:latin typeface="Segoe UI" panose="020B0502040204020203" pitchFamily="34" charset="0"/>
              </a:rPr>
              <a:t>• 84 % (MBN Logiske Nummer): Strukturert portefølje som håndteres gjennom maskinell kontroll mot gyldige kunde- og tjenesteavtaler (Krav 1).
• 16 % (Test- og Drifts-SIM): Heterogen masse bestående av Test IT (~10 000), Kritiske/Operasjonelle SIM (~20 000), M2M/IoT, og testabonnementer. Det er i denne gruppen det største potensialet for kostnadskutt, sanering og AI-automatisert kontroll ligger.</a:t>
            </a:r>
          </a:p>
        </p:txBody>
      </p:sp>
    </p:spTree>
    <p:extLst>
      <p:ext uri="{BB962C8B-B14F-4D97-AF65-F5344CB8AC3E}">
        <p14:creationId xmlns:p14="http://schemas.microsoft.com/office/powerpoint/2010/main" val="194284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4A0990E-C8B8-771A-E699-11F2CE3C5DA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D3981AA6-FC2E-37C6-3A3A-E44BCBBE6434}"/>
              </a:ext>
            </a:extLst>
          </p:cNvPr>
          <p:cNvSpPr/>
          <p:nvPr/>
        </p:nvSpPr>
        <p:spPr>
          <a:xfrm>
            <a:off x="571500" y="228600"/>
            <a:ext cx="2794000" cy="2794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STYRINGSRAMMEVERK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CE497880-1642-DD21-ABA8-471A4A791645}"/>
              </a:ext>
            </a:extLst>
          </p:cNvPr>
          <p:cNvSpPr txBox="1"/>
          <p:nvPr/>
        </p:nvSpPr>
        <p:spPr>
          <a:xfrm>
            <a:off x="533400" y="533400"/>
            <a:ext cx="11112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2200" b="1">
                <a:solidFill>
                  <a:srgbClr val="001848"/>
                </a:solidFill>
                <a:latin typeface="Segoe UI" panose="020B0502040204020203" pitchFamily="34" charset="0"/>
              </a:rPr>
              <a:t>Forvaltningsmodellen: Prevent ➔ Detect ➔ Act ➔ Improve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AFA076F7-D1C6-1A75-0CC4-03B0FC2AB983}"/>
              </a:ext>
            </a:extLst>
          </p:cNvPr>
          <p:cNvSpPr/>
          <p:nvPr/>
        </p:nvSpPr>
        <p:spPr>
          <a:xfrm>
            <a:off x="571500" y="1270000"/>
            <a:ext cx="2667000" cy="508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33A7032C-04DD-BEAE-7019-C3EC3E2EB6AD}"/>
              </a:ext>
            </a:extLst>
          </p:cNvPr>
          <p:cNvSpPr/>
          <p:nvPr/>
        </p:nvSpPr>
        <p:spPr>
          <a:xfrm>
            <a:off x="571500" y="1270000"/>
            <a:ext cx="2667000" cy="5842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1. PREVENT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284B1028-D67B-7F8D-4873-A269779C36EA}"/>
              </a:ext>
            </a:extLst>
          </p:cNvPr>
          <p:cNvSpPr txBox="1"/>
          <p:nvPr/>
        </p:nvSpPr>
        <p:spPr>
          <a:xfrm>
            <a:off x="698500" y="1968500"/>
            <a:ext cx="2413000" cy="13388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01848"/>
                </a:solidFill>
                <a:latin typeface="Segoe UI" panose="020B0502040204020203" pitchFamily="34" charset="0"/>
              </a:rPr>
              <a:t>Ordrekanaler &amp; API
</a:t>
            </a:r>
            <a:r>
              <a:rPr lang="nb-NO" sz="1350">
                <a:solidFill>
                  <a:srgbClr val="000000"/>
                </a:solidFill>
                <a:latin typeface="Segoe UI" panose="020B0502040204020203" pitchFamily="34" charset="0"/>
              </a:rPr>
              <a:t>
• Opprettelse KUN på godkjente kontoer
• Obligatorisk kontrolleier
• Maks 6 mnd levetid for test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39DFA30-ECF4-15B7-6F4F-F78F7722DF11}"/>
              </a:ext>
            </a:extLst>
          </p:cNvPr>
          <p:cNvSpPr/>
          <p:nvPr/>
        </p:nvSpPr>
        <p:spPr>
          <a:xfrm>
            <a:off x="3365500" y="1270000"/>
            <a:ext cx="2667000" cy="508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A14010D4-CD53-AE55-F7DE-5BEA9BC92D4C}"/>
              </a:ext>
            </a:extLst>
          </p:cNvPr>
          <p:cNvSpPr/>
          <p:nvPr/>
        </p:nvSpPr>
        <p:spPr>
          <a:xfrm>
            <a:off x="3365500" y="1270000"/>
            <a:ext cx="2667000" cy="584200"/>
          </a:xfrm>
          <a:prstGeom prst="rect">
            <a:avLst/>
          </a:prstGeom>
          <a:solidFill>
            <a:srgbClr val="005F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2. DETECT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F9E56B05-BAED-650E-34CF-A08D127DA9E7}"/>
              </a:ext>
            </a:extLst>
          </p:cNvPr>
          <p:cNvSpPr txBox="1"/>
          <p:nvPr/>
        </p:nvSpPr>
        <p:spPr>
          <a:xfrm>
            <a:off x="3492500" y="1968500"/>
            <a:ext cx="2413000" cy="13388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05FCC"/>
                </a:solidFill>
                <a:latin typeface="Segoe UI" panose="020B0502040204020203" pitchFamily="34" charset="0"/>
              </a:rPr>
              <a:t>Looker &amp; AI-Agenter
</a:t>
            </a:r>
            <a:r>
              <a:rPr lang="nb-NO" sz="1350">
                <a:solidFill>
                  <a:srgbClr val="000000"/>
                </a:solidFill>
                <a:latin typeface="Segoe UI" panose="020B0502040204020203" pitchFamily="34" charset="0"/>
              </a:rPr>
              <a:t>
• Kontinuerlig regelkjøring
• Avdekking av inaktivitet/manglende trafikk
• Automatiske avviksalarmer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7159171A-30AE-7BFD-4127-F5772EFFF4F2}"/>
              </a:ext>
            </a:extLst>
          </p:cNvPr>
          <p:cNvSpPr/>
          <p:nvPr/>
        </p:nvSpPr>
        <p:spPr>
          <a:xfrm>
            <a:off x="6159500" y="1270000"/>
            <a:ext cx="2667000" cy="508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5B267F3F-97A7-8416-6C54-6149D3A22552}"/>
              </a:ext>
            </a:extLst>
          </p:cNvPr>
          <p:cNvSpPr/>
          <p:nvPr/>
        </p:nvSpPr>
        <p:spPr>
          <a:xfrm>
            <a:off x="6159500" y="1270000"/>
            <a:ext cx="2667000" cy="584200"/>
          </a:xfrm>
          <a:prstGeom prst="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3. ACT</a:t>
            </a: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D7E509D3-3974-72C6-43CF-955EE5F67DFF}"/>
              </a:ext>
            </a:extLst>
          </p:cNvPr>
          <p:cNvSpPr txBox="1"/>
          <p:nvPr/>
        </p:nvSpPr>
        <p:spPr>
          <a:xfrm>
            <a:off x="6286500" y="1968500"/>
            <a:ext cx="2413000" cy="113107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284C7"/>
                </a:solidFill>
                <a:latin typeface="Segoe UI" panose="020B0502040204020203" pitchFamily="34" charset="0"/>
              </a:rPr>
              <a:t>SPOC &amp; Customer Ops
</a:t>
            </a:r>
            <a:r>
              <a:rPr lang="nb-NO" sz="1350">
                <a:solidFill>
                  <a:srgbClr val="000000"/>
                </a:solidFill>
                <a:latin typeface="Segoe UI" panose="020B0502040204020203" pitchFamily="34" charset="0"/>
              </a:rPr>
              <a:t>
• Tildeling av avvik til SPOC
• Verifisering per divisjon
• Månedlig bulk-terminering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77A2E3AA-4A83-F84D-FAD0-2B5C9A1A20CC}"/>
              </a:ext>
            </a:extLst>
          </p:cNvPr>
          <p:cNvSpPr/>
          <p:nvPr/>
        </p:nvSpPr>
        <p:spPr>
          <a:xfrm>
            <a:off x="8953500" y="1270000"/>
            <a:ext cx="2667000" cy="508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1DFDD402-AFC3-DBEF-1747-3EE816BB0076}"/>
              </a:ext>
            </a:extLst>
          </p:cNvPr>
          <p:cNvSpPr/>
          <p:nvPr/>
        </p:nvSpPr>
        <p:spPr>
          <a:xfrm>
            <a:off x="8953500" y="1270000"/>
            <a:ext cx="2667000" cy="584200"/>
          </a:xfrm>
          <a:prstGeom prst="rect">
            <a:avLst/>
          </a:prstGeom>
          <a:solidFill>
            <a:srgbClr val="0478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4. IMPROVE</a:t>
            </a: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3A9BF82C-914D-F747-85B5-22D7FD7E6D27}"/>
              </a:ext>
            </a:extLst>
          </p:cNvPr>
          <p:cNvSpPr txBox="1"/>
          <p:nvPr/>
        </p:nvSpPr>
        <p:spPr>
          <a:xfrm>
            <a:off x="9080500" y="1968500"/>
            <a:ext cx="2413000" cy="13388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47857"/>
                </a:solidFill>
                <a:latin typeface="Segoe UI" panose="020B0502040204020203" pitchFamily="34" charset="0"/>
              </a:rPr>
              <a:t>Styringsinformasjon
</a:t>
            </a:r>
            <a:r>
              <a:rPr lang="nb-NO" sz="1350">
                <a:solidFill>
                  <a:srgbClr val="000000"/>
                </a:solidFill>
                <a:latin typeface="Segoe UI" panose="020B0502040204020203" pitchFamily="34" charset="0"/>
              </a:rPr>
              <a:t>
• Måling av løsningstid (MTTR)
• Kostnadsoppfølging
• Revisjonssikkert arkiv</a:t>
            </a:r>
          </a:p>
        </p:txBody>
      </p:sp>
    </p:spTree>
    <p:extLst>
      <p:ext uri="{BB962C8B-B14F-4D97-AF65-F5344CB8AC3E}">
        <p14:creationId xmlns:p14="http://schemas.microsoft.com/office/powerpoint/2010/main" val="1461575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21356E8-0D08-CC24-3865-D8D5C921D9A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D29D6AE6-B4E6-98EB-3C3C-340BE4DE5347}"/>
              </a:ext>
            </a:extLst>
          </p:cNvPr>
          <p:cNvSpPr/>
          <p:nvPr/>
        </p:nvSpPr>
        <p:spPr>
          <a:xfrm>
            <a:off x="571500" y="228600"/>
            <a:ext cx="2794000" cy="2794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KRAVSPESIFIKASJON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7783664E-C667-60A8-79E9-9C297769BD45}"/>
              </a:ext>
            </a:extLst>
          </p:cNvPr>
          <p:cNvSpPr txBox="1"/>
          <p:nvPr/>
        </p:nvSpPr>
        <p:spPr>
          <a:xfrm>
            <a:off x="533400" y="533400"/>
            <a:ext cx="11112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2200" b="1">
                <a:solidFill>
                  <a:srgbClr val="001848"/>
                </a:solidFill>
                <a:latin typeface="Segoe UI" panose="020B0502040204020203" pitchFamily="34" charset="0"/>
              </a:rPr>
              <a:t>6 ufravikelige forvaltningskrav for Free SIM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3ADBAB6B-7D13-E675-41CB-5945AA131FCB}"/>
              </a:ext>
            </a:extLst>
          </p:cNvPr>
          <p:cNvSpPr/>
          <p:nvPr/>
        </p:nvSpPr>
        <p:spPr>
          <a:xfrm>
            <a:off x="571500" y="1270000"/>
            <a:ext cx="5334000" cy="152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2840E429-6D3A-6535-E696-175A8F0679A9}"/>
              </a:ext>
            </a:extLst>
          </p:cNvPr>
          <p:cNvSpPr/>
          <p:nvPr/>
        </p:nvSpPr>
        <p:spPr>
          <a:xfrm>
            <a:off x="723900" y="1422400"/>
            <a:ext cx="1016000" cy="3302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1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580B7254-791F-A001-FAF3-418CBB3AD173}"/>
              </a:ext>
            </a:extLst>
          </p:cNvPr>
          <p:cNvSpPr txBox="1"/>
          <p:nvPr/>
        </p:nvSpPr>
        <p:spPr>
          <a:xfrm>
            <a:off x="1841500" y="1371600"/>
            <a:ext cx="3873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05FCC"/>
                </a:solidFill>
                <a:latin typeface="Segoe UI" panose="020B0502040204020203" pitchFamily="34" charset="0"/>
              </a:rPr>
              <a:t>Sporbar kundebetaling (MBN)</a:t>
            </a: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7C7758BA-0C74-7D37-979F-7030BCBE55D4}"/>
              </a:ext>
            </a:extLst>
          </p:cNvPr>
          <p:cNvSpPr txBox="1"/>
          <p:nvPr/>
        </p:nvSpPr>
        <p:spPr>
          <a:xfrm>
            <a:off x="723900" y="1879600"/>
            <a:ext cx="5016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00">
                <a:solidFill>
                  <a:srgbClr val="000000"/>
                </a:solidFill>
                <a:latin typeface="Segoe UI" panose="020B0502040204020203" pitchFamily="34" charset="0"/>
              </a:rPr>
              <a:t>Maskinell kobling mellom logiske abonnement og gyldig kunde-/tjenesteavtale.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AE7A9E2F-220B-A5A6-938D-5E63AF215ECE}"/>
              </a:ext>
            </a:extLst>
          </p:cNvPr>
          <p:cNvSpPr/>
          <p:nvPr/>
        </p:nvSpPr>
        <p:spPr>
          <a:xfrm>
            <a:off x="6286500" y="1270000"/>
            <a:ext cx="5334000" cy="152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A6CB8C18-9834-5777-B6BB-33D5BFD32836}"/>
              </a:ext>
            </a:extLst>
          </p:cNvPr>
          <p:cNvSpPr/>
          <p:nvPr/>
        </p:nvSpPr>
        <p:spPr>
          <a:xfrm>
            <a:off x="6438900" y="1422400"/>
            <a:ext cx="1016000" cy="3302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2</a:t>
            </a: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6FE40A03-14C2-DD39-753A-0A6E34DDC9DA}"/>
              </a:ext>
            </a:extLst>
          </p:cNvPr>
          <p:cNvSpPr txBox="1"/>
          <p:nvPr/>
        </p:nvSpPr>
        <p:spPr>
          <a:xfrm>
            <a:off x="7556500" y="1371600"/>
            <a:ext cx="3873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05FCC"/>
                </a:solidFill>
                <a:latin typeface="Segoe UI" panose="020B0502040204020203" pitchFamily="34" charset="0"/>
              </a:rPr>
              <a:t>Maks 6 mnd levetid for test</a:t>
            </a: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83B5BB26-129C-86CA-3772-B752124ACA26}"/>
              </a:ext>
            </a:extLst>
          </p:cNvPr>
          <p:cNvSpPr txBox="1"/>
          <p:nvPr/>
        </p:nvSpPr>
        <p:spPr>
          <a:xfrm>
            <a:off x="6438900" y="1879600"/>
            <a:ext cx="5016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00">
                <a:solidFill>
                  <a:srgbClr val="000000"/>
                </a:solidFill>
                <a:latin typeface="Segoe UI" panose="020B0502040204020203" pitchFamily="34" charset="0"/>
              </a:rPr>
              <a:t>Automatisk utløpsdato ved opprettelse og fast terminering ved utløp.</a:t>
            </a: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51E522C1-1FF8-CD92-CD65-8980B00F1F95}"/>
              </a:ext>
            </a:extLst>
          </p:cNvPr>
          <p:cNvSpPr/>
          <p:nvPr/>
        </p:nvSpPr>
        <p:spPr>
          <a:xfrm>
            <a:off x="571500" y="2984500"/>
            <a:ext cx="5334000" cy="152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9D8065F2-8BCD-48F0-BD9A-F20B5E5E107A}"/>
              </a:ext>
            </a:extLst>
          </p:cNvPr>
          <p:cNvSpPr/>
          <p:nvPr/>
        </p:nvSpPr>
        <p:spPr>
          <a:xfrm>
            <a:off x="723900" y="3136900"/>
            <a:ext cx="1016000" cy="3302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3</a:t>
            </a: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B392C1FF-45AD-F063-C474-B55F9468370B}"/>
              </a:ext>
            </a:extLst>
          </p:cNvPr>
          <p:cNvSpPr txBox="1"/>
          <p:nvPr/>
        </p:nvSpPr>
        <p:spPr>
          <a:xfrm>
            <a:off x="1841500" y="3086100"/>
            <a:ext cx="3873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05FCC"/>
                </a:solidFill>
                <a:latin typeface="Segoe UI" panose="020B0502040204020203" pitchFamily="34" charset="0"/>
              </a:rPr>
              <a:t>API / OneView regelstøtte</a:t>
            </a: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CAF7C2E4-4205-AF2C-55A2-AC3BE50750E6}"/>
              </a:ext>
            </a:extLst>
          </p:cNvPr>
          <p:cNvSpPr txBox="1"/>
          <p:nvPr/>
        </p:nvSpPr>
        <p:spPr>
          <a:xfrm>
            <a:off x="723900" y="3594100"/>
            <a:ext cx="5016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00">
                <a:solidFill>
                  <a:srgbClr val="000000"/>
                </a:solidFill>
                <a:latin typeface="Segoe UI" panose="020B0502040204020203" pitchFamily="34" charset="0"/>
              </a:rPr>
              <a:t>Endringsrobust håndheving av regler direkte i salgs- og bestillingskanalene.</a:t>
            </a: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E83E5D81-A006-C499-F33C-BB66B35FFE1A}"/>
              </a:ext>
            </a:extLst>
          </p:cNvPr>
          <p:cNvSpPr/>
          <p:nvPr/>
        </p:nvSpPr>
        <p:spPr>
          <a:xfrm>
            <a:off x="6286500" y="2984500"/>
            <a:ext cx="5334000" cy="152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76517B9D-4DBF-9287-E21E-ACE5215CCD97}"/>
              </a:ext>
            </a:extLst>
          </p:cNvPr>
          <p:cNvSpPr/>
          <p:nvPr/>
        </p:nvSpPr>
        <p:spPr>
          <a:xfrm>
            <a:off x="6438900" y="3136900"/>
            <a:ext cx="1016000" cy="3302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4</a:t>
            </a:r>
          </a:p>
        </p:txBody>
      </p:sp>
      <p:sp>
        <p:nvSpPr>
          <p:cNvPr id="19" name="TekstSylinder 18">
            <a:extLst>
              <a:ext uri="{FF2B5EF4-FFF2-40B4-BE49-F238E27FC236}">
                <a16:creationId xmlns:a16="http://schemas.microsoft.com/office/drawing/2014/main" id="{0857D616-A627-3D44-4400-C1A2A96DED58}"/>
              </a:ext>
            </a:extLst>
          </p:cNvPr>
          <p:cNvSpPr txBox="1"/>
          <p:nvPr/>
        </p:nvSpPr>
        <p:spPr>
          <a:xfrm>
            <a:off x="7556500" y="3086100"/>
            <a:ext cx="3873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05FCC"/>
                </a:solidFill>
                <a:latin typeface="Segoe UI" panose="020B0502040204020203" pitchFamily="34" charset="0"/>
              </a:rPr>
              <a:t>Google Cloud Looker flate</a:t>
            </a:r>
          </a:p>
        </p:txBody>
      </p:sp>
      <p:sp>
        <p:nvSpPr>
          <p:cNvPr id="20" name="TekstSylinder 19">
            <a:extLst>
              <a:ext uri="{FF2B5EF4-FFF2-40B4-BE49-F238E27FC236}">
                <a16:creationId xmlns:a16="http://schemas.microsoft.com/office/drawing/2014/main" id="{042C26BB-F186-7726-5025-7661DAB24297}"/>
              </a:ext>
            </a:extLst>
          </p:cNvPr>
          <p:cNvSpPr txBox="1"/>
          <p:nvPr/>
        </p:nvSpPr>
        <p:spPr>
          <a:xfrm>
            <a:off x="6438900" y="3594100"/>
            <a:ext cx="5016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00">
                <a:solidFill>
                  <a:srgbClr val="000000"/>
                </a:solidFill>
                <a:latin typeface="Segoe UI" panose="020B0502040204020203" pitchFamily="34" charset="0"/>
              </a:rPr>
              <a:t>Felles dashboards, avvikssporing og automatiserte alarmer til kontrolleiere.</a:t>
            </a:r>
          </a:p>
        </p:txBody>
      </p:sp>
      <p:sp>
        <p:nvSpPr>
          <p:cNvPr id="21" name="Rektangel 20">
            <a:extLst>
              <a:ext uri="{FF2B5EF4-FFF2-40B4-BE49-F238E27FC236}">
                <a16:creationId xmlns:a16="http://schemas.microsoft.com/office/drawing/2014/main" id="{CDC63CB7-FB0C-3505-43D3-DD19900260E8}"/>
              </a:ext>
            </a:extLst>
          </p:cNvPr>
          <p:cNvSpPr/>
          <p:nvPr/>
        </p:nvSpPr>
        <p:spPr>
          <a:xfrm>
            <a:off x="571500" y="4699000"/>
            <a:ext cx="5334000" cy="152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BF942959-8117-4067-6DEB-A69839127689}"/>
              </a:ext>
            </a:extLst>
          </p:cNvPr>
          <p:cNvSpPr/>
          <p:nvPr/>
        </p:nvSpPr>
        <p:spPr>
          <a:xfrm>
            <a:off x="723900" y="4851400"/>
            <a:ext cx="1016000" cy="3302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5</a:t>
            </a:r>
          </a:p>
        </p:txBody>
      </p:sp>
      <p:sp>
        <p:nvSpPr>
          <p:cNvPr id="23" name="TekstSylinder 22">
            <a:extLst>
              <a:ext uri="{FF2B5EF4-FFF2-40B4-BE49-F238E27FC236}">
                <a16:creationId xmlns:a16="http://schemas.microsoft.com/office/drawing/2014/main" id="{52A7EEA1-A72D-DB7D-078C-5D3B2BD171F2}"/>
              </a:ext>
            </a:extLst>
          </p:cNvPr>
          <p:cNvSpPr txBox="1"/>
          <p:nvPr/>
        </p:nvSpPr>
        <p:spPr>
          <a:xfrm>
            <a:off x="1841500" y="4800600"/>
            <a:ext cx="3873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05FCC"/>
                </a:solidFill>
                <a:latin typeface="Segoe UI" panose="020B0502040204020203" pitchFamily="34" charset="0"/>
              </a:rPr>
              <a:t>Kategoribasert regime</a:t>
            </a:r>
          </a:p>
        </p:txBody>
      </p:sp>
      <p:sp>
        <p:nvSpPr>
          <p:cNvPr id="24" name="TekstSylinder 23">
            <a:extLst>
              <a:ext uri="{FF2B5EF4-FFF2-40B4-BE49-F238E27FC236}">
                <a16:creationId xmlns:a16="http://schemas.microsoft.com/office/drawing/2014/main" id="{544FB8F2-1F94-BBB2-A558-0AE295230F5C}"/>
              </a:ext>
            </a:extLst>
          </p:cNvPr>
          <p:cNvSpPr txBox="1"/>
          <p:nvPr/>
        </p:nvSpPr>
        <p:spPr>
          <a:xfrm>
            <a:off x="723900" y="5308600"/>
            <a:ext cx="5016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00">
                <a:solidFill>
                  <a:srgbClr val="000000"/>
                </a:solidFill>
                <a:latin typeface="Segoe UI" panose="020B0502040204020203" pitchFamily="34" charset="0"/>
              </a:rPr>
              <a:t>Tydelig eierskap per kategori (Critical, Operational, Test) med SPOC/deputies.</a:t>
            </a:r>
          </a:p>
        </p:txBody>
      </p:sp>
      <p:sp>
        <p:nvSpPr>
          <p:cNvPr id="25" name="Rektangel 24">
            <a:extLst>
              <a:ext uri="{FF2B5EF4-FFF2-40B4-BE49-F238E27FC236}">
                <a16:creationId xmlns:a16="http://schemas.microsoft.com/office/drawing/2014/main" id="{7D35A4ED-B317-52DD-6003-9F4FFFA146E4}"/>
              </a:ext>
            </a:extLst>
          </p:cNvPr>
          <p:cNvSpPr/>
          <p:nvPr/>
        </p:nvSpPr>
        <p:spPr>
          <a:xfrm>
            <a:off x="6286500" y="4699000"/>
            <a:ext cx="5334000" cy="152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Rektangel 25">
            <a:extLst>
              <a:ext uri="{FF2B5EF4-FFF2-40B4-BE49-F238E27FC236}">
                <a16:creationId xmlns:a16="http://schemas.microsoft.com/office/drawing/2014/main" id="{A08B90C9-8359-FD39-2636-0D37CA174A92}"/>
              </a:ext>
            </a:extLst>
          </p:cNvPr>
          <p:cNvSpPr/>
          <p:nvPr/>
        </p:nvSpPr>
        <p:spPr>
          <a:xfrm>
            <a:off x="6438900" y="4851400"/>
            <a:ext cx="1016000" cy="3302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6</a:t>
            </a:r>
          </a:p>
        </p:txBody>
      </p:sp>
      <p:sp>
        <p:nvSpPr>
          <p:cNvPr id="27" name="TekstSylinder 26">
            <a:extLst>
              <a:ext uri="{FF2B5EF4-FFF2-40B4-BE49-F238E27FC236}">
                <a16:creationId xmlns:a16="http://schemas.microsoft.com/office/drawing/2014/main" id="{55D0FF06-BB40-0EE1-874A-6109F6E67AB8}"/>
              </a:ext>
            </a:extLst>
          </p:cNvPr>
          <p:cNvSpPr txBox="1"/>
          <p:nvPr/>
        </p:nvSpPr>
        <p:spPr>
          <a:xfrm>
            <a:off x="7556500" y="4800600"/>
            <a:ext cx="3873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05FCC"/>
                </a:solidFill>
                <a:latin typeface="Segoe UI" panose="020B0502040204020203" pitchFamily="34" charset="0"/>
              </a:rPr>
              <a:t>Forretningskritisk forvaltning</a:t>
            </a:r>
          </a:p>
        </p:txBody>
      </p:sp>
      <p:sp>
        <p:nvSpPr>
          <p:cNvPr id="28" name="TekstSylinder 27">
            <a:extLst>
              <a:ext uri="{FF2B5EF4-FFF2-40B4-BE49-F238E27FC236}">
                <a16:creationId xmlns:a16="http://schemas.microsoft.com/office/drawing/2014/main" id="{CFA377EC-1ABE-582A-7FBB-8F27B69DC8EE}"/>
              </a:ext>
            </a:extLst>
          </p:cNvPr>
          <p:cNvSpPr txBox="1"/>
          <p:nvPr/>
        </p:nvSpPr>
        <p:spPr>
          <a:xfrm>
            <a:off x="6438900" y="5308600"/>
            <a:ext cx="5016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00">
                <a:solidFill>
                  <a:srgbClr val="000000"/>
                </a:solidFill>
                <a:latin typeface="Segoe UI" panose="020B0502040204020203" pitchFamily="34" charset="0"/>
              </a:rPr>
              <a:t>Strengere prevent-detect-act oppfølging for kritiske drifts- og nettverks-SIM.</a:t>
            </a:r>
          </a:p>
        </p:txBody>
      </p:sp>
    </p:spTree>
    <p:extLst>
      <p:ext uri="{BB962C8B-B14F-4D97-AF65-F5344CB8AC3E}">
        <p14:creationId xmlns:p14="http://schemas.microsoft.com/office/powerpoint/2010/main" val="3477689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3E5456E2-1C94-45D7-31BA-24D6B4FDE0E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CD21EDB5-D903-CD40-A0C9-8263029F564B}"/>
              </a:ext>
            </a:extLst>
          </p:cNvPr>
          <p:cNvSpPr/>
          <p:nvPr/>
        </p:nvSpPr>
        <p:spPr>
          <a:xfrm>
            <a:off x="571500" y="228600"/>
            <a:ext cx="2794000" cy="2794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AI-AUTOMATISERING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FC9705BB-D671-E053-857C-BC13E60F4AA5}"/>
              </a:ext>
            </a:extLst>
          </p:cNvPr>
          <p:cNvSpPr txBox="1"/>
          <p:nvPr/>
        </p:nvSpPr>
        <p:spPr>
          <a:xfrm>
            <a:off x="533400" y="533400"/>
            <a:ext cx="11112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2200" b="1">
                <a:solidFill>
                  <a:srgbClr val="001848"/>
                </a:solidFill>
                <a:latin typeface="Segoe UI" panose="020B0502040204020203" pitchFamily="34" charset="0"/>
              </a:rPr>
              <a:t>AI-agentstøtte for kontroll og datavask av 21 509 testnummer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DFF9AEF-5F2F-484D-AC35-E82153ED7186}"/>
              </a:ext>
            </a:extLst>
          </p:cNvPr>
          <p:cNvSpPr/>
          <p:nvPr/>
        </p:nvSpPr>
        <p:spPr>
          <a:xfrm>
            <a:off x="571500" y="1206500"/>
            <a:ext cx="5334000" cy="51435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82911B7C-06A9-ABCA-1E33-581C20A529C7}"/>
              </a:ext>
            </a:extLst>
          </p:cNvPr>
          <p:cNvSpPr/>
          <p:nvPr/>
        </p:nvSpPr>
        <p:spPr>
          <a:xfrm>
            <a:off x="571500" y="1206500"/>
            <a:ext cx="5334000" cy="4826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Hvorfor AI-Agenter i GIA-kontrollen?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593E0982-E564-9B58-CD46-6F22F4D22208}"/>
              </a:ext>
            </a:extLst>
          </p:cNvPr>
          <p:cNvSpPr txBox="1"/>
          <p:nvPr/>
        </p:nvSpPr>
        <p:spPr>
          <a:xfrm>
            <a:off x="762000" y="1841500"/>
            <a:ext cx="4953000" cy="224676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>
                <a:solidFill>
                  <a:srgbClr val="000000"/>
                </a:solidFill>
                <a:latin typeface="Segoe UI" panose="020B0502040204020203" pitchFamily="34" charset="0"/>
              </a:rPr>
              <a:t>• Manuell sjekk av 21 509 ustrukturerte test-SIM er tidkrevende og skjer kun periodisk.
• AI-agenter analyserer kontinuerlig data på tvers av CCDW, trafikklogger og forhandlerinfo.
• Avdekker automatisk:
  - 'Døde' testkort uten trafikk &gt; 6 mnd
  - SIM opprettet på feil betalerkonto
  - Manglende eller ugyldige brukerreferanser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F1F17C4-9208-0586-A768-C28D536FF894}"/>
              </a:ext>
            </a:extLst>
          </p:cNvPr>
          <p:cNvSpPr/>
          <p:nvPr/>
        </p:nvSpPr>
        <p:spPr>
          <a:xfrm>
            <a:off x="6286500" y="1206500"/>
            <a:ext cx="5334000" cy="51435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0FDB9E98-C661-7F47-62F2-FEB1D516DCBD}"/>
              </a:ext>
            </a:extLst>
          </p:cNvPr>
          <p:cNvSpPr/>
          <p:nvPr/>
        </p:nvSpPr>
        <p:spPr>
          <a:xfrm>
            <a:off x="6286500" y="1206500"/>
            <a:ext cx="5334000" cy="482600"/>
          </a:xfrm>
          <a:prstGeom prst="rect">
            <a:avLst/>
          </a:prstGeom>
          <a:solidFill>
            <a:srgbClr val="005F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Operativ Funksjonalitet &amp; Verdi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C1160E44-211B-F21F-8434-D179884523F4}"/>
              </a:ext>
            </a:extLst>
          </p:cNvPr>
          <p:cNvSpPr txBox="1"/>
          <p:nvPr/>
        </p:nvSpPr>
        <p:spPr>
          <a:xfrm>
            <a:off x="6477000" y="1841500"/>
            <a:ext cx="4953000" cy="246221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>
                <a:solidFill>
                  <a:srgbClr val="000000"/>
                </a:solidFill>
                <a:latin typeface="Segoe UI" panose="020B0502040204020203" pitchFamily="34" charset="0"/>
              </a:rPr>
              <a:t>1. Automatisk klassifisering:
Grupperer abonnementer inn i godkjente kategorier basert på historikk og bruksmønster.
2. Saneringsforslag:
Genererer ferdig saneringsliste til Customer Operations (Rørvik) for bulk-sletting.
3. Revisjonsklar logg:
Full dokumentasjon av alle vurderinger og handlinger for GIA- og ICFR-revisjon.</a:t>
            </a:r>
          </a:p>
        </p:txBody>
      </p:sp>
    </p:spTree>
    <p:extLst>
      <p:ext uri="{BB962C8B-B14F-4D97-AF65-F5344CB8AC3E}">
        <p14:creationId xmlns:p14="http://schemas.microsoft.com/office/powerpoint/2010/main" val="356272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09B7FBBB-05BA-DCE6-8F22-F175A123713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D4E5FD99-3E87-C4F0-166A-449A4954F3AD}"/>
              </a:ext>
            </a:extLst>
          </p:cNvPr>
          <p:cNvSpPr/>
          <p:nvPr/>
        </p:nvSpPr>
        <p:spPr>
          <a:xfrm>
            <a:off x="571500" y="228600"/>
            <a:ext cx="2794000" cy="2794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ORGANISERING &amp; ROLLER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AF36291E-30CD-9B5E-CA77-D5264F9816F4}"/>
              </a:ext>
            </a:extLst>
          </p:cNvPr>
          <p:cNvSpPr txBox="1"/>
          <p:nvPr/>
        </p:nvSpPr>
        <p:spPr>
          <a:xfrm>
            <a:off x="533400" y="533400"/>
            <a:ext cx="11112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n-NO" sz="2200" b="1">
                <a:solidFill>
                  <a:srgbClr val="001848"/>
                </a:solidFill>
                <a:latin typeface="Segoe UI" panose="020B0502040204020203" pitchFamily="34" charset="0"/>
              </a:rPr>
              <a:t>Styringsstruktur og forankring (ICFR NOR 72)</a:t>
            </a:r>
            <a:endParaRPr lang="nb-NO" sz="2200" b="1">
              <a:solidFill>
                <a:srgbClr val="00184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50A689B-DE43-FB1A-CC2F-01B22C34F8EA}"/>
              </a:ext>
            </a:extLst>
          </p:cNvPr>
          <p:cNvSpPr/>
          <p:nvPr/>
        </p:nvSpPr>
        <p:spPr>
          <a:xfrm>
            <a:off x="571500" y="1206500"/>
            <a:ext cx="11049000" cy="51435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E26D0954-7478-E079-B2E2-AFA780F8164C}"/>
              </a:ext>
            </a:extLst>
          </p:cNvPr>
          <p:cNvSpPr/>
          <p:nvPr/>
        </p:nvSpPr>
        <p:spPr>
          <a:xfrm>
            <a:off x="571500" y="1206500"/>
            <a:ext cx="11049000" cy="4826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Årlig CxO-verifisert ansvarsmatrise per divisjon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C357109D-91D8-C367-1105-18C6489AE646}"/>
              </a:ext>
            </a:extLst>
          </p:cNvPr>
          <p:cNvSpPr txBox="1"/>
          <p:nvPr/>
        </p:nvSpPr>
        <p:spPr>
          <a:xfrm>
            <a:off x="762000" y="1778000"/>
            <a:ext cx="10668000" cy="33239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>
                <a:solidFill>
                  <a:srgbClr val="000000"/>
                </a:solidFill>
                <a:latin typeface="Segoe UI" panose="020B0502040204020203" pitchFamily="34" charset="0"/>
              </a:rPr>
              <a:t>• Business: Tor Marstein  (CxO: Torfinn Eriksen / Nikolay / Annelene)
• Technology: Geir Kolstad  (CxO: Roger Nerli) — Eier Critical &amp; Operational SIM
• Security Solutions &amp; Mobile: Rikke K. Nielsen  (CxO: Ric Brown)
• Entertainment &amp; Internet: Anna Hvattum  (CxO: Magnus S. Aasjord)
• Wholesale: Kjetil Jacobsen  (CxO: Ludwig Ulmer / Hugo Erichsen)
• IT: Hanne Sveipe Thowsen  (CxO: Torbjørn Larsen)
• People &amp; Organization: Pero Markanovic  (CxO: Kristin Ruud)
Styring for Test SIM: Primæreier + Deputies (Tor Marstein, Kjetil Furuly, Jesper Lade)</a:t>
            </a:r>
          </a:p>
        </p:txBody>
      </p:sp>
    </p:spTree>
    <p:extLst>
      <p:ext uri="{BB962C8B-B14F-4D97-AF65-F5344CB8AC3E}">
        <p14:creationId xmlns:p14="http://schemas.microsoft.com/office/powerpoint/2010/main" val="2324401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0BC212DF-6503-9191-9C74-982D7BE3333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0696DBBB-1F84-7546-0613-451ACC7392EA}"/>
              </a:ext>
            </a:extLst>
          </p:cNvPr>
          <p:cNvSpPr/>
          <p:nvPr/>
        </p:nvSpPr>
        <p:spPr>
          <a:xfrm>
            <a:off x="571500" y="228600"/>
            <a:ext cx="2794000" cy="2794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GEVINSTBILDE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955476E4-0AA9-3239-BAB9-123EF17EF1E9}"/>
              </a:ext>
            </a:extLst>
          </p:cNvPr>
          <p:cNvSpPr txBox="1"/>
          <p:nvPr/>
        </p:nvSpPr>
        <p:spPr>
          <a:xfrm>
            <a:off x="533400" y="533400"/>
            <a:ext cx="11112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2200" b="1">
                <a:solidFill>
                  <a:srgbClr val="001848"/>
                </a:solidFill>
                <a:latin typeface="Segoe UI" panose="020B0502040204020203" pitchFamily="34" charset="0"/>
              </a:rPr>
              <a:t>Forventede effekter av nytt forvaltningsregime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BD7EE444-D244-0E80-0CBE-0E9A8D1EBE57}"/>
              </a:ext>
            </a:extLst>
          </p:cNvPr>
          <p:cNvSpPr/>
          <p:nvPr/>
        </p:nvSpPr>
        <p:spPr>
          <a:xfrm>
            <a:off x="571500" y="1333500"/>
            <a:ext cx="5334000" cy="177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612673A4-C1AA-3421-6C84-38CD47EF532C}"/>
              </a:ext>
            </a:extLst>
          </p:cNvPr>
          <p:cNvSpPr/>
          <p:nvPr/>
        </p:nvSpPr>
        <p:spPr>
          <a:xfrm>
            <a:off x="571500" y="1333500"/>
            <a:ext cx="5334000" cy="457200"/>
          </a:xfrm>
          <a:prstGeom prst="rect">
            <a:avLst/>
          </a:prstGeom>
          <a:solidFill>
            <a:srgbClr val="0478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Betydelig kostnadskutt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62B259E2-1DAB-BA0E-63BB-D3F11A9604BD}"/>
              </a:ext>
            </a:extLst>
          </p:cNvPr>
          <p:cNvSpPr txBox="1"/>
          <p:nvPr/>
        </p:nvSpPr>
        <p:spPr>
          <a:xfrm>
            <a:off x="762000" y="1905000"/>
            <a:ext cx="4953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50">
                <a:solidFill>
                  <a:srgbClr val="000000"/>
                </a:solidFill>
                <a:latin typeface="Segoe UI" panose="020B0502040204020203" pitchFamily="34" charset="0"/>
              </a:rPr>
              <a:t>Rask identifisering og terminering av ubrukte testkort og feilbetalte SIM gir umiddelbar kostnadsreduksjon.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458BC534-3364-A5F4-1069-A1818ABF363A}"/>
              </a:ext>
            </a:extLst>
          </p:cNvPr>
          <p:cNvSpPr/>
          <p:nvPr/>
        </p:nvSpPr>
        <p:spPr>
          <a:xfrm>
            <a:off x="6286500" y="1333500"/>
            <a:ext cx="5334000" cy="177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C74BE864-5369-7C84-D9BD-7AE8DF36C420}"/>
              </a:ext>
            </a:extLst>
          </p:cNvPr>
          <p:cNvSpPr/>
          <p:nvPr/>
        </p:nvSpPr>
        <p:spPr>
          <a:xfrm>
            <a:off x="6286500" y="1333500"/>
            <a:ext cx="5334000" cy="457200"/>
          </a:xfrm>
          <a:prstGeom prst="rect">
            <a:avLst/>
          </a:prstGeom>
          <a:solidFill>
            <a:srgbClr val="005F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Proaktiv Fraud-sikring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FF561990-20F2-9B94-E0CB-D3E9F4553171}"/>
              </a:ext>
            </a:extLst>
          </p:cNvPr>
          <p:cNvSpPr txBox="1"/>
          <p:nvPr/>
        </p:nvSpPr>
        <p:spPr>
          <a:xfrm>
            <a:off x="6477000" y="1905000"/>
            <a:ext cx="4953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50">
                <a:solidFill>
                  <a:srgbClr val="000000"/>
                </a:solidFill>
                <a:latin typeface="Segoe UI" panose="020B0502040204020203" pitchFamily="34" charset="0"/>
              </a:rPr>
              <a:t>Eliminerer ukjente SIM i omløp og stopper uautorisert trafikk umiddelbart via automatiske alarmer.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05259CA-CA4F-B26E-1BDB-9F23D6DF4A11}"/>
              </a:ext>
            </a:extLst>
          </p:cNvPr>
          <p:cNvSpPr/>
          <p:nvPr/>
        </p:nvSpPr>
        <p:spPr>
          <a:xfrm>
            <a:off x="571500" y="3365500"/>
            <a:ext cx="5334000" cy="177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B134727E-6B67-CC01-0235-C60B5EFD57D5}"/>
              </a:ext>
            </a:extLst>
          </p:cNvPr>
          <p:cNvSpPr/>
          <p:nvPr/>
        </p:nvSpPr>
        <p:spPr>
          <a:xfrm>
            <a:off x="571500" y="3365500"/>
            <a:ext cx="5334000" cy="457200"/>
          </a:xfrm>
          <a:prstGeom prst="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Effektiv ressursbruk</a:t>
            </a: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8DF62605-88EE-A458-DB72-F75F5C836CFC}"/>
              </a:ext>
            </a:extLst>
          </p:cNvPr>
          <p:cNvSpPr txBox="1"/>
          <p:nvPr/>
        </p:nvSpPr>
        <p:spPr>
          <a:xfrm>
            <a:off x="762000" y="3937000"/>
            <a:ext cx="4953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50">
                <a:solidFill>
                  <a:srgbClr val="000000"/>
                </a:solidFill>
                <a:latin typeface="Segoe UI" panose="020B0502040204020203" pitchFamily="34" charset="0"/>
              </a:rPr>
              <a:t>Erstatter manuelle regneark med automatiserte Looker dashboards og AI-assistert saksbehandling.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97D58A11-7B8C-56DB-6331-1D9D60EDB975}"/>
              </a:ext>
            </a:extLst>
          </p:cNvPr>
          <p:cNvSpPr/>
          <p:nvPr/>
        </p:nvSpPr>
        <p:spPr>
          <a:xfrm>
            <a:off x="6286500" y="3365500"/>
            <a:ext cx="5334000" cy="177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48B0C8B9-0BD8-3B84-EA53-7E4A8DF92CB1}"/>
              </a:ext>
            </a:extLst>
          </p:cNvPr>
          <p:cNvSpPr/>
          <p:nvPr/>
        </p:nvSpPr>
        <p:spPr>
          <a:xfrm>
            <a:off x="6286500" y="3365500"/>
            <a:ext cx="5334000" cy="457200"/>
          </a:xfrm>
          <a:prstGeom prst="rect">
            <a:avLst/>
          </a:prstGeom>
          <a:solidFill>
            <a:srgbClr val="0018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100 % Compliance &amp; Audit</a:t>
            </a: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04281D44-3061-3FE6-D5C7-F50B00C0083C}"/>
              </a:ext>
            </a:extLst>
          </p:cNvPr>
          <p:cNvSpPr txBox="1"/>
          <p:nvPr/>
        </p:nvSpPr>
        <p:spPr>
          <a:xfrm>
            <a:off x="6477000" y="3937000"/>
            <a:ext cx="4953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50">
                <a:solidFill>
                  <a:srgbClr val="000000"/>
                </a:solidFill>
                <a:latin typeface="Segoe UI" panose="020B0502040204020203" pitchFamily="34" charset="0"/>
              </a:rPr>
              <a:t>Full etterlevelse av GIA-krav og ICFR NOR 72 med fullt automatisert revisjonsspor.</a:t>
            </a:r>
          </a:p>
        </p:txBody>
      </p:sp>
    </p:spTree>
    <p:extLst>
      <p:ext uri="{BB962C8B-B14F-4D97-AF65-F5344CB8AC3E}">
        <p14:creationId xmlns:p14="http://schemas.microsoft.com/office/powerpoint/2010/main" val="2929692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425923F1-1E5C-00D2-7F58-9337B92F9557}"/>
              </a:ext>
            </a:extLst>
          </p:cNvPr>
          <p:cNvSpPr/>
          <p:nvPr/>
        </p:nvSpPr>
        <p:spPr>
          <a:xfrm>
            <a:off x="571500" y="444500"/>
            <a:ext cx="2159000" cy="330200"/>
          </a:xfrm>
          <a:prstGeom prst="rect">
            <a:avLst/>
          </a:prstGeom>
          <a:solidFill>
            <a:srgbClr val="005F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VEDTAKSPUNKTER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ED252C79-4F80-DA95-486E-59D5F926AC37}"/>
              </a:ext>
            </a:extLst>
          </p:cNvPr>
          <p:cNvSpPr txBox="1"/>
          <p:nvPr/>
        </p:nvSpPr>
        <p:spPr>
          <a:xfrm>
            <a:off x="508000" y="863600"/>
            <a:ext cx="11049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2400" b="1">
                <a:solidFill>
                  <a:srgbClr val="FFFFFF"/>
                </a:solidFill>
                <a:latin typeface="Segoe UI" panose="020B0502040204020203" pitchFamily="34" charset="0"/>
              </a:rPr>
              <a:t>Forslag til Beslutning for Ledelsen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A83F08EB-69A3-506A-4B3B-25C43F1A5997}"/>
              </a:ext>
            </a:extLst>
          </p:cNvPr>
          <p:cNvSpPr/>
          <p:nvPr/>
        </p:nvSpPr>
        <p:spPr>
          <a:xfrm>
            <a:off x="571500" y="1524000"/>
            <a:ext cx="11049000" cy="482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ACC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165A4005-CC68-9E0C-58EC-330C5B207722}"/>
              </a:ext>
            </a:extLst>
          </p:cNvPr>
          <p:cNvSpPr/>
          <p:nvPr/>
        </p:nvSpPr>
        <p:spPr>
          <a:xfrm>
            <a:off x="571500" y="1524000"/>
            <a:ext cx="11049000" cy="482600"/>
          </a:xfrm>
          <a:prstGeom prst="rect">
            <a:avLst/>
          </a:prstGeom>
          <a:solidFill>
            <a:srgbClr val="005F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Innstilling til godkjenning i Telenor Business / GIA Forum</a:t>
            </a: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0382E4AE-1E40-1FEC-23A8-7296FA76513A}"/>
              </a:ext>
            </a:extLst>
          </p:cNvPr>
          <p:cNvSpPr txBox="1"/>
          <p:nvPr/>
        </p:nvSpPr>
        <p:spPr>
          <a:xfrm>
            <a:off x="825500" y="2133600"/>
            <a:ext cx="10541000" cy="320857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50">
                <a:solidFill>
                  <a:srgbClr val="000000"/>
                </a:solidFill>
                <a:latin typeface="Segoe UI" panose="020B0502040204020203" pitchFamily="34" charset="0"/>
              </a:rPr>
              <a:t>Det innstilles på at ledelsen fatter følgende vedtak:
1. Godkjenning av forvaltningsmodell:
Forvaltningsrammeverket (Prevent-Detect-Act-Improve) og de 6 forvaltningskravene godkjennes som gjeldende standard for Telenor Business.
2. Innføring av 6 mnd levetid for test-SIM:
Det innføres standard 6 måneders levetid og automatisk terminering for alle nye Test-1 abonnementer.
3. Google Cloud Looker &amp; Operativ forankring:
Google Cloud Looker etableres som offisiell oppfølgingsflate, og Customer Operations gis mandat til månedlige bulk-saneringer etter innspill fra SPOC-ene.
4. Oppstart av AI-agent pilot:
Det godkjennes igangsetting av pilot for AI-agentbasert datavask og kontroll av de 21 509 ustrukturerte testnumrene.</a:t>
            </a:r>
          </a:p>
        </p:txBody>
      </p:sp>
    </p:spTree>
    <p:extLst>
      <p:ext uri="{BB962C8B-B14F-4D97-AF65-F5344CB8AC3E}">
        <p14:creationId xmlns:p14="http://schemas.microsoft.com/office/powerpoint/2010/main" val="3778293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604d2c9-1577-460e-b668-57374a0216c3}" enabled="1" method="Standard" siteId="{1676489c-5c72-46b7-ba63-9ab90c4aad44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1042</Words>
  <Application>Microsoft Office PowerPoint</Application>
  <PresentationFormat>Egendefinert</PresentationFormat>
  <Paragraphs>71</Paragraphs>
  <Slides>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Segoe UI</vt:lpstr>
      <vt:lpstr>Office-tema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Telenor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 Marstein</dc:creator>
  <cp:lastModifiedBy>Tor Marstein</cp:lastModifiedBy>
  <cp:revision>1</cp:revision>
  <dcterms:created xsi:type="dcterms:W3CDTF">2026-09-18T10:08:14Z</dcterms:created>
  <dcterms:modified xsi:type="dcterms:W3CDTF">2026-09-18T10:08:14Z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Office-tema:8</vt:lpwstr>
  </property>
  <property fmtid="{D5CDD505-2E9C-101B-9397-08002B2CF9AE}" pid="3" name="ClassificationContentMarkingFooterText">
    <vt:lpwstr>Sensitivity: Internal</vt:lpwstr>
  </property>
</Properties>
</file>