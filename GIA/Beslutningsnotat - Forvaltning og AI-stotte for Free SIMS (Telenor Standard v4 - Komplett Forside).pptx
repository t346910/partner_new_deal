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4571223-9F5B-66A7-DB88-53D31CC7B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381000"/>
            <a:ext cx="11049000" cy="889000"/>
          </a:xfrm>
        </p:spPr>
        <p:txBody>
          <a:bodyPr/>
          <a:lstStyle/>
          <a:p>
            <a:r>
              <a:rPr lang="nb-NO" sz="2800">
                <a:solidFill>
                  <a:srgbClr val="001848"/>
                </a:solidFill>
                <a:latin typeface="Segoe UI" panose="020B0502040204020203" pitchFamily="34" charset="0"/>
              </a:rPr>
              <a:t>Forvaltning og AI-agentstøtte for Mobile Free SIMs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62DD5B0-E98A-C828-4D50-06DE86E074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8457E4A-E88B-2D33-73BB-D8EB65BC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1</a:t>
            </a:fld>
            <a:endParaRPr lang="en-GB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AC5CE60-1B03-DED2-8822-01ECD5DED348}"/>
              </a:ext>
            </a:extLst>
          </p:cNvPr>
          <p:cNvSpPr/>
          <p:nvPr/>
        </p:nvSpPr>
        <p:spPr>
          <a:xfrm>
            <a:off x="571500" y="1397000"/>
            <a:ext cx="11049000" cy="501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DFA7DFF9-7728-3FD9-B484-0E26B9458B51}"/>
              </a:ext>
            </a:extLst>
          </p:cNvPr>
          <p:cNvSpPr/>
          <p:nvPr/>
        </p:nvSpPr>
        <p:spPr>
          <a:xfrm>
            <a:off x="571500" y="1397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BESLUTNINGSUNDERLAG FOR LEDELSEN I TELENOR BUSINESS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12D631A4-4756-D103-9D9F-0A7E7AEFCD16}"/>
              </a:ext>
            </a:extLst>
          </p:cNvPr>
          <p:cNvSpPr txBox="1"/>
          <p:nvPr/>
        </p:nvSpPr>
        <p:spPr>
          <a:xfrm>
            <a:off x="825500" y="1968500"/>
            <a:ext cx="10541000" cy="3347776"/>
          </a:xfrm>
          <a:prstGeom prst="rect">
            <a:avLst/>
          </a:prstGeom>
          <a:noFill/>
        </p:spPr>
        <p:txBody>
          <a:bodyPr vert="horz" wrap="square" lIns="63500" tIns="6350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Sak:
   Forvaltning og AI-agentstøtte for Mobile Free SIMs betalt av Telenor Norge AS
• Saksinnhold:
   Etablering av en helhetlig styringsmodell (Prevent ➔ Detect ➔ Act ➔ Improve) og 6 forvaltningskrav. Innføring av AI-agenter for løpende kontroll og datavask av 135 281 abonnementer, i henhold til GIA Audit og ICFR NOR 72.
• Formål:
   1. Bevise maskinelt at 113 772 logiske nummer (MBN/NC) er gyldige og knyttet til aktiv betalende kunde.
   2. Foreslå automatisk stenging av 'døde' logiske numre og sanere 21 509 ustrukturerte test-SIM.
   3. Sikre Telenor mot inntektstap, fraud og oppnå 100 % revisjonssikker styring.
• Saksinnmelder:  Tor Marstein, Telenor Business
• Ansvarlig for kontrollen:  Tor Marstein (Business SPOC) &amp; Geir Kolstad (Technology SPOC - Critical/Ops SIM)
• Målgruppe &amp; Dato:  Ledelsen i Telenor Business / GIA &amp; ICFR Styringsgruppe  |  18. september 2026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73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C0134B9-E339-7AD1-B99E-34EE7E64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F268BEEB-B676-308A-0EBD-CCF90615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AB30527-DB45-F995-FF24-598BFDA2007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699AB75-00BA-661F-58F0-95952F062D03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6452BA7B-FF6B-ED3F-40C5-E095FC9A64AC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C00D422-AE0D-47AB-DA52-ADF1C22B95CD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5370F3DB-3BC2-AE67-B453-C8170435C850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646DC4D-AD37-3D88-238F-B0AEF63915DB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75D660D6-EE27-93A4-1810-C6ABDF96336A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BE77CBB-6CB0-4A5C-1F21-466097106012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68630E5A-0ECD-8644-078B-9F8072B96E9F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82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2A6DD0-38CE-4759-4DF3-64CEE977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DD5BB990-3881-1DC1-B76B-0D82BDD7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937E33D-FE3D-2DCB-D226-D907FEA059C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FFEF550-F2C7-E9B1-1729-467CE327363E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CBAE0CF-CB4E-0FA1-DDA7-BDD508766F72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F112F65D-F6F8-F8E3-A4E7-970C9F794FF5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6E5E69A2-A4F5-666C-246D-67B0E97AADD8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DB37987-A016-16A1-F624-8B3C70A4D7DF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B488983B-7E8C-B7F3-741E-ABB58A5F8CDA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Krever gyldighetsbevis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57F2790-E830-4D63-882E-36E879EE8073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D41AC6BB-81C0-CB7B-3AFF-4EC98F6AE6AB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Krever datavask &amp; kontroll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6A3CCA7-267A-099B-16BD-96BA246663D9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4FF5DDB-882E-AABB-B379-6910009EE2EE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Oppfølgings- og Kontrollfokus per Hovedgruppe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8772757B-F3D8-4DF8-DD5F-53B6BE4CAE2E}"/>
              </a:ext>
            </a:extLst>
          </p:cNvPr>
          <p:cNvSpPr txBox="1"/>
          <p:nvPr/>
        </p:nvSpPr>
        <p:spPr>
          <a:xfrm>
            <a:off x="825500" y="3683000"/>
            <a:ext cx="10541000" cy="12080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84 % (MBN &amp; Nordic Connect): Logiske nummer for sentralbord, køer og svargrupper. AI-agenter etablerer kontinuerlig kryssvalidering mot aktive kundeavtaler for å bevise gyldighet og foreslå stenging av foreldreløse nummer (Krav 1).
• 16 % (Test- og Drifts-SIM): 21 509 fysiske SIM-kort fordelt på IT-test, kritiske drift-SIM og utstyr. AI-agenter gjennomfører datavask, avdekker inaktivitet &gt; 6 mnd og genererer forslag til sanering.</a:t>
            </a:r>
            <a:endParaRPr kumimoji="0" lang="nb-NO" sz="14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23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40053F-0DF9-0ECF-4112-C915D3CF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C6F15621-313B-0161-BEE8-B0861177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714142A-E04B-9731-EB1B-A9FDB55EF8A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459E294-46CE-3C23-4795-752FFF2E811A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CADEABF6-7F0E-FF17-69EB-FE5D16192D05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C2AA5B7-5375-8372-E875-51CA83698F48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70C66754-AAB6-2050-2739-DBF00EC68B54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5C75565-0D05-2342-A9D1-255D9EB6C23D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D9744A75-E341-D83A-DCC3-AA447BD1B55B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35A12AE2-2EDA-6E05-9B7C-728AE06118FD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98B94358-9C99-5555-8782-9A0B83229BB4}"/>
              </a:ext>
            </a:extLst>
          </p:cNvPr>
          <p:cNvSpPr txBox="1"/>
          <p:nvPr/>
        </p:nvSpPr>
        <p:spPr>
          <a:xfrm>
            <a:off x="3492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gyldighetsbevis på MBN/NC
• Avdekking av 'døde' logiske nr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02C9FF76-CBA1-E388-1A7B-9C9DF6237410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1A537288-B47B-1C16-C9FA-F7D4EE7ABE8A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698FE6F3-A598-35BF-91F8-A42BF4BB346A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AI-forslag til stenging av ugyldige nr
• Verifisering av divisjons-SPOC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4EA78B5-ABD4-DE79-9DA7-AA875ABD262B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E53E1B9-BCA6-00B2-AA47-3FB090EFF6F9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3530CC7F-47BD-96D4-3BFE-1F9F6C8F4101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99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0A3599-3512-4B2C-7CCC-42654E45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8936F096-6CA2-7B17-C951-6115E1FC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272FC17-A224-39FB-9D98-8D27D6A8D41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BA84DCB-FF57-82C3-682C-431D4BFEAB1E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5A2DAA5E-BADF-7A5D-2292-77605D033ABA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3BDE4B0-0B5C-BDFF-D511-66C77B6D850B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281CA0ED-A261-24D6-D0A0-A0F4BACF721C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B1D15B7-4833-7461-6910-243393E7CCA5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21E24BD0-7AD7-C03E-3841-CA5126662E9C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som beviser at logiske MBN/NC-nummer dekkes av en gyldig kundeavtale, med automatisk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D0C30B7-C385-19C5-3017-61799F6FD849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2C45BAAE-F87B-603D-5EEB-2BBE7B5AAD2A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07EC42A4-1009-F894-0456-299F5CA79B8E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3721377-2186-FC82-4628-E1B7D9679D06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63831D7-A06A-E6E4-688C-AECAB7CBD1A9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9697F64D-DECC-C294-C56C-5F6FF7F995C9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264F7923-F722-AE3E-EBDD-5A592B211575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AFA872F4-2E57-5084-F48A-6FC1F388B7E7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10EB6FF6-F6BC-ACB8-EFDC-81987AE5A01D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F52CB517-DA30-A2DB-50B6-342D762382EE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171E6E8D-9EE9-ACD4-49E6-8DF0CED2C133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941E6797-6A6F-87D1-F2B9-23EC01C9A3E2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8C1056AD-B4B9-2778-4BE4-42D8EFB81431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D6618C4E-C58C-9944-551C-35E4D23C37AE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C2F3442E-0361-CF29-44E4-C81673A01324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203DEC7B-C485-8B6E-7ECD-B2D6C148C091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AD06F507-535E-2757-1217-1421B2CC4B96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8F748924-43FF-E2CC-85CB-7A67B96F2C9E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658962FA-BB68-66A7-FFD4-3AC180A2FEA8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B0735A2C-DDD4-C1D8-6FEB-D2C7D07AF480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12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6AA51D-2577-35C8-1F23-A902D51F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B868BACF-2093-C949-02CD-72C851EE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271C575-FD63-D075-0FC5-430B8EB60CB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A9F11F7-6C94-F2BC-3FAC-124836C2CFE7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EEB7A261-74CF-882C-698F-F9619926A32D}"/>
              </a:ext>
            </a:extLst>
          </p:cNvPr>
          <p:cNvSpPr txBox="1"/>
          <p:nvPr/>
        </p:nvSpPr>
        <p:spPr>
          <a:xfrm>
            <a:off x="533400" y="558800"/>
            <a:ext cx="8230908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kjerneoppgaver: MBN/NC-validering &amp; Testvask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65EA258-FEB9-4BF5-3963-66338D2D553C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C773689B-B203-784E-BCD8-C79A03CE8748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Gyldighetsbevis for MBN/NC (113 772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C6F2C666-3A09-370F-85CF-E3662B299CE3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 kryss-sjekker daglig alle logiske nummer mot bedriftsavtaler og fakturasystemer.
• Bevisføring for revisjon:
Genererer dokumentert bevis på at hvert logisk nummer er knyttet til et aktivt kundeforhold.
• Forslag om stenging:
Identifiserer foreldreløse nummer etter oppsagte avtaler og foreslår automatisk stenging/sanering.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09AAB0F5-458C-0FC6-D126-FE92CFBA9E35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AF376E98-55FB-2C0E-311A-AE1A927D005B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n-NO" sz="1400" b="1">
                <a:solidFill>
                  <a:srgbClr val="FFFFFF"/>
                </a:solidFill>
                <a:latin typeface="Segoe UI" panose="020B0502040204020203" pitchFamily="34" charset="0"/>
              </a:rPr>
              <a:t>2. Datavask av Test- &amp; Drifts-SIM (21 509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75B5AF2E-70E4-6376-206E-6392A7136D9B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Formålsklassifisering:
Grupperer ustrukturerte SIM inn i godkjente kategorier basert på historikk og bruksmønster.
• Inaktivitetsanalyse:
Flagger 'døde' testkort uten trafikk &gt; 6 mnd for umiddelbar terminering.
• Saneringsordre:
Overfører ferdige bulk-lister direkte til Customer Operations (Rørvik) for sletting.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24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AF0BAE7-8D20-B6DC-6C38-A1568A79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E39A644A-8826-D0F8-D913-A2DF4B5D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D445468-2F5B-2C29-2239-3964F89B961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2E31C8C-C6EF-465C-7889-7FF5F5352D01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A6C9E9D-BFB5-3820-AA21-FD6778993945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7E86567-1B1E-0E59-2B49-C7A3F1B0B899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1075575F-2BCD-CB1D-EE90-AC97658B48FD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AFB04002-A321-33B1-9B70-11767C48D93A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87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FD5CDF-340B-3149-8886-6710D4ED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BF5633F2-B252-FEA2-14A1-1AEE872D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4552043-F20B-C03A-6594-69E602C1717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74D9658-332D-F9C3-913B-AB1E309D7AA7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89FE7F36-D6A2-B6D1-081B-134EAB3DFA21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3CBA09C-E592-C9A7-B165-369C81EE14F1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9D9BA3E-B634-64CB-5334-47F7201C968F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D406AD0-A417-178F-B93F-2CC30E4AD7B3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51FAFF55-79AE-E58B-81C5-A9490D0F21B0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D121101-96E4-D323-A8C0-17CF4D3B9F2F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423115C7-B4D2-7141-322A-44774914DADA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88AC0A77-1448-DFEF-64B5-6F25E566D39A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90C62ADD-9C77-0870-3348-9DDE8C3D76FD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FA7E2C64-7EFF-D92A-517C-082C9D49F4D8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og Google Cloud Looker avvikslister.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6BA8FBA2-79E7-71B7-5DFB-3FCFA63E5CC9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0B02ED05-8379-7D8E-7A9D-4323B71D93A7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FB82CAAE-DCAF-7B6F-FABD-5E3E07E0777C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67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F43828B3-DF29-C9C3-33F7-E219E53016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D8B0FB01-927C-A7EC-6752-F5F42E5A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>
                <a:solidFill>
                  <a:srgbClr val="FFFFFF"/>
                </a:solidFill>
                <a:latin typeface="Segoe UI" panose="020B0502040204020203" pitchFamily="34" charset="0"/>
              </a:rPr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26A3352-EAF5-C0AD-566E-D48AF8392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E0AA8799-4621-4FD9-F508-408EE2AF70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E8F96C6-7938-D6CA-AC1D-06574A1F7CD1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0725755-0710-77FA-052F-EC787FB43B16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22F43ACE-DD94-7D96-ECCE-5DD06775B79C}"/>
              </a:ext>
            </a:extLst>
          </p:cNvPr>
          <p:cNvSpPr txBox="1"/>
          <p:nvPr/>
        </p:nvSpPr>
        <p:spPr>
          <a:xfrm>
            <a:off x="825500" y="1841500"/>
            <a:ext cx="10541000" cy="3638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AI-agent mandat for MBN/NC-gyldighet &amp; stenging:
Det godkjennes at AI-agenter etablerer kontrollmekanismer for løpende gyldighetsbevis for 113 772 logiske nummer på MBN/NC, samt genererer forslag om automatisk stenging av ugyldige nummer.
3. Innføring av 6 mnd levetid for test-SIM:
Det innføres standard 6 måneders levetid og automatisk terminering for alle nye Test-1 abonnementer.
4. Looker &amp; Customer Operations forankring:
Google Cloud Looker etableres som offisiell oppfølgingsflate, og Customer Operations (Rørvik) gis mandat til månedlige bulk-saneringer etter forslag fra AI-agenter og SPOC-ene.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3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1253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TelenorEvolutionPPT-Light</vt:lpstr>
      <vt:lpstr>TelenorEvolution PPT</vt:lpstr>
      <vt:lpstr>Calibri</vt:lpstr>
      <vt:lpstr>Telenor 2025</vt:lpstr>
      <vt:lpstr>Forvaltning og AI-agentstøtte for Mobile Free SIMs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