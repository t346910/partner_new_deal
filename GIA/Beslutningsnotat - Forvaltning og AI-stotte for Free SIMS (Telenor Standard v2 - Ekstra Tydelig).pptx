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embeddedFontLs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TelenorEvolution PPT" pitchFamily="2" charset="0"/>
      <p:regular r:id="rId20"/>
      <p:bold r:id="rId21"/>
      <p:italic r:id="rId22"/>
      <p:boldItalic r:id="rId23"/>
    </p:embeddedFont>
    <p:embeddedFont>
      <p:font typeface="TelenorEvolutionPPT-Light" pitchFamily="2" charset="0"/>
      <p:regular r:id="rId24"/>
      <p:bold r:id="rId25"/>
      <p:italic r:id="rId26"/>
      <p:boldItalic r:id="rId27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C0C0C0"/>
    <a:srgbClr val="CD7F32"/>
    <a:srgbClr val="ADFFFE"/>
    <a:srgbClr val="FFD0AD"/>
    <a:srgbClr val="F6FFF7"/>
    <a:srgbClr val="FFFDEC"/>
    <a:srgbClr val="FFF9F6"/>
    <a:srgbClr val="FFF5FA"/>
    <a:srgbClr val="FFD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ys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ys stil 2 – uthev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" d="100"/>
          <a:sy n="16" d="100"/>
        </p:scale>
        <p:origin x="908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192D7BEB-D096-76FF-553B-849C0BA62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3E5A3A9-4556-3B71-70C0-771DAA4246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6EA20-0840-4B60-A7DF-47983B442C9F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C871261-EFDF-13D4-5403-7C38F73D7B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D8168DE-04AE-0909-7A08-E28AF70F0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E3234-8599-4DD5-94C8-355D0E04706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54629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1E7B-BF52-F34C-A8A5-3EDA31C48EEC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"/>
              <a:t>Klikk for å redigere maltekststiler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A2A1D-4381-7944-A115-0AF78503C2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77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3DDE6-ECA6-4DD5-40CF-3446748F55EC}"/>
              </a:ext>
            </a:extLst>
          </p:cNvPr>
          <p:cNvSpPr txBox="1"/>
          <p:nvPr userDrawn="1"/>
        </p:nvSpPr>
        <p:spPr>
          <a:xfrm>
            <a:off x="555674" y="-338562"/>
            <a:ext cx="5482270" cy="36892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4000" b="1" i="1" u="none" strike="noStrike" kern="1200" cap="none" spc="-40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Hei.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1A1DC-DE9F-C67C-ADF3-64BBE23D76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D19AB46E-DC85-4C4D-9656-6951CE292F4E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74D820D-5D8B-6088-1CEE-FC8EF9121C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D96880-8CDF-F2CC-FB31-E84207A7D1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42874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.">
    <p:bg>
      <p:bgPr>
        <a:solidFill>
          <a:srgbClr val="AD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8962390" cy="34701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Pause.</a:t>
            </a:r>
          </a:p>
        </p:txBody>
      </p:sp>
    </p:spTree>
    <p:extLst>
      <p:ext uri="{BB962C8B-B14F-4D97-AF65-F5344CB8AC3E}">
        <p14:creationId xmlns:p14="http://schemas.microsoft.com/office/powerpoint/2010/main" val="39315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s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7290457" cy="3381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rgbClr val="FFD0AD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Takk.</a:t>
            </a:r>
          </a:p>
        </p:txBody>
      </p:sp>
    </p:spTree>
    <p:extLst>
      <p:ext uri="{BB962C8B-B14F-4D97-AF65-F5344CB8AC3E}">
        <p14:creationId xmlns:p14="http://schemas.microsoft.com/office/powerpoint/2010/main" val="3973189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uge text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7621B13F-E3A6-644F-8740-2496410369E6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998EC9-4000-1DFF-DDF9-60C3EAAED5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512" y="14815"/>
            <a:ext cx="11465935" cy="3392946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700" b="1" i="1" spc="-5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Tekst.</a:t>
            </a:r>
            <a:endParaRPr lang="nb-NO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E177C96C-CD10-90E5-8D7E-481E97A5E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7" name="Avrundet rektangel 4">
              <a:extLst>
                <a:ext uri="{FF2B5EF4-FFF2-40B4-BE49-F238E27FC236}">
                  <a16:creationId xmlns:a16="http://schemas.microsoft.com/office/drawing/2014/main" id="{3A066574-39BF-6AD1-67AA-BD43F5470D4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8" name="TekstSylinder 48">
              <a:extLst>
                <a:ext uri="{FF2B5EF4-FFF2-40B4-BE49-F238E27FC236}">
                  <a16:creationId xmlns:a16="http://schemas.microsoft.com/office/drawing/2014/main" id="{C27BCCF6-473F-8395-894E-FDCDCCA6D196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9" name="Ellipse 29">
              <a:extLst>
                <a:ext uri="{FF2B5EF4-FFF2-40B4-BE49-F238E27FC236}">
                  <a16:creationId xmlns:a16="http://schemas.microsoft.com/office/drawing/2014/main" id="{6F593B8D-8495-EE2C-7F1C-99E0EFB5A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5F66878E-8E6A-75B4-1601-E9E695CA37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5D16137F-EB09-AD29-26A8-B10E1AF9D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1D6B8FE8-07F7-F95B-3815-6E09FE6C3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03944979-3C83-A816-0090-A3F31EA446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AEDA0EB0-5939-7F60-FE10-1E704EE4CC93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55375B1C-7ADB-C9AD-610D-D5A26D8F0EC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33E48FD0-9A45-A4B4-33D6-72CB77C9E18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70BCBD9-2113-AAA8-FE26-EBBDC360213E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36" name="Rett linje 54">
                <a:extLst>
                  <a:ext uri="{FF2B5EF4-FFF2-40B4-BE49-F238E27FC236}">
                    <a16:creationId xmlns:a16="http://schemas.microsoft.com/office/drawing/2014/main" id="{BAE0610D-0840-A7E6-ADFE-A40D3DDC6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kstSylinder 61">
                <a:extLst>
                  <a:ext uri="{FF2B5EF4-FFF2-40B4-BE49-F238E27FC236}">
                    <a16:creationId xmlns:a16="http://schemas.microsoft.com/office/drawing/2014/main" id="{4784EEC4-66C8-F9A1-5FA5-782C20B2E6FD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4ED02AC7-42EF-175F-1BB0-B548A33B176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29" name="Group 14">
                <a:extLst>
                  <a:ext uri="{FF2B5EF4-FFF2-40B4-BE49-F238E27FC236}">
                    <a16:creationId xmlns:a16="http://schemas.microsoft.com/office/drawing/2014/main" id="{8C61E1D3-9DA9-A5BE-55BF-AB1C9B3E12EE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1" name="Ellipse 74">
                  <a:extLst>
                    <a:ext uri="{FF2B5EF4-FFF2-40B4-BE49-F238E27FC236}">
                      <a16:creationId xmlns:a16="http://schemas.microsoft.com/office/drawing/2014/main" id="{2248B696-CDFF-D7C6-AC24-CC0B9B3A81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75">
                  <a:extLst>
                    <a:ext uri="{FF2B5EF4-FFF2-40B4-BE49-F238E27FC236}">
                      <a16:creationId xmlns:a16="http://schemas.microsoft.com/office/drawing/2014/main" id="{19689632-940A-1FE0-0489-B113EBBF6E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76">
                  <a:extLst>
                    <a:ext uri="{FF2B5EF4-FFF2-40B4-BE49-F238E27FC236}">
                      <a16:creationId xmlns:a16="http://schemas.microsoft.com/office/drawing/2014/main" id="{603FD40E-D8FE-46AA-4A8D-BF5116103C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77">
                  <a:extLst>
                    <a:ext uri="{FF2B5EF4-FFF2-40B4-BE49-F238E27FC236}">
                      <a16:creationId xmlns:a16="http://schemas.microsoft.com/office/drawing/2014/main" id="{E59041D8-73F0-51F4-5FD7-B65E27E635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5" name="Ellipse 78">
                  <a:extLst>
                    <a:ext uri="{FF2B5EF4-FFF2-40B4-BE49-F238E27FC236}">
                      <a16:creationId xmlns:a16="http://schemas.microsoft.com/office/drawing/2014/main" id="{16798283-4666-6C92-5F88-CDBBB58D30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7E761EED-D13B-925B-CE65-AF443CC52C6E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A5AC3876-640C-7C2A-7754-DE08E6C719B4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93574B12-CF31-E790-3BAD-E44F553E74FC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24" name="Ellipse 56">
                  <a:extLst>
                    <a:ext uri="{FF2B5EF4-FFF2-40B4-BE49-F238E27FC236}">
                      <a16:creationId xmlns:a16="http://schemas.microsoft.com/office/drawing/2014/main" id="{0A74A497-B514-2740-B3CB-18363A644F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5" name="Ellipse 57">
                  <a:extLst>
                    <a:ext uri="{FF2B5EF4-FFF2-40B4-BE49-F238E27FC236}">
                      <a16:creationId xmlns:a16="http://schemas.microsoft.com/office/drawing/2014/main" id="{C18EF6C0-FBF7-AB85-8743-FAA7683A69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6" name="Ellipse 58">
                  <a:extLst>
                    <a:ext uri="{FF2B5EF4-FFF2-40B4-BE49-F238E27FC236}">
                      <a16:creationId xmlns:a16="http://schemas.microsoft.com/office/drawing/2014/main" id="{07711566-18A3-75C3-B81E-28EC7C0A31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7" name="Ellipse 59">
                  <a:extLst>
                    <a:ext uri="{FF2B5EF4-FFF2-40B4-BE49-F238E27FC236}">
                      <a16:creationId xmlns:a16="http://schemas.microsoft.com/office/drawing/2014/main" id="{CDCB6CAA-B918-46D6-9D2B-890F64709A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8" name="Ellipse 60">
                  <a:extLst>
                    <a:ext uri="{FF2B5EF4-FFF2-40B4-BE49-F238E27FC236}">
                      <a16:creationId xmlns:a16="http://schemas.microsoft.com/office/drawing/2014/main" id="{388B21CA-FB39-78AD-6D8E-3520AD485C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47E0C22B-0A3B-73DA-6AC8-FD86368B5440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38" name="TekstSylinder 50">
            <a:extLst>
              <a:ext uri="{FF2B5EF4-FFF2-40B4-BE49-F238E27FC236}">
                <a16:creationId xmlns:a16="http://schemas.microsoft.com/office/drawing/2014/main" id="{062F6A8E-A2BA-E00B-EE6B-C897DA3B6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286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308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E14C306B-B2D9-0FE6-7C7C-4362733BE422}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9D37133-9D8E-FF17-61DF-17D3228F51EC}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8B5E5-14C5-3F2F-7B10-77DFE72F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4C1DA1E-86FF-E14D-8189-C2E8151B1F4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A77D2-5589-83C4-2C58-5C51BD9B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98EE1-E559-ADB5-5FA2-D812B089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00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Tex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8D10D3-00D9-AD32-6852-D7B7B28C9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95" y="446"/>
            <a:ext cx="12191207" cy="6857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290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D6F46375-4BAC-E436-943C-7CBECACF1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EA2525B-1F90-06DF-E4CD-55E0E335D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CA23922-5169-5B0D-381C-37C9E487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5826471E-291F-2842-BA7A-B095A00A2AD9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ACA15F4-DADA-26E6-2115-8A389BCE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0AD83AE-50AA-32DA-2F80-B78063A9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81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041117-E2FA-07ED-B439-B3B7EB8B1A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3485359"/>
            <a:ext cx="11120297" cy="3392946"/>
          </a:xfrm>
        </p:spPr>
        <p:txBody>
          <a:bodyPr wrap="none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400" b="1" i="1" spc="-5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b" dirty="0"/>
              <a:t>Tekst</a:t>
            </a:r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61EED2-9C2C-1015-8AF0-3783E7786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0"/>
            <a:ext cx="5556723" cy="381744"/>
          </a:xfr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Sett inn presentasjonstittel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9821" y="1117600"/>
            <a:ext cx="11120297" cy="1644553"/>
          </a:xfrm>
        </p:spPr>
        <p:txBody>
          <a:bodyPr numCol="2" spcCol="360000">
            <a:spAutoFit/>
          </a:bodyPr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tabLst/>
              <a:defRPr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B097F-8233-CABB-AB17-DFBAECBB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05D10-63C8-7D41-B3DD-558FAE41D72D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EDA65-89A7-562A-E6AA-69C64BC7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0B0CA-9FC5-C2DC-0887-17B722DE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863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58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p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3F1254C-7137-FEEE-6F07-104982B34FD1}"/>
              </a:ext>
            </a:extLst>
          </p:cNvPr>
          <p:cNvSpPr txBox="1">
            <a:spLocks/>
          </p:cNvSpPr>
          <p:nvPr/>
        </p:nvSpPr>
        <p:spPr>
          <a:xfrm>
            <a:off x="540071" y="540000"/>
            <a:ext cx="2809416" cy="504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u="none" kern="120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pPr>
              <a:lnSpc>
                <a:spcPct val="82000"/>
              </a:lnSpc>
            </a:pPr>
            <a:r>
              <a:rPr lang="nb" sz="4000" b="1" i="1" noProof="0" dirty="0">
                <a:solidFill>
                  <a:schemeClr val="accent3"/>
                </a:solidFill>
                <a:uFill>
                  <a:solidFill>
                    <a:schemeClr val="accent2"/>
                  </a:solidFill>
                </a:uFill>
                <a:latin typeface="+mj-lt"/>
              </a:rPr>
              <a:t>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025582-10A8-CA5B-0E79-E40F2D42D7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70" y="1180817"/>
            <a:ext cx="3095973" cy="246221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/>
              <a:t>Sett inn presentasjonstittel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58880" y="678655"/>
            <a:ext cx="6796271" cy="5509419"/>
          </a:xfrm>
        </p:spPr>
        <p:txBody>
          <a:bodyPr/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accent3"/>
              </a:buClr>
              <a:buFont typeface="+mj-lt"/>
              <a:buAutoNum type="arabicPeriod"/>
              <a:tabLst/>
              <a:defRPr>
                <a:solidFill>
                  <a:schemeClr val="tx2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defRPr>
                <a:solidFill>
                  <a:schemeClr val="tx2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AB7EBB-A393-D691-D4A6-F675ACFA10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820" y="4335800"/>
            <a:ext cx="2329440" cy="590692"/>
          </a:xfrm>
          <a:solidFill>
            <a:schemeClr val="bg2"/>
          </a:solidFill>
        </p:spPr>
        <p:txBody>
          <a:bodyPr lIns="180000" rIns="18000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+mj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Navn</a:t>
            </a:r>
            <a:endParaRPr lang="nb-NO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744EC4-3DDA-4377-3452-16DDFF16F7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39818" y="4926494"/>
            <a:ext cx="2329441" cy="979007"/>
          </a:xfrm>
          <a:custGeom>
            <a:avLst/>
            <a:gdLst>
              <a:gd name="connsiteX0" fmla="*/ 0 w 2329138"/>
              <a:gd name="connsiteY0" fmla="*/ 0 h 979007"/>
              <a:gd name="connsiteX1" fmla="*/ 1 w 2329138"/>
              <a:gd name="connsiteY1" fmla="*/ 0 h 979007"/>
              <a:gd name="connsiteX2" fmla="*/ 2329138 w 2329138"/>
              <a:gd name="connsiteY2" fmla="*/ 0 h 979007"/>
              <a:gd name="connsiteX3" fmla="*/ 2329138 w 2329138"/>
              <a:gd name="connsiteY3" fmla="*/ 815548 h 979007"/>
              <a:gd name="connsiteX4" fmla="*/ 2165679 w 2329138"/>
              <a:gd name="connsiteY4" fmla="*/ 979007 h 979007"/>
              <a:gd name="connsiteX5" fmla="*/ 163460 w 2329138"/>
              <a:gd name="connsiteY5" fmla="*/ 979007 h 979007"/>
              <a:gd name="connsiteX6" fmla="*/ 1 w 2329138"/>
              <a:gd name="connsiteY6" fmla="*/ 815548 h 979007"/>
              <a:gd name="connsiteX7" fmla="*/ 1 w 2329138"/>
              <a:gd name="connsiteY7" fmla="*/ 557177 h 979007"/>
              <a:gd name="connsiteX8" fmla="*/ 1 w 2329138"/>
              <a:gd name="connsiteY8" fmla="*/ 523704 h 979007"/>
              <a:gd name="connsiteX9" fmla="*/ 0 w 2329138"/>
              <a:gd name="connsiteY9" fmla="*/ 523704 h 97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9138" h="979007">
                <a:moveTo>
                  <a:pt x="0" y="0"/>
                </a:moveTo>
                <a:lnTo>
                  <a:pt x="1" y="0"/>
                </a:lnTo>
                <a:lnTo>
                  <a:pt x="2329138" y="0"/>
                </a:lnTo>
                <a:lnTo>
                  <a:pt x="2329138" y="815548"/>
                </a:lnTo>
                <a:cubicBezTo>
                  <a:pt x="2329138" y="905824"/>
                  <a:pt x="2255955" y="979007"/>
                  <a:pt x="2165679" y="979007"/>
                </a:cubicBezTo>
                <a:lnTo>
                  <a:pt x="163460" y="979007"/>
                </a:lnTo>
                <a:cubicBezTo>
                  <a:pt x="73184" y="979007"/>
                  <a:pt x="1" y="905824"/>
                  <a:pt x="1" y="815548"/>
                </a:cubicBezTo>
                <a:lnTo>
                  <a:pt x="1" y="557177"/>
                </a:lnTo>
                <a:lnTo>
                  <a:pt x="1" y="523704"/>
                </a:lnTo>
                <a:lnTo>
                  <a:pt x="0" y="5237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72000" rIns="180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Tittel</a:t>
            </a:r>
            <a:endParaRPr lang="nb-NO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41B6E7-135E-CAC5-014B-082FEF224E0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9821" y="2006602"/>
            <a:ext cx="2329440" cy="2329199"/>
          </a:xfrm>
          <a:custGeom>
            <a:avLst/>
            <a:gdLst>
              <a:gd name="connsiteX0" fmla="*/ 166650 w 2329137"/>
              <a:gd name="connsiteY0" fmla="*/ 0 h 2329199"/>
              <a:gd name="connsiteX1" fmla="*/ 2162487 w 2329137"/>
              <a:gd name="connsiteY1" fmla="*/ 0 h 2329199"/>
              <a:gd name="connsiteX2" fmla="*/ 2329137 w 2329137"/>
              <a:gd name="connsiteY2" fmla="*/ 166650 h 2329199"/>
              <a:gd name="connsiteX3" fmla="*/ 2329137 w 2329137"/>
              <a:gd name="connsiteY3" fmla="*/ 2329199 h 2329199"/>
              <a:gd name="connsiteX4" fmla="*/ 0 w 2329137"/>
              <a:gd name="connsiteY4" fmla="*/ 2329199 h 2329199"/>
              <a:gd name="connsiteX5" fmla="*/ 0 w 2329137"/>
              <a:gd name="connsiteY5" fmla="*/ 166650 h 2329199"/>
              <a:gd name="connsiteX6" fmla="*/ 166650 w 2329137"/>
              <a:gd name="connsiteY6" fmla="*/ 0 h 232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9137" h="2329199">
                <a:moveTo>
                  <a:pt x="166650" y="0"/>
                </a:moveTo>
                <a:lnTo>
                  <a:pt x="2162487" y="0"/>
                </a:lnTo>
                <a:cubicBezTo>
                  <a:pt x="2254525" y="0"/>
                  <a:pt x="2329137" y="74612"/>
                  <a:pt x="2329137" y="166650"/>
                </a:cubicBezTo>
                <a:lnTo>
                  <a:pt x="2329137" y="2329199"/>
                </a:lnTo>
                <a:lnTo>
                  <a:pt x="0" y="2329199"/>
                </a:lnTo>
                <a:lnTo>
                  <a:pt x="0" y="166650"/>
                </a:lnTo>
                <a:cubicBezTo>
                  <a:pt x="0" y="74612"/>
                  <a:pt x="74612" y="0"/>
                  <a:pt x="16665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02D09-201F-9A40-6778-AD3A5C73EB0C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CA16D772-F78C-9146-A592-51DEC7639E2F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1CD6-412F-25B8-480D-E2414184D4E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5C48-2E5A-F642-A932-35AADD71BE9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5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 speak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2F27F4-9554-1DD3-113B-23B5DC72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" y="446"/>
            <a:ext cx="12191207" cy="6857554"/>
          </a:xfrm>
          <a:prstGeom prst="rect">
            <a:avLst/>
          </a:prstGeom>
        </p:spPr>
      </p:pic>
      <p:sp>
        <p:nvSpPr>
          <p:cNvPr id="6" name="Section title">
            <a:extLst>
              <a:ext uri="{FF2B5EF4-FFF2-40B4-BE49-F238E27FC236}">
                <a16:creationId xmlns:a16="http://schemas.microsoft.com/office/drawing/2014/main" id="{E3DCE9CB-BC03-4349-D59E-65DD82D608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D467D-01ED-F4CD-4FB0-76B44B10D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15D789-73FF-5412-D986-C536452756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9819" y="2006600"/>
            <a:ext cx="5555655" cy="3898900"/>
          </a:xfrm>
          <a:custGeom>
            <a:avLst/>
            <a:gdLst>
              <a:gd name="connsiteX0" fmla="*/ 279551 w 5554932"/>
              <a:gd name="connsiteY0" fmla="*/ 0 h 3898900"/>
              <a:gd name="connsiteX1" fmla="*/ 5554932 w 5554932"/>
              <a:gd name="connsiteY1" fmla="*/ 0 h 3898900"/>
              <a:gd name="connsiteX2" fmla="*/ 5554932 w 5554932"/>
              <a:gd name="connsiteY2" fmla="*/ 3898900 h 3898900"/>
              <a:gd name="connsiteX3" fmla="*/ 279551 w 5554932"/>
              <a:gd name="connsiteY3" fmla="*/ 3898900 h 3898900"/>
              <a:gd name="connsiteX4" fmla="*/ 0 w 5554932"/>
              <a:gd name="connsiteY4" fmla="*/ 3619349 h 3898900"/>
              <a:gd name="connsiteX5" fmla="*/ 0 w 5554932"/>
              <a:gd name="connsiteY5" fmla="*/ 279551 h 3898900"/>
              <a:gd name="connsiteX6" fmla="*/ 279551 w 5554932"/>
              <a:gd name="connsiteY6" fmla="*/ 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932" h="3898900">
                <a:moveTo>
                  <a:pt x="279551" y="0"/>
                </a:moveTo>
                <a:lnTo>
                  <a:pt x="5554932" y="0"/>
                </a:lnTo>
                <a:lnTo>
                  <a:pt x="5554932" y="3898900"/>
                </a:lnTo>
                <a:lnTo>
                  <a:pt x="279551" y="3898900"/>
                </a:lnTo>
                <a:cubicBezTo>
                  <a:pt x="125159" y="3898900"/>
                  <a:pt x="0" y="3773741"/>
                  <a:pt x="0" y="3619349"/>
                </a:cubicBezTo>
                <a:lnTo>
                  <a:pt x="0" y="279551"/>
                </a:lnTo>
                <a:cubicBezTo>
                  <a:pt x="0" y="125159"/>
                  <a:pt x="125159" y="0"/>
                  <a:pt x="27955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BD8D479-9780-9020-8256-B0111F833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999" y="2006600"/>
            <a:ext cx="5554593" cy="3898900"/>
          </a:xfrm>
          <a:custGeom>
            <a:avLst/>
            <a:gdLst>
              <a:gd name="connsiteX0" fmla="*/ 0 w 5553870"/>
              <a:gd name="connsiteY0" fmla="*/ 0 h 3898900"/>
              <a:gd name="connsiteX1" fmla="*/ 5277945 w 5553870"/>
              <a:gd name="connsiteY1" fmla="*/ 0 h 3898900"/>
              <a:gd name="connsiteX2" fmla="*/ 5553870 w 5553870"/>
              <a:gd name="connsiteY2" fmla="*/ 275925 h 3898900"/>
              <a:gd name="connsiteX3" fmla="*/ 5553870 w 5553870"/>
              <a:gd name="connsiteY3" fmla="*/ 3622975 h 3898900"/>
              <a:gd name="connsiteX4" fmla="*/ 5277945 w 5553870"/>
              <a:gd name="connsiteY4" fmla="*/ 3898900 h 3898900"/>
              <a:gd name="connsiteX5" fmla="*/ 0 w 5553870"/>
              <a:gd name="connsiteY5" fmla="*/ 389890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53870" h="3898900">
                <a:moveTo>
                  <a:pt x="0" y="0"/>
                </a:moveTo>
                <a:lnTo>
                  <a:pt x="5277945" y="0"/>
                </a:lnTo>
                <a:cubicBezTo>
                  <a:pt x="5430334" y="0"/>
                  <a:pt x="5553870" y="123536"/>
                  <a:pt x="5553870" y="275925"/>
                </a:cubicBezTo>
                <a:lnTo>
                  <a:pt x="5553870" y="3622975"/>
                </a:lnTo>
                <a:cubicBezTo>
                  <a:pt x="5553870" y="3775364"/>
                  <a:pt x="5430334" y="3898900"/>
                  <a:pt x="5277945" y="3898900"/>
                </a:cubicBezTo>
                <a:lnTo>
                  <a:pt x="0" y="38989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Card Title 1">
            <a:extLst>
              <a:ext uri="{FF2B5EF4-FFF2-40B4-BE49-F238E27FC236}">
                <a16:creationId xmlns:a16="http://schemas.microsoft.com/office/drawing/2014/main" id="{BFF04F26-B0FC-3FA0-E192-5295DEA73C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63579" y="2006601"/>
            <a:ext cx="5087012" cy="1139113"/>
          </a:xfrm>
        </p:spPr>
        <p:txBody>
          <a:bodyPr wrap="square" lIns="0" tIns="360000" rIns="36000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Navn Mellomnavn</a:t>
            </a:r>
            <a:br>
              <a:rPr lang="en-GB"/>
            </a:br>
            <a:r>
              <a:rPr lang="nb"/>
              <a:t>Etternavn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EEB964A-A83C-1C35-68F6-9031E4B07A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3055" y="3261897"/>
            <a:ext cx="5087536" cy="307777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Tittel / Rolle / Bedrift</a:t>
            </a:r>
            <a:endParaRPr lang="nb-NO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457FFAF-C065-9EFB-BBD3-3CF6D09BE6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3055" y="4183016"/>
            <a:ext cx="5087011" cy="523220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CE9753-B30B-766E-D6EC-5D416BE5C50F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5AEA6E1F-967F-3946-8ED7-7B5EB1710B7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5F019E1-92AE-95B3-D764-2B26A1D4B26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B8BB34-F033-4292-FF01-02AFF838523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63977CB0-3AEC-09A9-D6E7-7EC1D627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31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0018" y="3807298"/>
            <a:ext cx="2267265" cy="3133615"/>
          </a:xfrm>
        </p:spPr>
        <p:txBody>
          <a:bodyPr wrap="none" rIns="108000" anchor="b" anchorCtr="0">
            <a:spAutoFit/>
          </a:bodyPr>
          <a:lstStyle>
            <a:lvl1pPr marL="0" indent="0" algn="r" fontAlgn="b">
              <a:buNone/>
              <a:defRPr sz="22000" b="1" i="1" spc="-300" baseline="0">
                <a:solidFill>
                  <a:schemeClr val="accent1"/>
                </a:solidFill>
                <a:latin typeface="TelenorEvolution PPT" pitchFamily="2" charset="77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#</a:t>
            </a:r>
          </a:p>
        </p:txBody>
      </p:sp>
      <p:sp>
        <p:nvSpPr>
          <p:cNvPr id="7" name="Section title">
            <a:extLst>
              <a:ext uri="{FF2B5EF4-FFF2-40B4-BE49-F238E27FC236}">
                <a16:creationId xmlns:a16="http://schemas.microsoft.com/office/drawing/2014/main" id="{8728C624-8F74-6730-9C84-4E10C8362A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05FC8-5070-6E7E-6E57-D60E316FF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860400"/>
            <a:ext cx="5087211" cy="288900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C48727E-D6A1-72E4-5352-A5254C0193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1" y="5415337"/>
            <a:ext cx="2817360" cy="914866"/>
          </a:xfrm>
        </p:spPr>
        <p:txBody>
          <a:bodyPr wrap="square" rIns="18000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Klikk for å sette inn 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nb-NO" sz="1400" b="0" i="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3B0A6-CF15-20C7-D78C-71C578FA962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E6D16EF-64F2-D04A-B1F0-62CEEF8AA81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4B6B-7545-09B3-598C-F0CCAD6ACB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96408-94A8-AF08-B578-8C29F6CDC6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36B7A68-A840-5EF8-2E78-EA7B6A808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52145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35D4DDAD-2E1F-C244-A39B-2071E720CF0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2CE8E08E-6D30-C34A-E0DD-101C2A31E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84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80F084E-3EA5-8A4A-95AE-FC4565F938AB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77EE2D2F-82FE-CED0-3A1A-CEFCB896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62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E74003-45A9-AD3F-87C3-DF5C13BC43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8BE9A0AE-6586-EC40-B649-AB4FE0ACD219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4743BCB-BD23-5950-258D-F5449DF67B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20F3CE-86E8-370C-D224-1509A924E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720C9D3F-4A05-4C35-2EE4-97983B056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96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CCC8C-4F78-8515-39C4-BA6467B8B5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BE3035FC-E90C-0C44-9667-89C49958C7E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53FA-B2D1-D172-54E1-F2E7BF966C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FBFC75-0B81-D853-07C1-D775566176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558F1CE6-9496-D4D3-BACA-4BB5866D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92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634A6EED-D683-7BD7-9AE4-7772F47382E6}"/>
              </a:ext>
            </a:extLst>
          </p:cNvPr>
          <p:cNvSpPr/>
          <p:nvPr/>
        </p:nvSpPr>
        <p:spPr>
          <a:xfrm>
            <a:off x="6096792" y="0"/>
            <a:ext cx="3047603" cy="6858000"/>
          </a:xfrm>
          <a:custGeom>
            <a:avLst/>
            <a:gdLst>
              <a:gd name="connsiteX0" fmla="*/ 0 w 3047206"/>
              <a:gd name="connsiteY0" fmla="*/ 0 h 914400"/>
              <a:gd name="connsiteX1" fmla="*/ 1523603 w 3047206"/>
              <a:gd name="connsiteY1" fmla="*/ 0 h 914400"/>
              <a:gd name="connsiteX2" fmla="*/ 3047206 w 3047206"/>
              <a:gd name="connsiteY2" fmla="*/ 0 h 914400"/>
              <a:gd name="connsiteX3" fmla="*/ 3047206 w 3047206"/>
              <a:gd name="connsiteY3" fmla="*/ 914400 h 914400"/>
              <a:gd name="connsiteX4" fmla="*/ 1523603 w 3047206"/>
              <a:gd name="connsiteY4" fmla="*/ 914400 h 914400"/>
              <a:gd name="connsiteX5" fmla="*/ 0 w 3047206"/>
              <a:gd name="connsiteY5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7206" h="914400">
                <a:moveTo>
                  <a:pt x="0" y="0"/>
                </a:moveTo>
                <a:lnTo>
                  <a:pt x="1523603" y="0"/>
                </a:lnTo>
                <a:lnTo>
                  <a:pt x="3047206" y="0"/>
                </a:lnTo>
                <a:lnTo>
                  <a:pt x="3047206" y="914400"/>
                </a:lnTo>
                <a:lnTo>
                  <a:pt x="1523603" y="914400"/>
                </a:lnTo>
                <a:lnTo>
                  <a:pt x="0" y="9144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EA111-0938-666A-FA7D-07D558D9F3B7}"/>
              </a:ext>
            </a:extLst>
          </p:cNvPr>
          <p:cNvSpPr/>
          <p:nvPr/>
        </p:nvSpPr>
        <p:spPr>
          <a:xfrm>
            <a:off x="9144398" y="0"/>
            <a:ext cx="15238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2"/>
          </a:solidFill>
        </p:spPr>
        <p:txBody>
          <a:bodyPr wrap="square" tIns="2880000" bIns="36000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4096430" cy="665567"/>
          </a:xfrm>
        </p:spPr>
        <p:txBody>
          <a:bodyPr wrap="square" rIns="360000"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73BCFAC-C588-8322-ACD5-C9D0B0DFA38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0E29173-6442-BF44-971C-076363A4F22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887126-5C09-8DFB-249B-B184B83EC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1DD7D6-DC9B-2975-C4F0-BDC01EE763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EB06B325-FF24-E267-7475-F3EB80D96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panel på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8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587D30-7812-2AFF-8F42-859C07C686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A594DC-DF05-724C-8A47-85DA13EE42C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1543EE-4B15-F0CA-D48F-BD29ED954E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F2013F-43A6-8038-5D87-CBD5EB81FD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688C72A7-6153-57CF-3A17-431D9774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38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D05DC-25FF-60FD-F4FD-AD0DD24411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4FD7B6-3C9F-DB4A-A8EA-730EC90938EE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3931A-C51B-F906-FB92-145A4E71D1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A8C28-61EE-17B0-1598-87037AB252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4143D954-B553-23B4-A697-03663C4E1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4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8901B-21FD-507E-4F95-A2A6C8848B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411FAB8-613F-3546-B84F-43F9554BAD31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C216E72-AE69-1709-1DEA-8A036429A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6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86A5-F110-DF05-2507-E9A902C1B8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D4231-AE0A-3043-A5AF-E22125FD9078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D21B64-DE5B-3F73-675F-AFA169DB20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503167-D9B5-C41E-3E73-BA6BD9665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7D23DB7A-CAFE-38AA-7DFF-6A520B89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19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8F756-90B7-FDE9-081D-7C2E6AAAA46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4C072ED-17FD-534D-9CB4-369F4A45AFCF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5B5B0CA-69D2-3DF9-3EFA-DA4B0EBCE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BE02FF7-C4FE-5B83-273D-59EEBBBB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80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E183F-1B3D-52A7-11D9-594D24E5F2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815C360-7C96-8C40-B269-0BD063E8866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80C5FB5-029F-BBE6-0787-49B5622A1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0" name="TekstSylinder 50">
            <a:extLst>
              <a:ext uri="{FF2B5EF4-FFF2-40B4-BE49-F238E27FC236}">
                <a16:creationId xmlns:a16="http://schemas.microsoft.com/office/drawing/2014/main" id="{D9D8E22D-3A82-FA52-9AB4-006198E48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31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AD9BE5F-9865-4595-26CD-245C1125A5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noFill/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D026-F7A3-E725-4DC0-4B17CAF1D9B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BCA9D67-D9BD-BD48-9DBC-254BA0CDAE9F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F3C7B05-28F7-0B1A-95A8-340F25EC1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7E0C388-0430-F67E-A814-0D7FB534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B1FBEB96-5491-E853-8376-076A25C73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256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EFC025-AAFC-DB1C-E9D4-57997E745C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64503-6AD9-7194-CF17-38B4DFE0D2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FE3286A-4F6F-A84C-B022-A7FE66FD151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2E2E94C-2832-3553-57B8-9C68B562F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AF7F6D-4D69-B368-9433-94E93D9DC4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0D7DE433-B316-2622-1D09-835D1C3C9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50EAA09C-3D65-1B69-DCD4-FFCC13D6B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8C5A613-7079-58FA-ECFC-D57377156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8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15C8A-7C4E-C092-CCE9-157348AE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84F5-EC0C-34C5-8171-4C225E3789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4C779-2C98-F48F-1931-EEECB905377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B811D1-B507-754E-8685-9640AFEB5E1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11D5C898-71C6-6972-6D33-F856F2477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6454A34A-BFEE-ED5C-7EC4-6BC9EE0C9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6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602F6A-8EA9-0DEF-7E6D-41BB94B076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054DCB-E7F3-E449-A722-033BE53DD82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DC988D-329E-A6D8-4B26-5B17D95DF7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977A4-84E1-8D4C-6141-734A77CADA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570C98A-A54B-C27E-0000-AC1ADAA69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850E3B4B-78DD-85F2-8813-8C74EDF4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36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Mid spli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34FFE69-9039-F90F-2A2A-B17E8581653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62AE21-A135-314A-8CDB-D738DB74C731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BCCABB-4655-F6BD-3D1A-43A56934F25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69D1C4-E336-A11B-57BF-5649DFDA8F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99E3E61-D10A-EE5F-3F14-F35EA5438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66A95B51-EA65-04ED-7FAA-19967F6D4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1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Soft spli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69C1C-43D0-5345-4FBB-753AE898727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E6CF1B-F983-454F-8BCA-766C8E5E55A6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A0DD14-EE1D-D586-9775-4C2841C29C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4785BD-DF18-2270-B9A9-DE063D9BD9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41C3E4D-D68E-B096-032D-03BA5598D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09C7E65C-AA43-E20C-EB8B-224ACE9A3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385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93DEEDD7-1F06-18A0-FFE9-0D81D8214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B0A5F520-26AD-EB30-4146-4C8CCF867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8640000" cy="1123200"/>
          </a:xfrm>
        </p:spPr>
        <p:txBody>
          <a:bodyPr/>
          <a:lstStyle>
            <a:lvl1pPr>
              <a:defRPr sz="45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885A1-54BB-EE9B-F962-8B6360ECE2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37F03E-C082-744C-9348-E53F11F09F47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401ACA-E9F2-E265-F6E4-D345544071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E9AE9-185C-D954-A026-E04B1904DF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19208820-B208-3762-A18F-A8FB143E6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894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22A581-7119-3836-D55F-04CF4404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88EA-ADA6-554F-BA1C-78255CBA13A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5C709FF-7147-B96E-1794-0CE8E103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479E0C-8BA9-F45A-DDDD-968B3BFA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6DE18FA5-E550-2C0F-29A7-8A808C636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50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839D-E356-406C-F658-8D54D4FC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10E-F96E-394D-B3CC-AC5D39981C18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7C9463-E37C-710A-46F1-FAA12A02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D3633C-83AF-F473-B47E-4FFC1F36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B7E2D4-5F95-C2A6-DA6C-B5A39505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3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55FE30D-76D0-B04C-9714-53DA24FF40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 kern="4000" spc="-100" baseline="0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BCB824A-3901-2E26-0727-0C10009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42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F8CE2160-E85A-A147-A259-E1131CEF1639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0CD05FB-4C11-F47A-AB60-3625F6C3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102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BBDE4-EADE-5B93-BD24-220EBDD498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3655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48C5624B-9046-D2CE-06A4-8C9537A00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C5D66-E969-4DD9-8C87-36FD62780D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4C4E72E6-0782-124F-9AFB-F66D50A0A9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11B032-411C-5D8B-2F34-D2C525A763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CDEE95-5741-1E39-565D-8740B6F794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45504DD-77B7-017B-B0DE-7ECF2CBBD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3655" y="859515"/>
            <a:ext cx="5089544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C493D4E8-A400-3C83-8AAA-CAE8DD92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77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F5771B-788D-AEEF-2713-C1E0867AF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lang="en-US" sz="1400" b="0" i="0" kern="1200" noProof="0" dirty="0">
                <a:solidFill>
                  <a:schemeClr val="tx1"/>
                </a:solidFill>
                <a:highlight>
                  <a:srgbClr val="E8FDFF"/>
                </a:highlight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36EC-23F6-AB0D-E318-7CC83FB9D29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EA7789D2-AF95-A04B-AEAA-E368A7EF84CB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B659-41B1-1E89-181C-34095CEDC5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C3AED-6696-54AF-DE69-3815D85969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CC850A34-FDAE-2CC9-3824-BDBB5D784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7283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CC7E964-D06E-ECF2-3CD1-FF1D800BC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D173E98B-6259-DC2A-089E-962FBCC46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7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7257E026-CA26-3A01-D72B-BE2383324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3391091" cy="600164"/>
          </a:xfrm>
        </p:spPr>
        <p:txBody>
          <a:bodyPr wrap="square" rIns="46800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4016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6E2836B-B07D-B64C-37F0-912AD879F6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2962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2068BA2-2627-EDDD-E4B7-B436E2F887D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174FC493-3D2B-0247-83DC-A529ACA6CFE1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C2D19E8-D91D-D5DC-4CB4-4E2F968772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C5AF41F-7D8D-E316-971C-239886BF486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AEE9563D-BB00-D525-C198-B43FD212C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45576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657F1A2-CEF1-9AEA-8040-C34CF97A6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5E4F5FAF-845E-01A2-850D-D194C996A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200"/>
            <a:ext cx="5087462" cy="5244874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DE3A-F217-EAE9-55B6-DDD30B2AEAB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338C3A-47DE-184F-BF28-7DB54983EF90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5A18E854-B6C5-CAEE-9018-DBA9D4710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5B467DB-0C82-8ED4-786D-2C973BEB9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13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199"/>
            <a:ext cx="5087462" cy="5244875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724B96-A7D3-F48B-DB34-0AF8EFE826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BE8AFF-FA5D-5246-8BFF-CAD489D9F66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B5F8C0-4380-A1E9-6AA4-2ECAFA9097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09F0A6C-B17A-A515-7EE0-1E7E99A2CC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B5A3D02A-C1EB-E4B0-33D5-5CE7FCC32A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5260ECB-08DA-6515-55FC-AFF41DD8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02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5D5B38-95D2-8CEC-EC3D-871A3810D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1933963-2A25-A449-8EFC-4572009F125D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347413-21F5-35B5-5050-0FDE325149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DA1EFEA-D75B-3CC8-1114-CB4DA8DF7F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813222B-AEAB-F4B7-8555-232BF490E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ACA2F022-EE5B-C5EB-4388-6B67415F3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483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E70422-7DCF-29FB-5EA8-7D4E8E6481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E8CBED-249C-5347-BC07-AB41CCC4FF56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83240-8E74-3BF7-C8CA-75FF0845A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D0429-44E1-867C-14A6-FF25E08197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9B08DFCF-0BA4-BC63-1852-767145960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F1C11CA-A476-65CD-3242-FC77EE96C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0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s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1A967B-6543-B84F-3A38-DC68E3057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794" y="0"/>
            <a:ext cx="3045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4" name="Section 1">
            <a:extLst>
              <a:ext uri="{FF2B5EF4-FFF2-40B4-BE49-F238E27FC236}">
                <a16:creationId xmlns:a16="http://schemas.microsoft.com/office/drawing/2014/main" id="{97A19A75-202A-1A09-B415-20DE76E7D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all 1">
            <a:extLst>
              <a:ext uri="{FF2B5EF4-FFF2-40B4-BE49-F238E27FC236}">
                <a16:creationId xmlns:a16="http://schemas.microsoft.com/office/drawing/2014/main" id="{116FF204-5136-B24C-C877-78748972E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230" y="1163523"/>
            <a:ext cx="5088600" cy="2744558"/>
          </a:xfrm>
        </p:spPr>
        <p:txBody>
          <a:bodyPr wrap="none" anchor="b" anchorCtr="0"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5000" b="1" i="1" spc="-3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3" name="Tekst 1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3941531"/>
            <a:ext cx="3391091" cy="22465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180975" indent="-174625"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2pPr>
            <a:lvl3pPr marL="317500" indent="-136525">
              <a:tabLst/>
              <a:defRPr sz="1400">
                <a:solidFill>
                  <a:schemeClr val="accent3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5" name="Section 2">
            <a:extLst>
              <a:ext uri="{FF2B5EF4-FFF2-40B4-BE49-F238E27FC236}">
                <a16:creationId xmlns:a16="http://schemas.microsoft.com/office/drawing/2014/main" id="{F24A6423-F823-AE53-1957-EF7F25B2B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794" y="504001"/>
            <a:ext cx="1088215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6" name="Tall 2">
            <a:extLst>
              <a:ext uri="{FF2B5EF4-FFF2-40B4-BE49-F238E27FC236}">
                <a16:creationId xmlns:a16="http://schemas.microsoft.com/office/drawing/2014/main" id="{D0C02313-EB7E-3C07-CC57-1BA4DE530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794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5" name="Tekst 2">
            <a:extLst>
              <a:ext uri="{FF2B5EF4-FFF2-40B4-BE49-F238E27FC236}">
                <a16:creationId xmlns:a16="http://schemas.microsoft.com/office/drawing/2014/main" id="{25408968-4DDB-53D9-74E6-E3034E7A93E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96793" y="3941531"/>
            <a:ext cx="3043173" cy="2246543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11" name="Section 3">
            <a:extLst>
              <a:ext uri="{FF2B5EF4-FFF2-40B4-BE49-F238E27FC236}">
                <a16:creationId xmlns:a16="http://schemas.microsoft.com/office/drawing/2014/main" id="{FA71BA3A-E69D-CA7E-C003-5344BA8358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5190" y="504001"/>
            <a:ext cx="1088073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Tall 3">
            <a:extLst>
              <a:ext uri="{FF2B5EF4-FFF2-40B4-BE49-F238E27FC236}">
                <a16:creationId xmlns:a16="http://schemas.microsoft.com/office/drawing/2014/main" id="{2D4AF362-C8FE-1C70-68CF-D641E47168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5190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7" name="Tekst 3">
            <a:extLst>
              <a:ext uri="{FF2B5EF4-FFF2-40B4-BE49-F238E27FC236}">
                <a16:creationId xmlns:a16="http://schemas.microsoft.com/office/drawing/2014/main" id="{1A6C386F-9B63-5FEB-E855-802B57382AF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145190" y="3941532"/>
            <a:ext cx="3043173" cy="2246542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9F496-7F17-3274-D5DA-C9E47FC596F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424279-1F3E-3246-B88A-3DFC2504035B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0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DED9B6-4754-B4D2-F7FD-403C0E03373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0A5C3285-0ED9-3C4E-A405-69948C389DEF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F14264-EE95-5D5D-BAC0-140639BE7A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E15F6E-6BA5-4854-1DFB-82CD9C6BCF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52FBB17-AADA-4C59-D722-D3FDBE92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So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A258FDC-0687-4900-3CF9-8A0B14295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3600-577F-8A71-607D-3842951006C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D4E8E9DF-C8E3-4944-ADBD-E409416A8C7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B4ACC9DF-2F0F-922A-8E3B-4F36A1C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06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pl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1DD791-19E6-EEAF-5D49-B00DB884D8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none" tIns="360000" bIns="2880000" anchor="b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554FAFD-7BDD-23FA-B4EB-08D91D233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000" y="53066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0FBFD1E-6A84-AD49-1A7E-BB8DD0EC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0000" y="141626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3300CFC-7025-3149-D493-AAC70AE536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9885" y="4555712"/>
            <a:ext cx="4322365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tredje linje</a:t>
            </a:r>
            <a:endParaRPr lang="nb-NO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9AD8D6A-D2E9-0154-0D44-148CFE86F7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92402" y="5436206"/>
            <a:ext cx="4259848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/>
              <a:t>fjerde linje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FBA12-1079-56BB-5B5E-ACDDE041986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C34EB371-0610-3A46-92F9-9F184AF1659F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30D786-5751-98B1-94F9-550928CA4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740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4B32CFD-0059-D532-5795-442283D4EA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accent1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0EE3A-C39D-F1F4-51EB-13C5ADD103C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EF765E4C-CC36-FF4C-BDF5-EE3D56B457F7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5A09C8F-50C2-DDAB-8A4D-83B50375C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36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Image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C1A9B-DCE8-7C0C-C699-F2676D5731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tx2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accent3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2D837-14A4-60D9-27C6-4BE824A0E9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574391A7-B34E-0844-8FCE-55FB2F126A8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212DA51-2D94-66BD-FB70-3EC9FE84D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0741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DB7409EF-E06B-F254-0473-4F0A86C7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D9996-D27C-5EC3-7480-185CC649D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900000"/>
            <a:ext cx="6094412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218" y="540000"/>
            <a:ext cx="3567734" cy="57780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858519" y="1191872"/>
            <a:ext cx="3014760" cy="44712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846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1622-CDE1-0D00-887D-C705F5AFDF7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8301413-4585-1941-AC00-159F82A713FE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267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93485B01-B32A-1F5D-FE26-E286EB948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428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4797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637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80B77-3BDF-14DD-F52C-70498BD9E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900000"/>
            <a:ext cx="6096795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lang="en-GB" sz="1000" b="0" i="0" u="none" kern="12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6AC9A-51AB-9BF7-0F60-EFF6BCF8C29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07EB366-45DC-1548-8EC1-375AF3CAE09C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57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29F44BF4-AC00-3D2B-DD34-F52CE9F9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720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5381" y="1191600"/>
            <a:ext cx="3013592" cy="44748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7534041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7A5BC-852E-CBA5-8E62-C99D1CA099D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1932AE6-AD34-BB4D-A16E-936B911CCA16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AA6A4-A222-AE71-065C-BC56AEA47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900000"/>
            <a:ext cx="6098400" cy="720000"/>
          </a:xfrm>
          <a:solidFill>
            <a:schemeClr val="bg1"/>
          </a:solidFill>
        </p:spPr>
        <p:txBody>
          <a:bodyPr lIns="72000" tIns="72000" rIns="72000" bIns="72000" anchor="b" anchorCtr="0">
            <a:normAutofit/>
          </a:bodyPr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437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ousel 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50">
            <a:extLst>
              <a:ext uri="{FF2B5EF4-FFF2-40B4-BE49-F238E27FC236}">
                <a16:creationId xmlns:a16="http://schemas.microsoft.com/office/drawing/2014/main" id="{52695C98-B1D9-0ECB-3B55-39CE7D80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0" name="!!Form 1">
            <a:extLst>
              <a:ext uri="{FF2B5EF4-FFF2-40B4-BE49-F238E27FC236}">
                <a16:creationId xmlns:a16="http://schemas.microsoft.com/office/drawing/2014/main" id="{BD9B1B5A-51C2-1DE4-AA77-5CE6889E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6347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3 w 3013199"/>
              <a:gd name="connsiteY3" fmla="*/ 1447679 h 1447679"/>
              <a:gd name="connsiteX4" fmla="*/ 211466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3" y="1447679"/>
                </a:cubicBezTo>
                <a:lnTo>
                  <a:pt x="211466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!!Form 2">
            <a:extLst>
              <a:ext uri="{FF2B5EF4-FFF2-40B4-BE49-F238E27FC236}">
                <a16:creationId xmlns:a16="http://schemas.microsoft.com/office/drawing/2014/main" id="{E74F3E28-78B0-0214-77E7-4A533834A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1259" y="4218450"/>
            <a:ext cx="3569481" cy="2102963"/>
          </a:xfrm>
          <a:custGeom>
            <a:avLst/>
            <a:gdLst>
              <a:gd name="connsiteX0" fmla="*/ 0 w 3569016"/>
              <a:gd name="connsiteY0" fmla="*/ 0 h 2102963"/>
              <a:gd name="connsiteX1" fmla="*/ 3569016 w 3569016"/>
              <a:gd name="connsiteY1" fmla="*/ 0 h 2102963"/>
              <a:gd name="connsiteX2" fmla="*/ 3569016 w 3569016"/>
              <a:gd name="connsiteY2" fmla="*/ 1842960 h 2102963"/>
              <a:gd name="connsiteX3" fmla="*/ 3309013 w 3569016"/>
              <a:gd name="connsiteY3" fmla="*/ 2102963 h 2102963"/>
              <a:gd name="connsiteX4" fmla="*/ 260003 w 3569016"/>
              <a:gd name="connsiteY4" fmla="*/ 2102963 h 2102963"/>
              <a:gd name="connsiteX5" fmla="*/ 0 w 3569016"/>
              <a:gd name="connsiteY5" fmla="*/ 1842960 h 210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9016" h="2102963">
                <a:moveTo>
                  <a:pt x="0" y="0"/>
                </a:moveTo>
                <a:lnTo>
                  <a:pt x="3569016" y="0"/>
                </a:lnTo>
                <a:lnTo>
                  <a:pt x="3569016" y="1842960"/>
                </a:lnTo>
                <a:cubicBezTo>
                  <a:pt x="3569016" y="1986556"/>
                  <a:pt x="3452609" y="2102963"/>
                  <a:pt x="3309013" y="2102963"/>
                </a:cubicBezTo>
                <a:lnTo>
                  <a:pt x="260003" y="2102963"/>
                </a:lnTo>
                <a:cubicBezTo>
                  <a:pt x="116407" y="2102963"/>
                  <a:pt x="0" y="1986556"/>
                  <a:pt x="0" y="184296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23" name="!!Form 3">
            <a:extLst>
              <a:ext uri="{FF2B5EF4-FFF2-40B4-BE49-F238E27FC236}">
                <a16:creationId xmlns:a16="http://schemas.microsoft.com/office/drawing/2014/main" id="{CFDA1C59-8A93-4FD1-A4BC-F5850E102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092962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2 w 3013199"/>
              <a:gd name="connsiteY3" fmla="*/ 1447679 h 1447679"/>
              <a:gd name="connsiteX4" fmla="*/ 211467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2" y="1447679"/>
                </a:cubicBezTo>
                <a:lnTo>
                  <a:pt x="211467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EC0B013-7388-5E74-D479-A5DEACB2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28775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A4882B8-B832-B56B-E985-C613EDCB2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25609" y="1628776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3" name="Image 4">
            <a:extLst>
              <a:ext uri="{FF2B5EF4-FFF2-40B4-BE49-F238E27FC236}">
                <a16:creationId xmlns:a16="http://schemas.microsoft.com/office/drawing/2014/main" id="{EE9A1C44-9CEA-B295-5A41-91EE015040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 hasCustomPrompt="1"/>
          </p:nvPr>
        </p:nvSpPr>
        <p:spPr>
          <a:xfrm>
            <a:off x="-2148368" y="1625625"/>
            <a:ext cx="3014760" cy="3016800"/>
          </a:xfrm>
          <a:custGeom>
            <a:avLst/>
            <a:gdLst>
              <a:gd name="connsiteX0" fmla="*/ 165248 w 3014368"/>
              <a:gd name="connsiteY0" fmla="*/ 0 h 3016800"/>
              <a:gd name="connsiteX1" fmla="*/ 2849120 w 3014368"/>
              <a:gd name="connsiteY1" fmla="*/ 0 h 3016800"/>
              <a:gd name="connsiteX2" fmla="*/ 3014368 w 3014368"/>
              <a:gd name="connsiteY2" fmla="*/ 165248 h 3016800"/>
              <a:gd name="connsiteX3" fmla="*/ 3014368 w 3014368"/>
              <a:gd name="connsiteY3" fmla="*/ 3016800 h 3016800"/>
              <a:gd name="connsiteX4" fmla="*/ 0 w 3014368"/>
              <a:gd name="connsiteY4" fmla="*/ 3016800 h 3016800"/>
              <a:gd name="connsiteX5" fmla="*/ 0 w 3014368"/>
              <a:gd name="connsiteY5" fmla="*/ 165248 h 3016800"/>
              <a:gd name="connsiteX6" fmla="*/ 165248 w 3014368"/>
              <a:gd name="connsiteY6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16800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16800"/>
                </a:lnTo>
                <a:lnTo>
                  <a:pt x="0" y="3016800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4</a:t>
            </a:r>
          </a:p>
        </p:txBody>
      </p:sp>
      <p:sp>
        <p:nvSpPr>
          <p:cNvPr id="45" name="Image 5">
            <a:extLst>
              <a:ext uri="{FF2B5EF4-FFF2-40B4-BE49-F238E27FC236}">
                <a16:creationId xmlns:a16="http://schemas.microsoft.com/office/drawing/2014/main" id="{D972DE10-1098-EE16-B8DC-3397AD74E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11325608" y="1628775"/>
            <a:ext cx="3014760" cy="3009163"/>
          </a:xfrm>
          <a:custGeom>
            <a:avLst/>
            <a:gdLst>
              <a:gd name="connsiteX0" fmla="*/ 165248 w 3014368"/>
              <a:gd name="connsiteY0" fmla="*/ 0 h 3009163"/>
              <a:gd name="connsiteX1" fmla="*/ 2849120 w 3014368"/>
              <a:gd name="connsiteY1" fmla="*/ 0 h 3009163"/>
              <a:gd name="connsiteX2" fmla="*/ 3014368 w 3014368"/>
              <a:gd name="connsiteY2" fmla="*/ 165248 h 3009163"/>
              <a:gd name="connsiteX3" fmla="*/ 3014368 w 3014368"/>
              <a:gd name="connsiteY3" fmla="*/ 3009163 h 3009163"/>
              <a:gd name="connsiteX4" fmla="*/ 0 w 3014368"/>
              <a:gd name="connsiteY4" fmla="*/ 3009163 h 3009163"/>
              <a:gd name="connsiteX5" fmla="*/ 0 w 3014368"/>
              <a:gd name="connsiteY5" fmla="*/ 165248 h 3009163"/>
              <a:gd name="connsiteX6" fmla="*/ 165248 w 3014368"/>
              <a:gd name="connsiteY6" fmla="*/ 0 h 3009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09163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09163"/>
                </a:lnTo>
                <a:lnTo>
                  <a:pt x="0" y="3009163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93F36-5B6A-F9EA-4DF9-C8724807F28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9FAA757E-4A7C-6941-8DD2-9985673B1D3A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964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0C23-5FAE-E135-3F41-0CDF3026B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1" name="Form 1">
            <a:extLst>
              <a:ext uri="{FF2B5EF4-FFF2-40B4-BE49-F238E27FC236}">
                <a16:creationId xmlns:a16="http://schemas.microsoft.com/office/drawing/2014/main" id="{AE21D1F5-2BD5-EC6A-2B03-0A347F4E1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4" name="Form 2">
            <a:extLst>
              <a:ext uri="{FF2B5EF4-FFF2-40B4-BE49-F238E27FC236}">
                <a16:creationId xmlns:a16="http://schemas.microsoft.com/office/drawing/2014/main" id="{205D9756-C712-6801-4208-500B83F92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7" name="Form 3">
            <a:extLst>
              <a:ext uri="{FF2B5EF4-FFF2-40B4-BE49-F238E27FC236}">
                <a16:creationId xmlns:a16="http://schemas.microsoft.com/office/drawing/2014/main" id="{723AE2CE-3A3C-075B-C55E-F45FF905F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5800836-9DAC-37B2-E714-C037F88D5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541410" y="2003804"/>
            <a:ext cx="3571200" cy="2390399"/>
          </a:xfrm>
          <a:custGeom>
            <a:avLst/>
            <a:gdLst>
              <a:gd name="connsiteX0" fmla="*/ 255363 w 3569021"/>
              <a:gd name="connsiteY0" fmla="*/ 0 h 2390399"/>
              <a:gd name="connsiteX1" fmla="*/ 3313658 w 3569021"/>
              <a:gd name="connsiteY1" fmla="*/ 0 h 2390399"/>
              <a:gd name="connsiteX2" fmla="*/ 3569021 w 3569021"/>
              <a:gd name="connsiteY2" fmla="*/ 255363 h 2390399"/>
              <a:gd name="connsiteX3" fmla="*/ 3569021 w 3569021"/>
              <a:gd name="connsiteY3" fmla="*/ 2390399 h 2390399"/>
              <a:gd name="connsiteX4" fmla="*/ 0 w 3569021"/>
              <a:gd name="connsiteY4" fmla="*/ 2390399 h 2390399"/>
              <a:gd name="connsiteX5" fmla="*/ 0 w 3569021"/>
              <a:gd name="connsiteY5" fmla="*/ 255363 h 2390399"/>
              <a:gd name="connsiteX6" fmla="*/ 255363 w 3569021"/>
              <a:gd name="connsiteY6" fmla="*/ 0 h 239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90399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90399"/>
                </a:lnTo>
                <a:lnTo>
                  <a:pt x="0" y="2390399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9" name="Card Title 1">
            <a:extLst>
              <a:ext uri="{FF2B5EF4-FFF2-40B4-BE49-F238E27FC236}">
                <a16:creationId xmlns:a16="http://schemas.microsoft.com/office/drawing/2014/main" id="{98C28AB7-B72D-BD11-BF20-A7C31B7C44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5989" y="4700434"/>
            <a:ext cx="3560328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E88913F-9222-5E48-CBF6-EFABC06FC2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989" y="4977433"/>
            <a:ext cx="3560328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44531E-3706-FB46-65E5-417E396A5D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2003804"/>
            <a:ext cx="3569481" cy="2369773"/>
          </a:xfrm>
          <a:custGeom>
            <a:avLst/>
            <a:gdLst>
              <a:gd name="connsiteX0" fmla="*/ 255363 w 3569016"/>
              <a:gd name="connsiteY0" fmla="*/ 0 h 2369773"/>
              <a:gd name="connsiteX1" fmla="*/ 3313653 w 3569016"/>
              <a:gd name="connsiteY1" fmla="*/ 0 h 2369773"/>
              <a:gd name="connsiteX2" fmla="*/ 3569016 w 3569016"/>
              <a:gd name="connsiteY2" fmla="*/ 255363 h 2369773"/>
              <a:gd name="connsiteX3" fmla="*/ 3569016 w 3569016"/>
              <a:gd name="connsiteY3" fmla="*/ 2369773 h 2369773"/>
              <a:gd name="connsiteX4" fmla="*/ 0 w 3569016"/>
              <a:gd name="connsiteY4" fmla="*/ 2369773 h 2369773"/>
              <a:gd name="connsiteX5" fmla="*/ 0 w 3569016"/>
              <a:gd name="connsiteY5" fmla="*/ 255363 h 2369773"/>
              <a:gd name="connsiteX6" fmla="*/ 255363 w 3569016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16" h="2369773">
                <a:moveTo>
                  <a:pt x="255363" y="0"/>
                </a:moveTo>
                <a:lnTo>
                  <a:pt x="3313653" y="0"/>
                </a:lnTo>
                <a:cubicBezTo>
                  <a:pt x="3454686" y="0"/>
                  <a:pt x="3569016" y="114330"/>
                  <a:pt x="3569016" y="255363"/>
                </a:cubicBezTo>
                <a:lnTo>
                  <a:pt x="3569016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2" name="Card Title 2">
            <a:extLst>
              <a:ext uri="{FF2B5EF4-FFF2-40B4-BE49-F238E27FC236}">
                <a16:creationId xmlns:a16="http://schemas.microsoft.com/office/drawing/2014/main" id="{5BA6D557-6889-E2EA-A180-0F5F9EFDAA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700434"/>
            <a:ext cx="3569481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7D52F34-39F9-1FB3-7551-7C893F60CF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3"/>
            <a:ext cx="3569481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38B383B-DBAC-8569-2139-E74605AD67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8081105" y="2003804"/>
            <a:ext cx="3571200" cy="2369773"/>
          </a:xfrm>
          <a:custGeom>
            <a:avLst/>
            <a:gdLst>
              <a:gd name="connsiteX0" fmla="*/ 255363 w 3569021"/>
              <a:gd name="connsiteY0" fmla="*/ 0 h 2369773"/>
              <a:gd name="connsiteX1" fmla="*/ 3313658 w 3569021"/>
              <a:gd name="connsiteY1" fmla="*/ 0 h 2369773"/>
              <a:gd name="connsiteX2" fmla="*/ 3569021 w 3569021"/>
              <a:gd name="connsiteY2" fmla="*/ 255363 h 2369773"/>
              <a:gd name="connsiteX3" fmla="*/ 3569021 w 3569021"/>
              <a:gd name="connsiteY3" fmla="*/ 2369773 h 2369773"/>
              <a:gd name="connsiteX4" fmla="*/ 0 w 3569021"/>
              <a:gd name="connsiteY4" fmla="*/ 2369773 h 2369773"/>
              <a:gd name="connsiteX5" fmla="*/ 0 w 3569021"/>
              <a:gd name="connsiteY5" fmla="*/ 255363 h 2369773"/>
              <a:gd name="connsiteX6" fmla="*/ 255363 w 3569021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69773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15" name="Card Title 3">
            <a:extLst>
              <a:ext uri="{FF2B5EF4-FFF2-40B4-BE49-F238E27FC236}">
                <a16:creationId xmlns:a16="http://schemas.microsoft.com/office/drawing/2014/main" id="{8D9E2659-1FB7-CD10-4CEA-5F26834020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7034" y="4700434"/>
            <a:ext cx="3557629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E9B81C8-32BC-1323-014E-2B9F46B443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7034" y="4977433"/>
            <a:ext cx="3557629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0113651-6267-B416-E92A-533AAE659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2308F77-A82F-367C-A30B-5CCA6E91EE8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D7387FA-935B-3942-9F04-436B742D76BA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BB53E-5605-8CAC-338A-65A8B101D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F65DE-88B0-4770-29D6-7B18977A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E1EBF08-C947-7DBA-5E7A-9AC9D9BAC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87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Form 1">
            <a:extLst>
              <a:ext uri="{FF2B5EF4-FFF2-40B4-BE49-F238E27FC236}">
                <a16:creationId xmlns:a16="http://schemas.microsoft.com/office/drawing/2014/main" id="{BF870914-9EDF-D799-187F-F659B632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1" name="!!Form 2">
            <a:extLst>
              <a:ext uri="{FF2B5EF4-FFF2-40B4-BE49-F238E27FC236}">
                <a16:creationId xmlns:a16="http://schemas.microsoft.com/office/drawing/2014/main" id="{7FC41C89-EA1F-5908-C6CE-A46F13F7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2" name="!!Form 3">
            <a:extLst>
              <a:ext uri="{FF2B5EF4-FFF2-40B4-BE49-F238E27FC236}">
                <a16:creationId xmlns:a16="http://schemas.microsoft.com/office/drawing/2014/main" id="{B67A9F4C-1408-C8B6-1109-1875F8578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3" name="Image 1">
            <a:extLst>
              <a:ext uri="{FF2B5EF4-FFF2-40B4-BE49-F238E27FC236}">
                <a16:creationId xmlns:a16="http://schemas.microsoft.com/office/drawing/2014/main" id="{BF4E8175-5EAF-C4E1-98D2-C0267DA8469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410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" name="Card Title 1">
            <a:extLst>
              <a:ext uri="{FF2B5EF4-FFF2-40B4-BE49-F238E27FC236}">
                <a16:creationId xmlns:a16="http://schemas.microsoft.com/office/drawing/2014/main" id="{BD352953-9D57-0A70-9D30-B67A54662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410" y="4584561"/>
            <a:ext cx="3560328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0296459-B7D6-BC14-4BBF-F71827182B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410" y="4977432"/>
            <a:ext cx="3560328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539F1F1F-AE41-EA56-480A-FBBABAB1188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540001"/>
            <a:ext cx="3569481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8" name="Card Title 2">
            <a:extLst>
              <a:ext uri="{FF2B5EF4-FFF2-40B4-BE49-F238E27FC236}">
                <a16:creationId xmlns:a16="http://schemas.microsoft.com/office/drawing/2014/main" id="{DEE0D4B3-1E06-9B84-D5E5-EB7472DB0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3CB0CD72-9720-F40C-1A8A-27E8E6BEC2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6" name="Image 3">
            <a:extLst>
              <a:ext uri="{FF2B5EF4-FFF2-40B4-BE49-F238E27FC236}">
                <a16:creationId xmlns:a16="http://schemas.microsoft.com/office/drawing/2014/main" id="{9E58CE8C-09A5-A2C7-8966-9385B35B648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081105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6" name="Card Title 3">
            <a:extLst>
              <a:ext uri="{FF2B5EF4-FFF2-40B4-BE49-F238E27FC236}">
                <a16:creationId xmlns:a16="http://schemas.microsoft.com/office/drawing/2014/main" id="{8DE9D201-354A-7FBD-D1BE-AFD8403E97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1105" y="4584561"/>
            <a:ext cx="3557629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CAB51F6-2FF1-0AEB-32E8-05C0F0DC46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05" y="4977432"/>
            <a:ext cx="3557629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25A9DB-C34C-3DB2-49C0-38317B8F4991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BFE81E57-EE26-9047-B0ED-37948D954AEA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kstSylinder 50">
            <a:extLst>
              <a:ext uri="{FF2B5EF4-FFF2-40B4-BE49-F238E27FC236}">
                <a16:creationId xmlns:a16="http://schemas.microsoft.com/office/drawing/2014/main" id="{CA73271C-13A9-115F-1460-957E91C33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57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93C994E-400F-15E3-37C1-0B643259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99256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9AA62DC-2F89-71B3-FBD1-BBC702336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3346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3F8594FD-18AD-67F3-522F-A4EB078BB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9B073D-4E7C-4F54-4601-12DC9C862FB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9256" y="539999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1 w 3567600"/>
              <a:gd name="connsiteY1" fmla="*/ 0 h 3686400"/>
              <a:gd name="connsiteX2" fmla="*/ 3567600 w 3567600"/>
              <a:gd name="connsiteY2" fmla="*/ 252070 h 3686400"/>
              <a:gd name="connsiteX3" fmla="*/ 3567600 w 3567600"/>
              <a:gd name="connsiteY3" fmla="*/ 2772000 h 3686400"/>
              <a:gd name="connsiteX4" fmla="*/ 3567600 w 3567600"/>
              <a:gd name="connsiteY4" fmla="*/ 3579267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79267 h 3686400"/>
              <a:gd name="connsiteX8" fmla="*/ 0 w 3567600"/>
              <a:gd name="connsiteY8" fmla="*/ 2772000 h 3686400"/>
              <a:gd name="connsiteX9" fmla="*/ 0 w 3567600"/>
              <a:gd name="connsiteY9" fmla="*/ 25207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1" y="0"/>
                </a:lnTo>
                <a:cubicBezTo>
                  <a:pt x="3454306" y="0"/>
                  <a:pt x="3567600" y="112855"/>
                  <a:pt x="3567600" y="252070"/>
                </a:cubicBezTo>
                <a:lnTo>
                  <a:pt x="3567600" y="2772000"/>
                </a:lnTo>
                <a:lnTo>
                  <a:pt x="3567600" y="3579267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79267"/>
                </a:lnTo>
                <a:lnTo>
                  <a:pt x="0" y="2772000"/>
                </a:lnTo>
                <a:lnTo>
                  <a:pt x="0" y="252070"/>
                </a:lnTo>
                <a:cubicBezTo>
                  <a:pt x="0" y="112855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9256" y="4584561"/>
            <a:ext cx="3568063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9256" y="4977432"/>
            <a:ext cx="3568063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21E886-71D4-281C-0A55-F4E9FA1C822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873346" y="1191872"/>
            <a:ext cx="3013591" cy="3034526"/>
          </a:xfrm>
          <a:custGeom>
            <a:avLst/>
            <a:gdLst>
              <a:gd name="connsiteX0" fmla="*/ 213727 w 3013199"/>
              <a:gd name="connsiteY0" fmla="*/ 0 h 3034526"/>
              <a:gd name="connsiteX1" fmla="*/ 2799473 w 3013199"/>
              <a:gd name="connsiteY1" fmla="*/ 0 h 3034526"/>
              <a:gd name="connsiteX2" fmla="*/ 3013199 w 3013199"/>
              <a:gd name="connsiteY2" fmla="*/ 213726 h 3034526"/>
              <a:gd name="connsiteX3" fmla="*/ 3013199 w 3013199"/>
              <a:gd name="connsiteY3" fmla="*/ 3034526 h 3034526"/>
              <a:gd name="connsiteX4" fmla="*/ 0 w 3013199"/>
              <a:gd name="connsiteY4" fmla="*/ 3034526 h 3034526"/>
              <a:gd name="connsiteX5" fmla="*/ 0 w 3013199"/>
              <a:gd name="connsiteY5" fmla="*/ 213726 h 3034526"/>
              <a:gd name="connsiteX6" fmla="*/ 213727 w 3013199"/>
              <a:gd name="connsiteY6" fmla="*/ 0 h 303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526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526"/>
                </a:lnTo>
                <a:lnTo>
                  <a:pt x="0" y="3034526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3346" y="4409517"/>
            <a:ext cx="3013200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3346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962" y="1191872"/>
            <a:ext cx="3013591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3204C-8D7D-421D-34FA-5960A15A108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C3E358C-23F0-464C-BE59-9BA22C49933C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4EA06E5-CCC9-D7C7-227E-48FBE936F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9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Form 1">
            <a:extLst>
              <a:ext uri="{FF2B5EF4-FFF2-40B4-BE49-F238E27FC236}">
                <a16:creationId xmlns:a16="http://schemas.microsoft.com/office/drawing/2014/main" id="{77DA3ABA-5B44-F5E5-8C95-D10706771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12ACED8-F51A-37B8-87C4-A28A63649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1259" y="4219013"/>
            <a:ext cx="3569481" cy="2102400"/>
          </a:xfrm>
          <a:prstGeom prst="round2SameRect">
            <a:avLst>
              <a:gd name="adj1" fmla="val 0"/>
              <a:gd name="adj2" fmla="val 1196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8" name="!!Form 3">
            <a:extLst>
              <a:ext uri="{FF2B5EF4-FFF2-40B4-BE49-F238E27FC236}">
                <a16:creationId xmlns:a16="http://schemas.microsoft.com/office/drawing/2014/main" id="{3D1C86B4-5635-D452-0D7A-7E4DF6AEB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200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6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6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200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AC218-62D2-2C30-62E9-59ED1910B7A0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FF075D01-6CBD-4B46-90C5-32A141548B97}" type="datetime1">
              <a:rPr lang="nb-NO" smtClean="0"/>
              <a:t>18.09.2026</a:t>
            </a:fld>
            <a:endParaRPr lang="en-GB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E36ECF0-CF0D-F89A-ACE1-1DE815339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9" name="Avrundet rektangel 4">
              <a:extLst>
                <a:ext uri="{FF2B5EF4-FFF2-40B4-BE49-F238E27FC236}">
                  <a16:creationId xmlns:a16="http://schemas.microsoft.com/office/drawing/2014/main" id="{AC55C6ED-39FA-90BD-3305-F92CFD8B04B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10" name="TekstSylinder 48">
              <a:extLst>
                <a:ext uri="{FF2B5EF4-FFF2-40B4-BE49-F238E27FC236}">
                  <a16:creationId xmlns:a16="http://schemas.microsoft.com/office/drawing/2014/main" id="{43709D66-D82C-5971-50CD-7D6141556209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11" name="Ellipse 29">
              <a:extLst>
                <a:ext uri="{FF2B5EF4-FFF2-40B4-BE49-F238E27FC236}">
                  <a16:creationId xmlns:a16="http://schemas.microsoft.com/office/drawing/2014/main" id="{32AEDAE9-D970-E6C8-51FA-48183239BE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9CF57B2E-EAC0-2DB2-E59E-E7C6DDF9A9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D875FB36-D724-6EF0-38AE-F2A30E3C55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280278CF-4623-26E9-71C1-962C577527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A26BFB57-EA9A-DABD-0C6B-3BA1D6AFF5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591AC737-59AD-E549-A83D-30CBD7BA45E0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16F0C072-DE0B-169B-6B52-C7690C4D6042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2CFCCF9D-6179-B970-BDE8-E7977203F698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2283AC8-B213-2BAB-820D-BAB5D8B7D14C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45" name="Rett linje 54">
                <a:extLst>
                  <a:ext uri="{FF2B5EF4-FFF2-40B4-BE49-F238E27FC236}">
                    <a16:creationId xmlns:a16="http://schemas.microsoft.com/office/drawing/2014/main" id="{E249562A-D797-D2C2-3BAD-107DF59959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kstSylinder 61">
                <a:extLst>
                  <a:ext uri="{FF2B5EF4-FFF2-40B4-BE49-F238E27FC236}">
                    <a16:creationId xmlns:a16="http://schemas.microsoft.com/office/drawing/2014/main" id="{B57D7015-B285-E35D-0E44-8EAEE69E1616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60F231F8-1648-0E93-94B1-B8B751CFD168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35" name="Group 14">
                <a:extLst>
                  <a:ext uri="{FF2B5EF4-FFF2-40B4-BE49-F238E27FC236}">
                    <a16:creationId xmlns:a16="http://schemas.microsoft.com/office/drawing/2014/main" id="{70524A07-B0EB-1768-3AB2-0DF4BD495DF2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8" name="Ellipse 74">
                  <a:extLst>
                    <a:ext uri="{FF2B5EF4-FFF2-40B4-BE49-F238E27FC236}">
                      <a16:creationId xmlns:a16="http://schemas.microsoft.com/office/drawing/2014/main" id="{6A5B15AC-8BBE-3B5B-A5BD-9728035D3D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0" name="Ellipse 75">
                  <a:extLst>
                    <a:ext uri="{FF2B5EF4-FFF2-40B4-BE49-F238E27FC236}">
                      <a16:creationId xmlns:a16="http://schemas.microsoft.com/office/drawing/2014/main" id="{ED7A51A8-78DE-37B4-48E1-B69DE092FB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2" name="Ellipse 76">
                  <a:extLst>
                    <a:ext uri="{FF2B5EF4-FFF2-40B4-BE49-F238E27FC236}">
                      <a16:creationId xmlns:a16="http://schemas.microsoft.com/office/drawing/2014/main" id="{9B667FA4-7B38-DC2A-CB35-99B92ED9E5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3" name="Ellipse 77">
                  <a:extLst>
                    <a:ext uri="{FF2B5EF4-FFF2-40B4-BE49-F238E27FC236}">
                      <a16:creationId xmlns:a16="http://schemas.microsoft.com/office/drawing/2014/main" id="{AD9556FF-3ECC-7793-67B7-3E3DAB31CC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4" name="Ellipse 78">
                  <a:extLst>
                    <a:ext uri="{FF2B5EF4-FFF2-40B4-BE49-F238E27FC236}">
                      <a16:creationId xmlns:a16="http://schemas.microsoft.com/office/drawing/2014/main" id="{56CE8422-55C0-ACEE-15E1-2A1E47F73F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6" name="TextBox 13">
                <a:extLst>
                  <a:ext uri="{FF2B5EF4-FFF2-40B4-BE49-F238E27FC236}">
                    <a16:creationId xmlns:a16="http://schemas.microsoft.com/office/drawing/2014/main" id="{37A987F4-1B9F-97EC-C2B6-F2FCA431F405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3" name="Group 7">
              <a:extLst>
                <a:ext uri="{FF2B5EF4-FFF2-40B4-BE49-F238E27FC236}">
                  <a16:creationId xmlns:a16="http://schemas.microsoft.com/office/drawing/2014/main" id="{349E8014-56AE-9215-C51C-0F302E1BCB8A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4" name="Group 19">
                <a:extLst>
                  <a:ext uri="{FF2B5EF4-FFF2-40B4-BE49-F238E27FC236}">
                    <a16:creationId xmlns:a16="http://schemas.microsoft.com/office/drawing/2014/main" id="{CFD1289D-AD12-3A9B-E997-1020A97ED98F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30" name="Ellipse 56">
                  <a:extLst>
                    <a:ext uri="{FF2B5EF4-FFF2-40B4-BE49-F238E27FC236}">
                      <a16:creationId xmlns:a16="http://schemas.microsoft.com/office/drawing/2014/main" id="{4C5D7353-1FA8-CB49-B48C-F418E4F6E8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1" name="Ellipse 57">
                  <a:extLst>
                    <a:ext uri="{FF2B5EF4-FFF2-40B4-BE49-F238E27FC236}">
                      <a16:creationId xmlns:a16="http://schemas.microsoft.com/office/drawing/2014/main" id="{3815CB14-1590-280C-2CE4-2406032A25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58">
                  <a:extLst>
                    <a:ext uri="{FF2B5EF4-FFF2-40B4-BE49-F238E27FC236}">
                      <a16:creationId xmlns:a16="http://schemas.microsoft.com/office/drawing/2014/main" id="{2F633AF9-EE8D-75D0-9474-7ED7B6C22D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59">
                  <a:extLst>
                    <a:ext uri="{FF2B5EF4-FFF2-40B4-BE49-F238E27FC236}">
                      <a16:creationId xmlns:a16="http://schemas.microsoft.com/office/drawing/2014/main" id="{E4CE4CDB-9283-3E3E-2542-E6083FA479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60">
                  <a:extLst>
                    <a:ext uri="{FF2B5EF4-FFF2-40B4-BE49-F238E27FC236}">
                      <a16:creationId xmlns:a16="http://schemas.microsoft.com/office/drawing/2014/main" id="{54411182-CC78-4D9E-4997-DE01498CD3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A4B73B64-53F0-2534-D843-874149E7BD6D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47" name="TekstSylinder 50">
            <a:extLst>
              <a:ext uri="{FF2B5EF4-FFF2-40B4-BE49-F238E27FC236}">
                <a16:creationId xmlns:a16="http://schemas.microsoft.com/office/drawing/2014/main" id="{750E2E49-C7D5-7D74-EF77-C17878A0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CF1A38A-C181-C833-6252-05DF0E11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F804DF99-094D-7160-17C4-5F957DFE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09460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17FA5378-210C-749A-8F27-96DA68CE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7906" y="4218447"/>
            <a:ext cx="3568063" cy="2102400"/>
          </a:xfrm>
          <a:prstGeom prst="round2SameRect">
            <a:avLst>
              <a:gd name="adj1" fmla="val 0"/>
              <a:gd name="adj2" fmla="val 1224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FE34B-F7EE-8527-7C0A-E3EB4F759B3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309460" y="1191602"/>
            <a:ext cx="3013591" cy="3034797"/>
          </a:xfrm>
          <a:custGeom>
            <a:avLst/>
            <a:gdLst>
              <a:gd name="connsiteX0" fmla="*/ 213727 w 3013199"/>
              <a:gd name="connsiteY0" fmla="*/ 0 h 3034797"/>
              <a:gd name="connsiteX1" fmla="*/ 2799473 w 3013199"/>
              <a:gd name="connsiteY1" fmla="*/ 0 h 3034797"/>
              <a:gd name="connsiteX2" fmla="*/ 3013199 w 3013199"/>
              <a:gd name="connsiteY2" fmla="*/ 213726 h 3034797"/>
              <a:gd name="connsiteX3" fmla="*/ 3013199 w 3013199"/>
              <a:gd name="connsiteY3" fmla="*/ 3034797 h 3034797"/>
              <a:gd name="connsiteX4" fmla="*/ 0 w 3013199"/>
              <a:gd name="connsiteY4" fmla="*/ 3034797 h 3034797"/>
              <a:gd name="connsiteX5" fmla="*/ 0 w 3013199"/>
              <a:gd name="connsiteY5" fmla="*/ 213726 h 3034797"/>
              <a:gd name="connsiteX6" fmla="*/ 213727 w 3013199"/>
              <a:gd name="connsiteY6" fmla="*/ 0 h 303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797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797"/>
                </a:lnTo>
                <a:lnTo>
                  <a:pt x="0" y="3034797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60" y="4409517"/>
            <a:ext cx="3013591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61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00B13D-0409-309B-1131-2A9414999D2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7537905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2772000 h 3686400"/>
              <a:gd name="connsiteX4" fmla="*/ 3567600 w 3567600"/>
              <a:gd name="connsiteY4" fmla="*/ 3591460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91460 h 3686400"/>
              <a:gd name="connsiteX8" fmla="*/ 0 w 3567600"/>
              <a:gd name="connsiteY8" fmla="*/ 2772000 h 3686400"/>
              <a:gd name="connsiteX9" fmla="*/ 0 w 3567600"/>
              <a:gd name="connsiteY9" fmla="*/ 25305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5" y="0"/>
                  <a:pt x="3567600" y="113295"/>
                  <a:pt x="3567600" y="253050"/>
                </a:cubicBezTo>
                <a:lnTo>
                  <a:pt x="3567600" y="2772000"/>
                </a:lnTo>
                <a:lnTo>
                  <a:pt x="3567600" y="3591460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91460"/>
                </a:lnTo>
                <a:lnTo>
                  <a:pt x="0" y="2772000"/>
                </a:lnTo>
                <a:lnTo>
                  <a:pt x="0" y="253050"/>
                </a:lnTo>
                <a:cubicBezTo>
                  <a:pt x="0" y="113295"/>
                  <a:pt x="113295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0771" y="4584561"/>
            <a:ext cx="3568064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0771" y="4977432"/>
            <a:ext cx="3568064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083B-2659-3EAD-34DF-643697173AF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DBD2AC3-8722-074E-8BF2-FA2BE356B1CA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B077BF0-8879-521C-835B-713971F98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846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58159106-A0A3-C088-813C-324A8601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A13702CC-9C8D-883D-059E-F0EF5C16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08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nb-NO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919B8-80ED-4F06-7848-8CEAF79093C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003A70-5C79-7747-8481-96A9F5BCD085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Tittel 10">
            <a:extLst>
              <a:ext uri="{FF2B5EF4-FFF2-40B4-BE49-F238E27FC236}">
                <a16:creationId xmlns:a16="http://schemas.microsoft.com/office/drawing/2014/main" id="{D534EC88-CA2B-84B2-CAF3-8CADF3A8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F5E1BFAF-2EFE-BB53-C421-988069E6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64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 3">
            <a:extLst>
              <a:ext uri="{FF2B5EF4-FFF2-40B4-BE49-F238E27FC236}">
                <a16:creationId xmlns:a16="http://schemas.microsoft.com/office/drawing/2014/main" id="{046E56DE-06FB-E56F-63EE-4794A1355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8" name="Form 3">
            <a:extLst>
              <a:ext uri="{FF2B5EF4-FFF2-40B4-BE49-F238E27FC236}">
                <a16:creationId xmlns:a16="http://schemas.microsoft.com/office/drawing/2014/main" id="{33D903DD-3E2E-94A0-7F74-9097B18FE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9" name="Form 3">
            <a:extLst>
              <a:ext uri="{FF2B5EF4-FFF2-40B4-BE49-F238E27FC236}">
                <a16:creationId xmlns:a16="http://schemas.microsoft.com/office/drawing/2014/main" id="{F5397CF5-2DCB-2CD9-7BA3-C89353E6D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446C1-F288-2B46-A82F-B09F310389D6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D3D187D2-9AFF-CD25-BBF0-8660ACE2D3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7B228BB0-18AE-5C39-F001-6C6D34398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87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tx1"/>
                </a:solidFill>
              </a:defRPr>
            </a:lvl1pPr>
            <a:lvl2pPr>
              <a:defRPr lang="en-GB" sz="1200" dirty="0">
                <a:solidFill>
                  <a:schemeClr val="tx1"/>
                </a:solidFill>
              </a:defRPr>
            </a:lvl2pPr>
            <a:lvl3pPr>
              <a:defRPr lang="en-GB" sz="1100" dirty="0">
                <a:solidFill>
                  <a:schemeClr val="tx1"/>
                </a:solidFill>
              </a:defRPr>
            </a:lvl3pPr>
            <a:lvl4pPr>
              <a:defRPr lang="en-GB" sz="1050" dirty="0">
                <a:solidFill>
                  <a:schemeClr val="tx1"/>
                </a:solidFill>
              </a:defRPr>
            </a:lvl4pPr>
            <a:lvl5pPr>
              <a:defRPr lang="nb-NO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59F459-2B92-6046-8FF3-29C9D69E449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C553E56-800A-386A-4966-A2E6EB56B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01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C84CB55-BA65-7148-9331-9DC925373382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BD26808D-887B-363C-3909-C37E5090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8C3124C8-52A9-F18A-C827-A5FFF593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14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1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18A869-E6B7-0D50-214F-89FF988922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24AFC3-C301-B628-B150-8163EE6CE2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C00913A-4C82-D68D-CED6-3B155B8BD39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68D53F3-0DE7-205F-22F3-BE782F51361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A960BCE-A6D2-E72F-E13C-15A4FD29016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D0DEC-C96A-B215-D008-B7248CB3771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91F43CE-8055-9249-81A3-A76C877C8534}" type="datetime1">
              <a:rPr lang="nb-NO" smtClean="0"/>
              <a:t>18.09.2026</a:t>
            </a:fld>
            <a:endParaRPr lang="en-GB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90FBC205-437A-FD72-D465-352591BEB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569486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6DAA0CC-6DB4-91C1-9BFB-D1B20E7CB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66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A8012-C7C4-15C4-B6EA-B51DC7BC3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549E9E-6D9B-F422-4DC8-E05686B57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  <a:lvl2pPr>
              <a:defRPr lang="en-GB" dirty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 lang="en-GB" dirty="0">
                <a:solidFill>
                  <a:schemeClr val="bg1"/>
                </a:solidFill>
              </a:defRPr>
            </a:lvl4pPr>
            <a:lvl5pPr>
              <a:defRPr lang="nb-NO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FB512A65-82DF-20F5-B94E-41DD80599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8" name="Plassholder for dato 17">
            <a:extLst>
              <a:ext uri="{FF2B5EF4-FFF2-40B4-BE49-F238E27FC236}">
                <a16:creationId xmlns:a16="http://schemas.microsoft.com/office/drawing/2014/main" id="{B4A1C09B-24A1-9F2A-6133-FF54F6CCF2E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D6E5A6E-A02D-E44E-9CCD-81A5BF9290AA}" type="datetime1">
              <a:rPr lang="nb-NO" smtClean="0"/>
              <a:t>18.09.2026</a:t>
            </a:fld>
            <a:endParaRPr lang="en-GB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4EB497AA-0934-340C-218C-3E6E3F2B5A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7BE4A901-8216-1DDD-75B9-57B97BB19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310B9A9-D40D-F4FE-B475-EBD70B39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Form 3">
            <a:extLst>
              <a:ext uri="{FF2B5EF4-FFF2-40B4-BE49-F238E27FC236}">
                <a16:creationId xmlns:a16="http://schemas.microsoft.com/office/drawing/2014/main" id="{FADBAD41-F6A9-BAB7-0D9A-32FEC4B68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79A838A-CD1B-874B-A963-FDE3BF571F64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56D4F195-DE0A-A577-5436-8F1660B05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2DC48DA-E68D-97B8-E9BF-1BD5C6574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440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 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F7A8001-C296-2B4E-8542-84F0BB5D156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65862A9-7C10-EF97-306C-76078EBBE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9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607ACC0-5180-6B4A-8B0A-49B8289FB7D5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638B95C4-BA14-A0F6-39BD-19DF74A7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C4916927-95BD-B0B9-74F5-33D60244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104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7236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0" y="3524905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F0412B5-F1B4-466D-AF3B-DB638F9ED9D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A0C24EB-38D2-2F0E-A9B0-B40306D5BF4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94E912E-14F2-EFB5-086E-FDB36D079EB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0A8A-18F6-7204-6B91-76A5976B6AA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Plassholder for dato 13">
            <a:extLst>
              <a:ext uri="{FF2B5EF4-FFF2-40B4-BE49-F238E27FC236}">
                <a16:creationId xmlns:a16="http://schemas.microsoft.com/office/drawing/2014/main" id="{A9A3D492-F48C-A322-78C4-F3504B5D9F0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AA5F583-AD20-4447-9A73-27B337E9FE7A}" type="datetime1">
              <a:rPr lang="nb-NO" smtClean="0"/>
              <a:t>18.09.2026</a:t>
            </a:fld>
            <a:endParaRPr lang="en-GB"/>
          </a:p>
        </p:txBody>
      </p:sp>
      <p:sp>
        <p:nvSpPr>
          <p:cNvPr id="16" name="Plassholder for bunntekst 15">
            <a:extLst>
              <a:ext uri="{FF2B5EF4-FFF2-40B4-BE49-F238E27FC236}">
                <a16:creationId xmlns:a16="http://schemas.microsoft.com/office/drawing/2014/main" id="{B7F87E38-78F1-EFDC-786D-CD57D3971C0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10A6D486-48B1-53B5-6395-D97EB0E7F0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tel 21">
            <a:extLst>
              <a:ext uri="{FF2B5EF4-FFF2-40B4-BE49-F238E27FC236}">
                <a16:creationId xmlns:a16="http://schemas.microsoft.com/office/drawing/2014/main" id="{4D6AECAB-A8DB-4F5B-D93F-4A7C03158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390022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5E5C7E22-6375-FFE1-66E4-F1C775748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3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78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CBDB8-3652-4BFC-E24F-5329ABC3E0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9230" y="536575"/>
            <a:ext cx="3393020" cy="4476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6000" indent="0">
              <a:buNone/>
              <a:defRPr/>
            </a:lvl5pPr>
          </a:lstStyle>
          <a:p>
            <a:pPr lvl="0"/>
            <a:r>
              <a:rPr lang="nb"/>
              <a:t>Undertittel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259230" y="984738"/>
            <a:ext cx="3391200" cy="520333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/>
                </a:solidFill>
              </a:defRPr>
            </a:lvl1pPr>
            <a:lvl2pPr marL="180000" indent="-180000"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67A8F3F-C43A-E905-27E4-94C1EC2F84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1257" y="539750"/>
            <a:ext cx="3569486" cy="5778500"/>
          </a:xfrm>
          <a:custGeom>
            <a:avLst/>
            <a:gdLst>
              <a:gd name="connsiteX0" fmla="*/ 181294 w 3569486"/>
              <a:gd name="connsiteY0" fmla="*/ 0 h 5778500"/>
              <a:gd name="connsiteX1" fmla="*/ 3388192 w 3569486"/>
              <a:gd name="connsiteY1" fmla="*/ 0 h 5778500"/>
              <a:gd name="connsiteX2" fmla="*/ 3569486 w 3569486"/>
              <a:gd name="connsiteY2" fmla="*/ 181294 h 5778500"/>
              <a:gd name="connsiteX3" fmla="*/ 3569486 w 3569486"/>
              <a:gd name="connsiteY3" fmla="*/ 5597206 h 5778500"/>
              <a:gd name="connsiteX4" fmla="*/ 3388192 w 3569486"/>
              <a:gd name="connsiteY4" fmla="*/ 5778500 h 5778500"/>
              <a:gd name="connsiteX5" fmla="*/ 181294 w 3569486"/>
              <a:gd name="connsiteY5" fmla="*/ 5778500 h 5778500"/>
              <a:gd name="connsiteX6" fmla="*/ 0 w 3569486"/>
              <a:gd name="connsiteY6" fmla="*/ 5597206 h 5778500"/>
              <a:gd name="connsiteX7" fmla="*/ 0 w 3569486"/>
              <a:gd name="connsiteY7" fmla="*/ 181294 h 5778500"/>
              <a:gd name="connsiteX8" fmla="*/ 181294 w 3569486"/>
              <a:gd name="connsiteY8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9486" h="5778500">
                <a:moveTo>
                  <a:pt x="181294" y="0"/>
                </a:moveTo>
                <a:lnTo>
                  <a:pt x="3388192" y="0"/>
                </a:lnTo>
                <a:cubicBezTo>
                  <a:pt x="3488318" y="0"/>
                  <a:pt x="3569486" y="81168"/>
                  <a:pt x="3569486" y="181294"/>
                </a:cubicBezTo>
                <a:lnTo>
                  <a:pt x="3569486" y="5597206"/>
                </a:lnTo>
                <a:cubicBezTo>
                  <a:pt x="3569486" y="5697332"/>
                  <a:pt x="3488318" y="5778500"/>
                  <a:pt x="3388192" y="5778500"/>
                </a:cubicBezTo>
                <a:lnTo>
                  <a:pt x="181294" y="5778500"/>
                </a:lnTo>
                <a:cubicBezTo>
                  <a:pt x="81168" y="5778500"/>
                  <a:pt x="0" y="5697332"/>
                  <a:pt x="0" y="5597206"/>
                </a:cubicBezTo>
                <a:lnTo>
                  <a:pt x="0" y="181294"/>
                </a:lnTo>
                <a:cubicBezTo>
                  <a:pt x="0" y="81168"/>
                  <a:pt x="81168" y="0"/>
                  <a:pt x="18129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D794D-E6E1-B3AB-25AE-8A8D29E1D37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0F908BE-031A-D840-B918-D1257D1476E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AD0DC67-9203-BF0B-289D-132BF630042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150147-05BA-F61E-5381-28CB9BE386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79774D8-FDD7-BA9D-8E20-0DD60E2F7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24D744-09F9-99F8-A25F-9AE8A95F8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0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43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umentation - not for 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numCol="2" spcCol="36000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1pPr>
            <a:lvl2pPr marL="180000" indent="-180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/>
            </a:lvl2pPr>
            <a:lvl3pPr marL="0" indent="0">
              <a:spcBef>
                <a:spcPts val="800"/>
              </a:spcBef>
              <a:spcAft>
                <a:spcPts val="0"/>
              </a:spcAft>
              <a:buNone/>
              <a:tabLst/>
              <a:defRPr sz="1200" b="1" i="0">
                <a:latin typeface="+mj-lt"/>
              </a:defRPr>
            </a:lvl3pPr>
            <a:lvl4pPr marL="407988" indent="-182563">
              <a:spcBef>
                <a:spcPts val="200"/>
              </a:spcBef>
              <a:spcAft>
                <a:spcPts val="200"/>
              </a:spcAft>
              <a:tabLst/>
              <a:defRPr sz="1200"/>
            </a:lvl4pPr>
            <a:lvl5pPr marL="579438" indent="-171450">
              <a:spcBef>
                <a:spcPts val="200"/>
              </a:spcBef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94440-F3B9-FCB7-E0E0-6591A11B09E1}"/>
              </a:ext>
            </a:extLst>
          </p:cNvPr>
          <p:cNvSpPr txBox="1"/>
          <p:nvPr/>
        </p:nvSpPr>
        <p:spPr>
          <a:xfrm>
            <a:off x="539749" y="6519600"/>
            <a:ext cx="857251" cy="151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nb" sz="800" dirty="0">
                <a:solidFill>
                  <a:schemeClr val="tx2"/>
                </a:solidFill>
                <a:latin typeface="+mn-lt"/>
              </a:rPr>
              <a:t>Dokumentasjon</a:t>
            </a:r>
            <a:endParaRPr lang="en-US" sz="800" b="0" i="0" dirty="0">
              <a:solidFill>
                <a:schemeClr val="tx2"/>
              </a:solidFill>
              <a:latin typeface="+mn-lt"/>
              <a:cs typeface="TelenorEvolutionPPT-Light" panose="020B0604020202020204" charset="0"/>
            </a:endParaRPr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7EBBC536-8B67-BA29-1935-EE75B7ED8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6C72EC1-43DD-15C7-5FE4-C2AB517FC6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04F2E20-6E09-5547-AEA2-61797C6F6700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929E547-C851-2001-8FB1-71A551667C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20850" y="6519600"/>
            <a:ext cx="849019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3E548C7-CE7A-DB15-956B-4D031221CA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80C41F-4BE8-2105-2D61-40724B46A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 tittelen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698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OP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F124E6-E0F2-4924-0E70-12F34D9FB0C8}"/>
              </a:ext>
            </a:extLst>
          </p:cNvPr>
          <p:cNvSpPr txBox="1"/>
          <p:nvPr/>
        </p:nvSpPr>
        <p:spPr>
          <a:xfrm>
            <a:off x="1" y="495657"/>
            <a:ext cx="1219200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23"/>
              </a:spcBef>
              <a:spcAft>
                <a:spcPts val="847"/>
              </a:spcAft>
            </a:pPr>
            <a:r>
              <a:rPr lang="nb" sz="12000" spc="-317" dirty="0">
                <a:solidFill>
                  <a:schemeClr val="tx2"/>
                </a:solidFill>
                <a:latin typeface="+mj-lt"/>
              </a:rPr>
              <a:t>IKKE BRUK OPPSETT ETTER DETTE</a:t>
            </a:r>
          </a:p>
        </p:txBody>
      </p:sp>
      <p:pic>
        <p:nvPicPr>
          <p:cNvPr id="7" name="Grafikk 9">
            <a:extLst>
              <a:ext uri="{FF2B5EF4-FFF2-40B4-BE49-F238E27FC236}">
                <a16:creationId xmlns:a16="http://schemas.microsoft.com/office/drawing/2014/main" id="{127343F3-6CFA-0B5A-FE1E-C7FA14190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033" y="3543390"/>
            <a:ext cx="3058326" cy="30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55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5CA1C-62DA-279C-6953-0B52048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11113200" cy="1123200"/>
          </a:xfrm>
          <a:prstGeom prst="rect">
            <a:avLst/>
          </a:prstGeom>
        </p:spPr>
        <p:txBody>
          <a:bodyPr vert="horz" lIns="0" tIns="0" rIns="0" bIns="45720" rtlCol="0" anchor="t" anchorCtr="0">
            <a:noAutofit/>
          </a:bodyPr>
          <a:lstStyle/>
          <a:p>
            <a:r>
              <a:rPr lang="nb" noProof="0" dirty="0"/>
              <a:t>Klikk for å redigere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60132-4B0B-A424-F065-3672D46C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016000"/>
            <a:ext cx="11113200" cy="4171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  <a:p>
            <a:pPr lvl="2"/>
            <a:r>
              <a:rPr lang="nb" noProof="0" dirty="0"/>
              <a:t>Tredje nivå</a:t>
            </a:r>
            <a:endParaRPr lang="nb-NO" noProof="0" dirty="0"/>
          </a:p>
          <a:p>
            <a:pPr lvl="3"/>
            <a:r>
              <a:rPr lang="nb" noProof="0" dirty="0"/>
              <a:t>Fjerde nivå</a:t>
            </a:r>
            <a:endParaRPr lang="nb-NO" noProof="0" dirty="0"/>
          </a:p>
          <a:p>
            <a:pPr lvl="4"/>
            <a:r>
              <a:rPr lang="nb" noProof="0" dirty="0"/>
              <a:t>Femte nivå</a:t>
            </a:r>
            <a:endParaRPr lang="nb-NO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7FA9-D347-59DF-776B-CE3CE1FDF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1050" y="6519600"/>
            <a:ext cx="720475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fld id="{9D7B6C4A-89AC-BA4F-ABC3-FBE73BF7B1F3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0C9C-4CA8-C540-0D7A-0D0AE862D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519600"/>
            <a:ext cx="9671049" cy="15120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B22E-486D-AF6C-C00E-1827BFA1F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1526" y="6519600"/>
            <a:ext cx="721674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04CDEB6A-EC9F-A47E-AB0F-C408F31AB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00" noProof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F3D713-F8BA-001B-13C0-EB5FDA744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47" name="Avrundet rektangel 4">
              <a:extLst>
                <a:ext uri="{FF2B5EF4-FFF2-40B4-BE49-F238E27FC236}">
                  <a16:creationId xmlns:a16="http://schemas.microsoft.com/office/drawing/2014/main" id="{6D63A4C4-00B5-369A-08BF-064C27E241AD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sz="100" noProof="0"/>
            </a:p>
          </p:txBody>
        </p:sp>
        <p:sp>
          <p:nvSpPr>
            <p:cNvPr id="54" name="TekstSylinder 48">
              <a:extLst>
                <a:ext uri="{FF2B5EF4-FFF2-40B4-BE49-F238E27FC236}">
                  <a16:creationId xmlns:a16="http://schemas.microsoft.com/office/drawing/2014/main" id="{EB10F4DD-B8AE-3019-112A-9139718F3AB2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  <a:endParaRPr lang="nb-NO" sz="110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49" name="Ellipse 29">
              <a:extLst>
                <a:ext uri="{FF2B5EF4-FFF2-40B4-BE49-F238E27FC236}">
                  <a16:creationId xmlns:a16="http://schemas.microsoft.com/office/drawing/2014/main" id="{736F8E83-D053-8E07-57FE-9EA0BEFC5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0" name="Ellipse 30">
              <a:extLst>
                <a:ext uri="{FF2B5EF4-FFF2-40B4-BE49-F238E27FC236}">
                  <a16:creationId xmlns:a16="http://schemas.microsoft.com/office/drawing/2014/main" id="{339BA127-F574-FCAF-0AA4-E7ECB3A0C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1" name="Ellipse 31">
              <a:extLst>
                <a:ext uri="{FF2B5EF4-FFF2-40B4-BE49-F238E27FC236}">
                  <a16:creationId xmlns:a16="http://schemas.microsoft.com/office/drawing/2014/main" id="{E1D0C162-4C0F-1409-E253-151D1CF6E9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2" name="Ellipse 33">
              <a:extLst>
                <a:ext uri="{FF2B5EF4-FFF2-40B4-BE49-F238E27FC236}">
                  <a16:creationId xmlns:a16="http://schemas.microsoft.com/office/drawing/2014/main" id="{6A5D3B67-2445-CF11-C108-008B918361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3" name="Ellipse 34">
              <a:extLst>
                <a:ext uri="{FF2B5EF4-FFF2-40B4-BE49-F238E27FC236}">
                  <a16:creationId xmlns:a16="http://schemas.microsoft.com/office/drawing/2014/main" id="{03DC1169-22CA-0FE7-C926-38078FA48A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6" name="TekstSylinder 50">
              <a:extLst>
                <a:ext uri="{FF2B5EF4-FFF2-40B4-BE49-F238E27FC236}">
                  <a16:creationId xmlns:a16="http://schemas.microsoft.com/office/drawing/2014/main" id="{DB1633FD-E7F9-83E2-74E9-2C51E2781FEE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  <a:endParaRPr lang="nb-NO" sz="105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lvl="0">
                <a:lnSpc>
                  <a:spcPct val="110000"/>
                </a:lnSpc>
              </a:pPr>
              <a:r>
                <a:rPr lang="nb" sz="800" b="0" i="0" noProof="0" dirty="0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23" name="Rett linje 53">
              <a:extLst>
                <a:ext uri="{FF2B5EF4-FFF2-40B4-BE49-F238E27FC236}">
                  <a16:creationId xmlns:a16="http://schemas.microsoft.com/office/drawing/2014/main" id="{FD93F3A5-1124-4EF8-FD15-6442F0960AED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Rett linje 53">
              <a:extLst>
                <a:ext uri="{FF2B5EF4-FFF2-40B4-BE49-F238E27FC236}">
                  <a16:creationId xmlns:a16="http://schemas.microsoft.com/office/drawing/2014/main" id="{DAB232E4-C0AD-9AA6-BDFC-1EB2C92E8BDA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DC1086A-5C4C-C5FC-D068-7659024C2D76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59" name="Rett linje 54">
                <a:extLst>
                  <a:ext uri="{FF2B5EF4-FFF2-40B4-BE49-F238E27FC236}">
                    <a16:creationId xmlns:a16="http://schemas.microsoft.com/office/drawing/2014/main" id="{5C2C6591-BC4D-A0B3-AB72-C5B31411A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kstSylinder 61">
                <a:extLst>
                  <a:ext uri="{FF2B5EF4-FFF2-40B4-BE49-F238E27FC236}">
                    <a16:creationId xmlns:a16="http://schemas.microsoft.com/office/drawing/2014/main" id="{EDDBEEC5-6199-5479-C0EF-2278450BF05F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noProof="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  <a:endParaRPr lang="nb-NO" sz="1050" b="0" i="0" kern="1200" noProof="0" dirty="0">
                  <a:solidFill>
                    <a:srgbClr val="070451"/>
                  </a:solidFill>
                  <a:latin typeface="+mj-lt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A709970-256C-9419-FB47-3C8B3D12A58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806F39-3B2E-D367-6913-B80DA47AFABB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69" name="Ellipse 74">
                  <a:extLst>
                    <a:ext uri="{FF2B5EF4-FFF2-40B4-BE49-F238E27FC236}">
                      <a16:creationId xmlns:a16="http://schemas.microsoft.com/office/drawing/2014/main" id="{7A50EFDB-9394-128D-616B-C90872CE26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0" name="Ellipse 75">
                  <a:extLst>
                    <a:ext uri="{FF2B5EF4-FFF2-40B4-BE49-F238E27FC236}">
                      <a16:creationId xmlns:a16="http://schemas.microsoft.com/office/drawing/2014/main" id="{83C7EB67-0619-D1F1-3DB5-F344173323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1" name="Ellipse 76">
                  <a:extLst>
                    <a:ext uri="{FF2B5EF4-FFF2-40B4-BE49-F238E27FC236}">
                      <a16:creationId xmlns:a16="http://schemas.microsoft.com/office/drawing/2014/main" id="{C4029C04-990F-A95A-C2F8-5FE8494717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2" name="Ellipse 77">
                  <a:extLst>
                    <a:ext uri="{FF2B5EF4-FFF2-40B4-BE49-F238E27FC236}">
                      <a16:creationId xmlns:a16="http://schemas.microsoft.com/office/drawing/2014/main" id="{A0EAF171-6706-4088-712E-B94E68FC4A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3" name="Ellipse 78">
                  <a:extLst>
                    <a:ext uri="{FF2B5EF4-FFF2-40B4-BE49-F238E27FC236}">
                      <a16:creationId xmlns:a16="http://schemas.microsoft.com/office/drawing/2014/main" id="{193E5CFA-DDCF-8460-598C-49E53AE0F5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22C80A-D708-B1AF-DA7A-B0F5C7AC5D51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7A871C5-6CEA-42BE-453C-12C13F727596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2231960-1C1A-5CAF-5888-9FBEDFC45B60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61" name="Ellipse 56">
                  <a:extLst>
                    <a:ext uri="{FF2B5EF4-FFF2-40B4-BE49-F238E27FC236}">
                      <a16:creationId xmlns:a16="http://schemas.microsoft.com/office/drawing/2014/main" id="{4AAD2FD4-B90B-9DE8-7378-31163D1B09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2" name="Ellipse 57">
                  <a:extLst>
                    <a:ext uri="{FF2B5EF4-FFF2-40B4-BE49-F238E27FC236}">
                      <a16:creationId xmlns:a16="http://schemas.microsoft.com/office/drawing/2014/main" id="{F9EC31B1-30FC-781E-38A3-2CF1D9FBCB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3" name="Ellipse 58">
                  <a:extLst>
                    <a:ext uri="{FF2B5EF4-FFF2-40B4-BE49-F238E27FC236}">
                      <a16:creationId xmlns:a16="http://schemas.microsoft.com/office/drawing/2014/main" id="{573ABCA9-925E-ADC3-3156-2286F0F788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4" name="Ellipse 59">
                  <a:extLst>
                    <a:ext uri="{FF2B5EF4-FFF2-40B4-BE49-F238E27FC236}">
                      <a16:creationId xmlns:a16="http://schemas.microsoft.com/office/drawing/2014/main" id="{37591B38-F715-BB13-C88E-77828CE801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5" name="Ellipse 60">
                  <a:extLst>
                    <a:ext uri="{FF2B5EF4-FFF2-40B4-BE49-F238E27FC236}">
                      <a16:creationId xmlns:a16="http://schemas.microsoft.com/office/drawing/2014/main" id="{E4C6EF15-81F7-54A5-1A6A-9DF8380624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23F57C-0E63-FAFF-121A-7F28BFAABCC3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3744B20-C1BA-5DF2-BDD6-2A1DA8585C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98300" y="6672580"/>
            <a:ext cx="8175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15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49" r:id="rId3"/>
    <p:sldLayoutId id="2147483738" r:id="rId4"/>
    <p:sldLayoutId id="2147483667" r:id="rId5"/>
    <p:sldLayoutId id="2147483668" r:id="rId6"/>
    <p:sldLayoutId id="2147483742" r:id="rId7"/>
    <p:sldLayoutId id="2147483670" r:id="rId8"/>
    <p:sldLayoutId id="2147483671" r:id="rId9"/>
    <p:sldLayoutId id="2147483678" r:id="rId10"/>
    <p:sldLayoutId id="2147483741" r:id="rId11"/>
    <p:sldLayoutId id="2147483745" r:id="rId12"/>
    <p:sldLayoutId id="2147483675" r:id="rId13"/>
    <p:sldLayoutId id="2147483676" r:id="rId14"/>
    <p:sldLayoutId id="2147483677" r:id="rId15"/>
    <p:sldLayoutId id="2147483680" r:id="rId16"/>
    <p:sldLayoutId id="2147483687" r:id="rId17"/>
    <p:sldLayoutId id="2147483681" r:id="rId18"/>
    <p:sldLayoutId id="2147483688" r:id="rId19"/>
    <p:sldLayoutId id="2147483682" r:id="rId20"/>
    <p:sldLayoutId id="2147483689" r:id="rId21"/>
    <p:sldLayoutId id="2147483683" r:id="rId22"/>
    <p:sldLayoutId id="2147483690" r:id="rId23"/>
    <p:sldLayoutId id="2147483684" r:id="rId24"/>
    <p:sldLayoutId id="2147483691" r:id="rId25"/>
    <p:sldLayoutId id="2147483697" r:id="rId26"/>
    <p:sldLayoutId id="2147483700" r:id="rId27"/>
    <p:sldLayoutId id="2147483685" r:id="rId28"/>
    <p:sldLayoutId id="2147483748" r:id="rId29"/>
    <p:sldLayoutId id="2147483692" r:id="rId30"/>
    <p:sldLayoutId id="2147483686" r:id="rId31"/>
    <p:sldLayoutId id="2147483693" r:id="rId32"/>
    <p:sldLayoutId id="2147483746" r:id="rId33"/>
    <p:sldLayoutId id="2147483743" r:id="rId34"/>
    <p:sldLayoutId id="2147483694" r:id="rId35"/>
    <p:sldLayoutId id="2147483695" r:id="rId36"/>
    <p:sldLayoutId id="2147483696" r:id="rId37"/>
    <p:sldLayoutId id="2147483698" r:id="rId38"/>
    <p:sldLayoutId id="2147483701" r:id="rId39"/>
    <p:sldLayoutId id="2147483699" r:id="rId40"/>
    <p:sldLayoutId id="2147483702" r:id="rId41"/>
    <p:sldLayoutId id="2147483703" r:id="rId42"/>
    <p:sldLayoutId id="2147483704" r:id="rId43"/>
    <p:sldLayoutId id="2147483705" r:id="rId44"/>
    <p:sldLayoutId id="2147483708" r:id="rId45"/>
    <p:sldLayoutId id="2147483711" r:id="rId46"/>
    <p:sldLayoutId id="2147483710" r:id="rId47"/>
    <p:sldLayoutId id="2147483712" r:id="rId48"/>
    <p:sldLayoutId id="2147483713" r:id="rId49"/>
    <p:sldLayoutId id="2147483714" r:id="rId50"/>
    <p:sldLayoutId id="2147483721" r:id="rId51"/>
    <p:sldLayoutId id="2147483716" r:id="rId52"/>
    <p:sldLayoutId id="2147483717" r:id="rId53"/>
    <p:sldLayoutId id="2147483718" r:id="rId54"/>
    <p:sldLayoutId id="2147483719" r:id="rId55"/>
    <p:sldLayoutId id="2147483720" r:id="rId56"/>
    <p:sldLayoutId id="2147483722" r:id="rId57"/>
    <p:sldLayoutId id="2147483723" r:id="rId58"/>
    <p:sldLayoutId id="2147483747" r:id="rId59"/>
    <p:sldLayoutId id="2147483724" r:id="rId60"/>
    <p:sldLayoutId id="2147483725" r:id="rId61"/>
    <p:sldLayoutId id="2147483726" r:id="rId62"/>
    <p:sldLayoutId id="2147483728" r:id="rId63"/>
    <p:sldLayoutId id="2147483727" r:id="rId64"/>
    <p:sldLayoutId id="2147483729" r:id="rId65"/>
    <p:sldLayoutId id="2147483730" r:id="rId66"/>
    <p:sldLayoutId id="2147483731" r:id="rId67"/>
    <p:sldLayoutId id="2147483732" r:id="rId68"/>
    <p:sldLayoutId id="2147483733" r:id="rId6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40">
          <p15:clr>
            <a:srgbClr val="F26B43"/>
          </p15:clr>
        </p15:guide>
        <p15:guide id="4" pos="7340">
          <p15:clr>
            <a:srgbClr val="F26B43"/>
          </p15:clr>
        </p15:guide>
        <p15:guide id="5" orient="horz" pos="3982">
          <p15:clr>
            <a:srgbClr val="F26B43"/>
          </p15:clr>
        </p15:guide>
        <p15:guide id="8" orient="horz" pos="338">
          <p15:clr>
            <a:srgbClr val="F26B43"/>
          </p15:clr>
        </p15:guide>
        <p15:guide id="9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EA3567F-E390-C46D-8415-817D177C19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sz="3200">
                <a:latin typeface="Segoe UI" panose="020B0502040204020203" pitchFamily="34" charset="0"/>
              </a:rPr>
              <a:t>Forvaltning og AI-agentstøtte for Mobile Free SIMs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C2D9538-817E-E951-E67D-B7294E6F7D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b-NO" sz="1400">
                <a:solidFill>
                  <a:srgbClr val="001848"/>
                </a:solidFill>
                <a:latin typeface="Segoe UI" panose="020B0502040204020203" pitchFamily="34" charset="0"/>
              </a:rPr>
              <a:t>Beslutningsunderlag for ledelsen i Telenor Business
• Styringsmodell: Prevent ➔ Detect ➔ Act ➔ Improve
• 6 forvaltningskrav &amp; AI-støtte for 21 509 testnummer
• Oppfølging av GIA Audit &amp; ICFR NOR 72
Saksansvarlig: Tor Marstein  |  Dato: 18. september 2026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A90B472-647C-B0DB-CDC1-637BC5CD9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87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FBD096F-6D33-5395-DA18-819ED9F35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FC357C56-C1E2-4973-B652-DCB79E63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2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DB30A1A0-76FB-D0F1-7863-D7B6C50559A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6BE7A77-AE17-985F-F6C9-5A34A05437AF}"/>
              </a:ext>
            </a:extLst>
          </p:cNvPr>
          <p:cNvSpPr/>
          <p:nvPr/>
        </p:nvSpPr>
        <p:spPr>
          <a:xfrm>
            <a:off x="571500" y="228600"/>
            <a:ext cx="2540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BAKGRUNN &amp; KONTEKST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853FF846-3248-FAA6-0A77-50D635A87DCA}"/>
              </a:ext>
            </a:extLst>
          </p:cNvPr>
          <p:cNvSpPr txBox="1"/>
          <p:nvPr/>
        </p:nvSpPr>
        <p:spPr>
          <a:xfrm>
            <a:off x="533400" y="558800"/>
            <a:ext cx="619131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Hvorfor kreves det et nytt forvaltningsregime?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413DB56F-40ED-6699-87BF-F00CFC8004FC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748F142F-5750-26E5-3307-997B96D6A0EA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GIA &amp; ICFR Styringskrav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A1323D0E-5650-3326-7063-2395689BB754}"/>
              </a:ext>
            </a:extLst>
          </p:cNvPr>
          <p:cNvSpPr txBox="1"/>
          <p:nvPr/>
        </p:nvSpPr>
        <p:spPr>
          <a:xfrm>
            <a:off x="762000" y="1841500"/>
            <a:ext cx="4953000" cy="23512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GIA Audit: Avdekket behov for vesentlig forbedret formålssporing og kostnadskontroll på SIM dekket av Telenor Norge.
• ICFR NOR 72: Pålegger årlig CxO-verifisering av oppnevnte divisjons-SPOC-er og kvartalsvise kontroller.
• 135 000+ abonnementer: Ligger i dag spredt over mer enn 1 300 kontoer uten tilstrekkelig automatisert sperre mot uautorisert opprettelse.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E6A2735D-16CF-1C3A-D51E-EFF2DC718788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9D89641B-9C2F-613B-647A-16A93D837362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Identifiserte Hovedrisikoer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1BEF9FDD-D987-6C7C-80C3-64F8C1404842}"/>
              </a:ext>
            </a:extLst>
          </p:cNvPr>
          <p:cNvSpPr txBox="1"/>
          <p:nvPr/>
        </p:nvSpPr>
        <p:spPr>
          <a:xfrm>
            <a:off x="6477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1. Økonomisk tap:
Risiko for at Telenor dekker abonnementer som burde vært viderefakturert sluttkunder eller terminert.
2. Sikkerhet &amp; misbruk (Fraud):
Ustrukturerte test-SIM i omløp uten aktiv kontrolleier eller tidsbegrensning.
3. Manuelle flaskehalser:
Tungvint oppfølging i regneark uten automatisert systemstøtte for sanering.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96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F597BF9-1C3B-DB3B-1C3E-302E69A38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24D6E856-9DD1-CFFC-772F-2E2DA805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3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8F54658E-3867-4998-A715-C4CB5A4F0FE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B988593A-BE79-F94D-5697-AEA54F24CDD3}"/>
              </a:ext>
            </a:extLst>
          </p:cNvPr>
          <p:cNvSpPr/>
          <p:nvPr/>
        </p:nvSpPr>
        <p:spPr>
          <a:xfrm>
            <a:off x="571500" y="228600"/>
            <a:ext cx="2540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PORTEFØLJEANALYSE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4DA3AC52-5635-D4F3-78D1-7BE2CB38999B}"/>
              </a:ext>
            </a:extLst>
          </p:cNvPr>
          <p:cNvSpPr txBox="1"/>
          <p:nvPr/>
        </p:nvSpPr>
        <p:spPr>
          <a:xfrm>
            <a:off x="533400" y="558800"/>
            <a:ext cx="72823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Dagens nummerbase: 135 281 Free SIM-abonnementer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244699A7-EAFC-54E6-78CC-BD4CC62EE090}"/>
              </a:ext>
            </a:extLst>
          </p:cNvPr>
          <p:cNvSpPr/>
          <p:nvPr/>
        </p:nvSpPr>
        <p:spPr>
          <a:xfrm>
            <a:off x="571500" y="1143000"/>
            <a:ext cx="3429000" cy="1714500"/>
          </a:xfrm>
          <a:prstGeom prst="rect">
            <a:avLst/>
          </a:prstGeom>
          <a:solidFill>
            <a:srgbClr val="001848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15B97CD4-4A8B-84A6-D0A9-6A7D889258BE}"/>
              </a:ext>
            </a:extLst>
          </p:cNvPr>
          <p:cNvSpPr txBox="1"/>
          <p:nvPr/>
        </p:nvSpPr>
        <p:spPr>
          <a:xfrm>
            <a:off x="698500" y="1244600"/>
            <a:ext cx="2125454" cy="103092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400" b="1" i="0" u="none" strike="noStrike" kern="120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135 281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Totalt volum Free SIM
Fordelt på &gt; 1 300 kontoer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FE5EFF48-7A9F-6159-E45E-E4A87670BF31}"/>
              </a:ext>
            </a:extLst>
          </p:cNvPr>
          <p:cNvSpPr/>
          <p:nvPr/>
        </p:nvSpPr>
        <p:spPr>
          <a:xfrm>
            <a:off x="4381500" y="1143000"/>
            <a:ext cx="3429000" cy="1714500"/>
          </a:xfrm>
          <a:prstGeom prst="rect">
            <a:avLst/>
          </a:prstGeom>
          <a:solidFill>
            <a:srgbClr val="005FCC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B1B13147-EBFA-C4EC-C85E-F49029C9F02A}"/>
              </a:ext>
            </a:extLst>
          </p:cNvPr>
          <p:cNvSpPr txBox="1"/>
          <p:nvPr/>
        </p:nvSpPr>
        <p:spPr>
          <a:xfrm>
            <a:off x="4508500" y="1244600"/>
            <a:ext cx="2887009" cy="99706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113 772 (84 %)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Etablerte tjenester
MBN / Logiske nummer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B972653-9E35-3623-E636-E2A8BF268A8E}"/>
              </a:ext>
            </a:extLst>
          </p:cNvPr>
          <p:cNvSpPr/>
          <p:nvPr/>
        </p:nvSpPr>
        <p:spPr>
          <a:xfrm>
            <a:off x="8191500" y="1143000"/>
            <a:ext cx="3429000" cy="1714500"/>
          </a:xfrm>
          <a:prstGeom prst="rect">
            <a:avLst/>
          </a:prstGeom>
          <a:solidFill>
            <a:srgbClr val="C2410C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C226328E-F1A1-3413-EF08-C81ECCFD3E6A}"/>
              </a:ext>
            </a:extLst>
          </p:cNvPr>
          <p:cNvSpPr txBox="1"/>
          <p:nvPr/>
        </p:nvSpPr>
        <p:spPr>
          <a:xfrm>
            <a:off x="8318500" y="1244600"/>
            <a:ext cx="2651367" cy="99706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21 509 (16 %)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Ustrukturerte test/drift
Krever datavask &amp; kontroll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A768282D-CCEE-002B-B2FD-9EF417A73399}"/>
              </a:ext>
            </a:extLst>
          </p:cNvPr>
          <p:cNvSpPr/>
          <p:nvPr/>
        </p:nvSpPr>
        <p:spPr>
          <a:xfrm>
            <a:off x="571500" y="3048000"/>
            <a:ext cx="11049000" cy="3365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1C7E1B88-858A-9559-137A-0B62751D414F}"/>
              </a:ext>
            </a:extLst>
          </p:cNvPr>
          <p:cNvSpPr/>
          <p:nvPr/>
        </p:nvSpPr>
        <p:spPr>
          <a:xfrm>
            <a:off x="571500" y="3048000"/>
            <a:ext cx="11049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Status og Saneringspotensial per Hovedkategori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0A8227B5-0FED-77B8-52AB-C9BDD02CB420}"/>
              </a:ext>
            </a:extLst>
          </p:cNvPr>
          <p:cNvSpPr txBox="1"/>
          <p:nvPr/>
        </p:nvSpPr>
        <p:spPr>
          <a:xfrm>
            <a:off x="825500" y="3683000"/>
            <a:ext cx="10541000" cy="12080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84 % (MBN Logiske Nummer): Strukturert portefølje som håndteres gjennom maskinell kontroll mot gyldige kunde- og tjenesteavtaler (Krav 1).
• 16 % (Test- og Drifts-SIM): Heterogen masse bestående av Test IT (~10 000), Kritiske/Operasjonelle SIM (~20 000), M2M/IoT, og testabonnementer. Det er i denne gruppen det største potensialet for kostnadskutt, sanering og AI-automatisert kontroll ligger.</a:t>
            </a:r>
            <a:endParaRPr kumimoji="0" lang="nb-NO" sz="14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75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7FB2855-12A2-4970-2C50-788199AB1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6CCBAD80-9A3C-B353-0A18-96F482CD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4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8A9552E-D4F8-5B7B-9B43-79ED66D0AD3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0DC8D86-2D2C-2B4C-5756-1B1413965537}"/>
              </a:ext>
            </a:extLst>
          </p:cNvPr>
          <p:cNvSpPr/>
          <p:nvPr/>
        </p:nvSpPr>
        <p:spPr>
          <a:xfrm>
            <a:off x="571500" y="228600"/>
            <a:ext cx="2540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STYRINGSRAMMEVERK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50EE7888-02FA-7EB7-D450-ED3F59D9C231}"/>
              </a:ext>
            </a:extLst>
          </p:cNvPr>
          <p:cNvSpPr txBox="1"/>
          <p:nvPr/>
        </p:nvSpPr>
        <p:spPr>
          <a:xfrm>
            <a:off x="533400" y="558800"/>
            <a:ext cx="7798417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Forvaltningsmodellen: Prevent ➔ Detect ➔ Act ➔ Improve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B296197F-6D6D-C9F1-D6C5-3D3845189236}"/>
              </a:ext>
            </a:extLst>
          </p:cNvPr>
          <p:cNvSpPr/>
          <p:nvPr/>
        </p:nvSpPr>
        <p:spPr>
          <a:xfrm>
            <a:off x="571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26200945-26AF-5516-80DA-2421266978BB}"/>
              </a:ext>
            </a:extLst>
          </p:cNvPr>
          <p:cNvSpPr/>
          <p:nvPr/>
        </p:nvSpPr>
        <p:spPr>
          <a:xfrm>
            <a:off x="571500" y="1206500"/>
            <a:ext cx="2667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1. PREVENT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CF91104-ABC9-C095-8F71-248856A54AB5}"/>
              </a:ext>
            </a:extLst>
          </p:cNvPr>
          <p:cNvSpPr txBox="1"/>
          <p:nvPr/>
        </p:nvSpPr>
        <p:spPr>
          <a:xfrm>
            <a:off x="698500" y="1841500"/>
            <a:ext cx="2413000" cy="135325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Ordrekanaler &amp; API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Opprettelse KUN på godkjente kontoer
• Obligatorisk kontrolleier
• Maks 6 mnd levetid for test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E930096-FBEA-F1C1-C77E-A5B65FCF0480}"/>
              </a:ext>
            </a:extLst>
          </p:cNvPr>
          <p:cNvSpPr/>
          <p:nvPr/>
        </p:nvSpPr>
        <p:spPr>
          <a:xfrm>
            <a:off x="3365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9776136-6D62-1A5C-A1C6-BDB49AB261EB}"/>
              </a:ext>
            </a:extLst>
          </p:cNvPr>
          <p:cNvSpPr/>
          <p:nvPr/>
        </p:nvSpPr>
        <p:spPr>
          <a:xfrm>
            <a:off x="3365500" y="1206500"/>
            <a:ext cx="2667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2. DETECT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FF2D49ED-9930-19B6-36F5-FCBD51F37C69}"/>
              </a:ext>
            </a:extLst>
          </p:cNvPr>
          <p:cNvSpPr txBox="1"/>
          <p:nvPr/>
        </p:nvSpPr>
        <p:spPr>
          <a:xfrm>
            <a:off x="3492500" y="1841500"/>
            <a:ext cx="2413000" cy="135325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Looker &amp; AI-Agenter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Kontinuerlig regelkjøring
• Avdekking av inaktivitet/manglende trafikk
• Automatiske avviksalarmer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A958920E-BA4D-994E-0437-91D26206C697}"/>
              </a:ext>
            </a:extLst>
          </p:cNvPr>
          <p:cNvSpPr/>
          <p:nvPr/>
        </p:nvSpPr>
        <p:spPr>
          <a:xfrm>
            <a:off x="6159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48177CD5-E3D2-56D1-B83D-3E1FA04D8EB7}"/>
              </a:ext>
            </a:extLst>
          </p:cNvPr>
          <p:cNvSpPr/>
          <p:nvPr/>
        </p:nvSpPr>
        <p:spPr>
          <a:xfrm>
            <a:off x="6159500" y="1206500"/>
            <a:ext cx="2667000" cy="50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3. ACT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C5598BE0-9DEB-D409-72CE-B8AF1DA4D154}"/>
              </a:ext>
            </a:extLst>
          </p:cNvPr>
          <p:cNvSpPr txBox="1"/>
          <p:nvPr/>
        </p:nvSpPr>
        <p:spPr>
          <a:xfrm>
            <a:off x="6286500" y="1841500"/>
            <a:ext cx="2413000" cy="1124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SPOC &amp; Customer Ops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Tildeling av avvik til SPOC
• Verifisering per divisjon
• Månedlig bulk-terminering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2B399F26-C03C-EFB2-A153-B34B634C7BEF}"/>
              </a:ext>
            </a:extLst>
          </p:cNvPr>
          <p:cNvSpPr/>
          <p:nvPr/>
        </p:nvSpPr>
        <p:spPr>
          <a:xfrm>
            <a:off x="8953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134C7F7A-C6D6-F2DB-C29D-B3A082264B66}"/>
              </a:ext>
            </a:extLst>
          </p:cNvPr>
          <p:cNvSpPr/>
          <p:nvPr/>
        </p:nvSpPr>
        <p:spPr>
          <a:xfrm>
            <a:off x="8953500" y="1206500"/>
            <a:ext cx="2667000" cy="50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4. IMPROVE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15B706B1-DCDB-FDE9-F386-CA6EE2F031E6}"/>
              </a:ext>
            </a:extLst>
          </p:cNvPr>
          <p:cNvSpPr txBox="1"/>
          <p:nvPr/>
        </p:nvSpPr>
        <p:spPr>
          <a:xfrm>
            <a:off x="9080500" y="1841500"/>
            <a:ext cx="2413000" cy="1124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Styringsinformasjon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Måling av løsningstid (MTTR)
• Kostnadsoppfølging
• Revisjonssikkert arkiv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94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691C7EF-1338-6508-545C-0E5C72428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0208465A-5C57-3021-F7E9-8C211511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5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8B81C22-2576-DA19-6AEC-4FE57A9CC76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C05C569-C55F-BDBE-52F7-2D5F99DC533E}"/>
              </a:ext>
            </a:extLst>
          </p:cNvPr>
          <p:cNvSpPr/>
          <p:nvPr/>
        </p:nvSpPr>
        <p:spPr>
          <a:xfrm>
            <a:off x="571500" y="228600"/>
            <a:ext cx="2540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KRAVSPESIFIKASJON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7C850DA2-447D-180D-EE50-E05676AD063C}"/>
              </a:ext>
            </a:extLst>
          </p:cNvPr>
          <p:cNvSpPr txBox="1"/>
          <p:nvPr/>
        </p:nvSpPr>
        <p:spPr>
          <a:xfrm>
            <a:off x="533400" y="558800"/>
            <a:ext cx="578075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6 ufravikelige forvaltningskrav for Free SIM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47F67ED8-0455-7C99-B666-99F801F59BE2}"/>
              </a:ext>
            </a:extLst>
          </p:cNvPr>
          <p:cNvSpPr/>
          <p:nvPr/>
        </p:nvSpPr>
        <p:spPr>
          <a:xfrm>
            <a:off x="571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93A9C4B5-8B16-B22B-9EAF-EB77A77A6776}"/>
              </a:ext>
            </a:extLst>
          </p:cNvPr>
          <p:cNvSpPr/>
          <p:nvPr/>
        </p:nvSpPr>
        <p:spPr>
          <a:xfrm>
            <a:off x="723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1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884CF566-5D25-4134-C37D-E95BBACDAD89}"/>
              </a:ext>
            </a:extLst>
          </p:cNvPr>
          <p:cNvSpPr txBox="1"/>
          <p:nvPr/>
        </p:nvSpPr>
        <p:spPr>
          <a:xfrm>
            <a:off x="1841500" y="1308100"/>
            <a:ext cx="2553456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Sporbar kundebetaling (MBN)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CD5C4DC4-85E0-3E84-344C-799C36C377C5}"/>
              </a:ext>
            </a:extLst>
          </p:cNvPr>
          <p:cNvSpPr txBox="1"/>
          <p:nvPr/>
        </p:nvSpPr>
        <p:spPr>
          <a:xfrm>
            <a:off x="723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Maskinell kobling mellom logiske abonnement og gyldig kunde-/tjenesteavtale.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BB496C0C-1392-D8FF-E002-06000CA1EAA6}"/>
              </a:ext>
            </a:extLst>
          </p:cNvPr>
          <p:cNvSpPr/>
          <p:nvPr/>
        </p:nvSpPr>
        <p:spPr>
          <a:xfrm>
            <a:off x="6286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C0B10FCF-CD1F-E190-4EA2-1FB553B20E5E}"/>
              </a:ext>
            </a:extLst>
          </p:cNvPr>
          <p:cNvSpPr/>
          <p:nvPr/>
        </p:nvSpPr>
        <p:spPr>
          <a:xfrm>
            <a:off x="6438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2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F9F811D2-E57B-114C-BA1B-7725DD29402E}"/>
              </a:ext>
            </a:extLst>
          </p:cNvPr>
          <p:cNvSpPr txBox="1"/>
          <p:nvPr/>
        </p:nvSpPr>
        <p:spPr>
          <a:xfrm>
            <a:off x="7556500" y="1308100"/>
            <a:ext cx="2325124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Maks 6 mnd levetid for test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F3EC2810-FFFC-2830-2932-EF23D4526601}"/>
              </a:ext>
            </a:extLst>
          </p:cNvPr>
          <p:cNvSpPr txBox="1"/>
          <p:nvPr/>
        </p:nvSpPr>
        <p:spPr>
          <a:xfrm>
            <a:off x="6438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utløpsdato ved opprettelse og fast terminering ved utløp.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AA3914B7-F5AC-1A75-01D4-9BD6B11A245F}"/>
              </a:ext>
            </a:extLst>
          </p:cNvPr>
          <p:cNvSpPr/>
          <p:nvPr/>
        </p:nvSpPr>
        <p:spPr>
          <a:xfrm>
            <a:off x="571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48F6E3DB-8B5C-F4EC-88C2-552FFC8A64D2}"/>
              </a:ext>
            </a:extLst>
          </p:cNvPr>
          <p:cNvSpPr/>
          <p:nvPr/>
        </p:nvSpPr>
        <p:spPr>
          <a:xfrm>
            <a:off x="723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3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FE513F46-E4AC-7169-46C7-83BC176D7DFC}"/>
              </a:ext>
            </a:extLst>
          </p:cNvPr>
          <p:cNvSpPr txBox="1"/>
          <p:nvPr/>
        </p:nvSpPr>
        <p:spPr>
          <a:xfrm>
            <a:off x="1841500" y="3086100"/>
            <a:ext cx="2202719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API / OneView regelstøtte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D2DB534D-8A33-03BC-875D-540DC9517C79}"/>
              </a:ext>
            </a:extLst>
          </p:cNvPr>
          <p:cNvSpPr txBox="1"/>
          <p:nvPr/>
        </p:nvSpPr>
        <p:spPr>
          <a:xfrm>
            <a:off x="723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Endringsrobust håndheving av regler direkte i salgs- og bestillingskanalene.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0D447DFB-CB0B-8638-70E9-B947D0FAFE5C}"/>
              </a:ext>
            </a:extLst>
          </p:cNvPr>
          <p:cNvSpPr/>
          <p:nvPr/>
        </p:nvSpPr>
        <p:spPr>
          <a:xfrm>
            <a:off x="6286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2F06A69D-F43E-DE62-9E1D-7BE40A8B68D5}"/>
              </a:ext>
            </a:extLst>
          </p:cNvPr>
          <p:cNvSpPr/>
          <p:nvPr/>
        </p:nvSpPr>
        <p:spPr>
          <a:xfrm>
            <a:off x="6438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4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kstSylinder 20">
            <a:extLst>
              <a:ext uri="{FF2B5EF4-FFF2-40B4-BE49-F238E27FC236}">
                <a16:creationId xmlns:a16="http://schemas.microsoft.com/office/drawing/2014/main" id="{61072FFD-0A47-8B0E-FEB9-413B6711EB6E}"/>
              </a:ext>
            </a:extLst>
          </p:cNvPr>
          <p:cNvSpPr txBox="1"/>
          <p:nvPr/>
        </p:nvSpPr>
        <p:spPr>
          <a:xfrm>
            <a:off x="7556500" y="3086100"/>
            <a:ext cx="2209772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Google Cloud Looker flate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96A893C7-670B-23A2-D8EE-EC4BAA1F27B9}"/>
              </a:ext>
            </a:extLst>
          </p:cNvPr>
          <p:cNvSpPr txBox="1"/>
          <p:nvPr/>
        </p:nvSpPr>
        <p:spPr>
          <a:xfrm>
            <a:off x="6438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Felles dashboards, avvikssporing og automatiserte alarmer til kontrolleiere.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56B00C1E-9CD4-2CF0-EFC2-87163C7168B4}"/>
              </a:ext>
            </a:extLst>
          </p:cNvPr>
          <p:cNvSpPr/>
          <p:nvPr/>
        </p:nvSpPr>
        <p:spPr>
          <a:xfrm>
            <a:off x="571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F714FFC1-E89D-FBE2-A5E9-0F9A29865DAD}"/>
              </a:ext>
            </a:extLst>
          </p:cNvPr>
          <p:cNvSpPr/>
          <p:nvPr/>
        </p:nvSpPr>
        <p:spPr>
          <a:xfrm>
            <a:off x="723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5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562B96A8-E60F-D4EA-557F-618284CC0962}"/>
              </a:ext>
            </a:extLst>
          </p:cNvPr>
          <p:cNvSpPr txBox="1"/>
          <p:nvPr/>
        </p:nvSpPr>
        <p:spPr>
          <a:xfrm>
            <a:off x="1841500" y="4864100"/>
            <a:ext cx="1897507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Kategoribasert regime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kstSylinder 25">
            <a:extLst>
              <a:ext uri="{FF2B5EF4-FFF2-40B4-BE49-F238E27FC236}">
                <a16:creationId xmlns:a16="http://schemas.microsoft.com/office/drawing/2014/main" id="{C08EF5E2-B911-27DF-D5C3-C14B51E4B2AD}"/>
              </a:ext>
            </a:extLst>
          </p:cNvPr>
          <p:cNvSpPr txBox="1"/>
          <p:nvPr/>
        </p:nvSpPr>
        <p:spPr>
          <a:xfrm>
            <a:off x="723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Tydelig eierskap per kategori (Critical, Operational, Test) med SPOC/deputies.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E32DA0FB-DB7D-B602-CB9B-5C2804A50961}"/>
              </a:ext>
            </a:extLst>
          </p:cNvPr>
          <p:cNvSpPr/>
          <p:nvPr/>
        </p:nvSpPr>
        <p:spPr>
          <a:xfrm>
            <a:off x="6286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8" name="Rektangel 27">
            <a:extLst>
              <a:ext uri="{FF2B5EF4-FFF2-40B4-BE49-F238E27FC236}">
                <a16:creationId xmlns:a16="http://schemas.microsoft.com/office/drawing/2014/main" id="{EB8C7309-75E6-3454-039B-C86D653FCFE9}"/>
              </a:ext>
            </a:extLst>
          </p:cNvPr>
          <p:cNvSpPr/>
          <p:nvPr/>
        </p:nvSpPr>
        <p:spPr>
          <a:xfrm>
            <a:off x="6438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6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2D98ED46-7925-54BF-DF7E-E27A8BBFEAA0}"/>
              </a:ext>
            </a:extLst>
          </p:cNvPr>
          <p:cNvSpPr txBox="1"/>
          <p:nvPr/>
        </p:nvSpPr>
        <p:spPr>
          <a:xfrm>
            <a:off x="7556500" y="4864100"/>
            <a:ext cx="249876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Forretningskritisk forvaltning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kstSylinder 29">
            <a:extLst>
              <a:ext uri="{FF2B5EF4-FFF2-40B4-BE49-F238E27FC236}">
                <a16:creationId xmlns:a16="http://schemas.microsoft.com/office/drawing/2014/main" id="{70BBABD9-926D-C3C0-76DD-A60259086C5D}"/>
              </a:ext>
            </a:extLst>
          </p:cNvPr>
          <p:cNvSpPr txBox="1"/>
          <p:nvPr/>
        </p:nvSpPr>
        <p:spPr>
          <a:xfrm>
            <a:off x="6438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Strengere prevent-detect-act oppfølging for kritiske drifts- og nettverks-SIM.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67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60762C0-BE0D-F51A-DFB4-3D74260C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2D92D2B1-DE0C-ADAF-3634-EE5716D3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6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81E7E8D-4526-2F21-66A8-34460B916C8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746BD61-F6BB-13C6-308E-BE12E35B5044}"/>
              </a:ext>
            </a:extLst>
          </p:cNvPr>
          <p:cNvSpPr/>
          <p:nvPr/>
        </p:nvSpPr>
        <p:spPr>
          <a:xfrm>
            <a:off x="571500" y="228600"/>
            <a:ext cx="2540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AI-AUTOMATISERING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466B76C7-B90F-0B75-DF2C-0E6DDFCAA7D2}"/>
              </a:ext>
            </a:extLst>
          </p:cNvPr>
          <p:cNvSpPr txBox="1"/>
          <p:nvPr/>
        </p:nvSpPr>
        <p:spPr>
          <a:xfrm>
            <a:off x="533400" y="558800"/>
            <a:ext cx="825033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AI-agentstøtte for kontroll og datavask av 21 509 testnummer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AF7C93E-D16E-2F45-FB23-81953A267EEB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09181CF1-BA63-9FD7-0AB2-04FAA2A9B6D0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Hvorfor AI-Agenter i GIA-kontrollen?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61557FBF-14CA-75A5-0BC7-7340CDEE0F1C}"/>
              </a:ext>
            </a:extLst>
          </p:cNvPr>
          <p:cNvSpPr txBox="1"/>
          <p:nvPr/>
        </p:nvSpPr>
        <p:spPr>
          <a:xfrm>
            <a:off x="762000" y="1841500"/>
            <a:ext cx="4953000" cy="23512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Manuell sjekk av 21 509 ustrukturerte test-SIM er tidkrevende og skjer kun periodisk.
• AI-agenter analyserer kontinuerlig data på tvers av CCDW, trafikklogger og forhandlerinfo.
• Avdekker automatisk:
  - 'Døde' testkort uten trafikk &gt; 6 mnd
  - SIM opprettet på feil betalerkonto
  - Manglende eller ugyldige brukerreferanser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E9E9CC61-D805-4268-BEAB-697A9A79670E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11A9B242-F07F-2E73-F2A5-96A41DD97A9F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Operativ Funksjonalitet &amp; Verdi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F13FC6AA-2E63-9443-F8BC-780DFF384DAB}"/>
              </a:ext>
            </a:extLst>
          </p:cNvPr>
          <p:cNvSpPr txBox="1"/>
          <p:nvPr/>
        </p:nvSpPr>
        <p:spPr>
          <a:xfrm>
            <a:off x="6477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1. Automatisk klassifisering:
Grupperer abonnementer inn i godkjente kategorier basert på historikk og bruksmønster.
2. Saneringsforslag:
Genererer ferdig saneringsliste til Customer Operations (Rørvik) for bulk-sletting.
3. Revisjonsklar logg:
Full dokumentasjon av alle vurderinger og handlinger for GIA- og ICFR-revisjon.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2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DED46D8-8E93-718F-5329-1DB3D8343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38E61646-8DB6-E842-7ADB-326AD1AA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7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2A0FA80E-EA03-3142-FD58-A8272F9D33B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BC50F8DB-A730-967B-97FE-20F440958A0D}"/>
              </a:ext>
            </a:extLst>
          </p:cNvPr>
          <p:cNvSpPr/>
          <p:nvPr/>
        </p:nvSpPr>
        <p:spPr>
          <a:xfrm>
            <a:off x="571500" y="228600"/>
            <a:ext cx="2540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ORGANISERING &amp; ROLLER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63121548-C81F-0610-3488-F148BBD5A5B3}"/>
              </a:ext>
            </a:extLst>
          </p:cNvPr>
          <p:cNvSpPr txBox="1"/>
          <p:nvPr/>
        </p:nvSpPr>
        <p:spPr>
          <a:xfrm>
            <a:off x="533400" y="558800"/>
            <a:ext cx="60376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n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Styringsstruktur og forankring (ICFR NOR 72)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94DCCD8F-5183-85FD-FB3C-5867C1BEE495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35868B33-A263-39A6-BE87-AA7B7D89FB54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Årlig CxO-verifisert ansvarsmatrise per divisjon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370764C2-623E-A089-1A1D-792B61A426E8}"/>
              </a:ext>
            </a:extLst>
          </p:cNvPr>
          <p:cNvSpPr txBox="1"/>
          <p:nvPr/>
        </p:nvSpPr>
        <p:spPr>
          <a:xfrm>
            <a:off x="825500" y="1841500"/>
            <a:ext cx="10541000" cy="35362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Business: Tor Marstein  (CxO: Torfinn Eriksen / Nikolay / Annelene)
• Technology: Geir Kolstad  (CxO: Roger Nerli) — Eier Critical &amp; Operational SIM
• Security Solutions &amp; Mobile: Rikke K. Nielsen  (CxO: Ric Brown)
• Entertainment &amp; Internet: Anna Hvattum  (CxO: Magnus S. Aasjord)
• Wholesale: Kjetil Jacobsen  (CxO: Ludwig Ulmer / Hugo Erichsen)
• IT: Hanne Sveipe Thowsen  (CxO: Torbjørn Larsen)
• People &amp; Organization: Pero Markanovic  (CxO: Kristin Ruud)
Styring for Test SIM: Primæreier + Deputies (Tor Marstein, Kjetil Furuly, Jesper Lade)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78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E29922C-5B6E-A102-2393-E76964E3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935E1FE4-0DA1-FCE5-B15A-1AB83C1CD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8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25B6017-FE63-E29F-FFC2-AAC9C9D4537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96BE583-DF5A-3529-1310-43F381426799}"/>
              </a:ext>
            </a:extLst>
          </p:cNvPr>
          <p:cNvSpPr/>
          <p:nvPr/>
        </p:nvSpPr>
        <p:spPr>
          <a:xfrm>
            <a:off x="571500" y="228600"/>
            <a:ext cx="2540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GEVINSTBILDE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9478FAB1-382E-70B6-1C24-696D8886BD9A}"/>
              </a:ext>
            </a:extLst>
          </p:cNvPr>
          <p:cNvSpPr txBox="1"/>
          <p:nvPr/>
        </p:nvSpPr>
        <p:spPr>
          <a:xfrm>
            <a:off x="533400" y="558800"/>
            <a:ext cx="6250044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Forventede effekter av nytt forvaltningsregime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2B4F06E3-B311-3C6C-777D-506D05443902}"/>
              </a:ext>
            </a:extLst>
          </p:cNvPr>
          <p:cNvSpPr/>
          <p:nvPr/>
        </p:nvSpPr>
        <p:spPr>
          <a:xfrm>
            <a:off x="571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424C9F3E-E5E5-917F-DE34-D088CD51142B}"/>
              </a:ext>
            </a:extLst>
          </p:cNvPr>
          <p:cNvSpPr/>
          <p:nvPr/>
        </p:nvSpPr>
        <p:spPr>
          <a:xfrm>
            <a:off x="571500" y="1206500"/>
            <a:ext cx="5334000" cy="4826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Betydelig kostnadskutt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01C792FB-5C37-14CA-0040-84B135C81608}"/>
              </a:ext>
            </a:extLst>
          </p:cNvPr>
          <p:cNvSpPr txBox="1"/>
          <p:nvPr/>
        </p:nvSpPr>
        <p:spPr>
          <a:xfrm>
            <a:off x="762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Rask identifisering og terminering av ubrukte testkort og feilbetalte SIM gir umiddelbar kostnadsreduksjon.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47286490-B319-22A4-43B5-E921283F7052}"/>
              </a:ext>
            </a:extLst>
          </p:cNvPr>
          <p:cNvSpPr/>
          <p:nvPr/>
        </p:nvSpPr>
        <p:spPr>
          <a:xfrm>
            <a:off x="6286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A2E20EF0-7173-36AA-237D-1965E18A8D41}"/>
              </a:ext>
            </a:extLst>
          </p:cNvPr>
          <p:cNvSpPr/>
          <p:nvPr/>
        </p:nvSpPr>
        <p:spPr>
          <a:xfrm>
            <a:off x="6286500" y="1206500"/>
            <a:ext cx="5334000" cy="482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Proaktiv Fraud-sikring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FF1B2654-EADE-7EAC-21BE-CAB92A0E0B4B}"/>
              </a:ext>
            </a:extLst>
          </p:cNvPr>
          <p:cNvSpPr txBox="1"/>
          <p:nvPr/>
        </p:nvSpPr>
        <p:spPr>
          <a:xfrm>
            <a:off x="6477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Eliminerer ukjente SIM i omløp og stopper uautorisert trafikk umiddelbart via automatiske alarmer.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B7F09C66-88F7-71D3-5DEB-1B8B19B24FDD}"/>
              </a:ext>
            </a:extLst>
          </p:cNvPr>
          <p:cNvSpPr/>
          <p:nvPr/>
        </p:nvSpPr>
        <p:spPr>
          <a:xfrm>
            <a:off x="571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EF7CA57A-CE99-9B85-EF13-105E1DB43FB9}"/>
              </a:ext>
            </a:extLst>
          </p:cNvPr>
          <p:cNvSpPr/>
          <p:nvPr/>
        </p:nvSpPr>
        <p:spPr>
          <a:xfrm>
            <a:off x="571500" y="3302000"/>
            <a:ext cx="5334000" cy="482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Effektiv ressursbruk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B4754FBD-68D7-2C24-C15A-227A385EA80C}"/>
              </a:ext>
            </a:extLst>
          </p:cNvPr>
          <p:cNvSpPr txBox="1"/>
          <p:nvPr/>
        </p:nvSpPr>
        <p:spPr>
          <a:xfrm>
            <a:off x="762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Erstatter manuelle regneark med automatiserte Looker dashboards og AI-assistert saksbehandling.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761F590C-56BC-6FC7-3063-1482FF901F6C}"/>
              </a:ext>
            </a:extLst>
          </p:cNvPr>
          <p:cNvSpPr/>
          <p:nvPr/>
        </p:nvSpPr>
        <p:spPr>
          <a:xfrm>
            <a:off x="6286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448FB4D2-88B3-95C2-7394-5851B4FBB1C6}"/>
              </a:ext>
            </a:extLst>
          </p:cNvPr>
          <p:cNvSpPr/>
          <p:nvPr/>
        </p:nvSpPr>
        <p:spPr>
          <a:xfrm>
            <a:off x="6286500" y="3302000"/>
            <a:ext cx="5334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100 % Compliance &amp; Audit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EA9992AA-3D4B-A823-43B4-C7FB0917B7CB}"/>
              </a:ext>
            </a:extLst>
          </p:cNvPr>
          <p:cNvSpPr txBox="1"/>
          <p:nvPr/>
        </p:nvSpPr>
        <p:spPr>
          <a:xfrm>
            <a:off x="6477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Full etterlevelse av GIA-krav og ICFR NOR 72 med fullt automatisert revisjonsspor.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26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BE15039B-8087-6618-D4F8-AF7E846624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3968095F-E5BF-0DDD-6CD6-FE7E2771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>
                <a:solidFill>
                  <a:srgbClr val="FFFFFF"/>
                </a:solidFill>
                <a:latin typeface="Segoe UI" panose="020B0502040204020203" pitchFamily="34" charset="0"/>
              </a:rPr>
              <a:t>Forslag til Beslutning for Ledelsen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28349C8E-0B5A-97E4-E3FD-DD7FADB73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5CEB6E96-A7CA-582B-7430-E276E8C129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9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7B48DD5-89F8-278E-6A8A-3FFD25BE3563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FA7EF17-4555-408E-6F51-939F5AB3D792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Innstilling til godkjenning i Telenor Business / GIA Forum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B1D1DDAB-0784-4A50-27F5-495CC4D97F42}"/>
              </a:ext>
            </a:extLst>
          </p:cNvPr>
          <p:cNvSpPr txBox="1"/>
          <p:nvPr/>
        </p:nvSpPr>
        <p:spPr>
          <a:xfrm>
            <a:off x="825500" y="1905000"/>
            <a:ext cx="10541000" cy="3409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Det innstilles på at ledelsen fatter følgende vedtak:
1. Godkjenning av forvaltningsmodell:
Forvaltningsrammeverket (Prevent-Detect-Act-Improve) og de 6 forvaltningskravene godkjennes som gjeldende standard for Telenor Business.
2. Innføring av 6 mnd levetid for test-SIM:
Det innføres standard 6 måneders levetid og automatisk terminering for alle nye Test-1 abonnementer.
3. Google Cloud Looker &amp; Operativ forankring:
Google Cloud Looker etableres som offisiell oppfølgingsflate, og Customer Operations gis mandat til månedlige bulk-saneringer etter innspill fra SPOC-ene.
4. Oppstart av AI-agent pilot:
Det godkjennes igangsetting av pilot for AI-agentbasert datavask og kontroll av de 21 509 ustrukturerte testnumrene.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80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lenor 2025">
  <a:themeElements>
    <a:clrScheme name="Telenor 2025 Office colour theme">
      <a:dk1>
        <a:srgbClr val="070451"/>
      </a:dk1>
      <a:lt1>
        <a:srgbClr val="FFFFFF"/>
      </a:lt1>
      <a:dk2>
        <a:srgbClr val="1C16C5"/>
      </a:dk2>
      <a:lt2>
        <a:srgbClr val="EBFFFF"/>
      </a:lt2>
      <a:accent1>
        <a:srgbClr val="00C8FF"/>
      </a:accent1>
      <a:accent2>
        <a:srgbClr val="2954FF"/>
      </a:accent2>
      <a:accent3>
        <a:srgbClr val="ADFFFE"/>
      </a:accent3>
      <a:accent4>
        <a:srgbClr val="B0FBB8"/>
      </a:accent4>
      <a:accent5>
        <a:srgbClr val="FEF6B8"/>
      </a:accent5>
      <a:accent6>
        <a:srgbClr val="FFB8D7"/>
      </a:accent6>
      <a:hlink>
        <a:srgbClr val="00C8FE"/>
      </a:hlink>
      <a:folHlink>
        <a:srgbClr val="00C8FE"/>
      </a:folHlink>
    </a:clrScheme>
    <a:fontScheme name="Test">
      <a:majorFont>
        <a:latin typeface="TelenorEvolution PPT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defRPr sz="16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lenor-mal-NO.pptx" id="{C1BBCD63-355D-4F5B-8E1C-673ECC7E7166}" vid="{33D4B2D0-0271-43FD-B671-5964AE226D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A0F02228F8548BE5CD6AF06EF2189" ma:contentTypeVersion="4" ma:contentTypeDescription="Create a new document." ma:contentTypeScope="" ma:versionID="5cc467db965d387c4d49a8b87bbe69eb">
  <xsd:schema xmlns:xsd="http://www.w3.org/2001/XMLSchema" xmlns:xs="http://www.w3.org/2001/XMLSchema" xmlns:p="http://schemas.microsoft.com/office/2006/metadata/properties" xmlns:ns2="46f2b503-baca-4175-bf9d-c69e87a494e7" targetNamespace="http://schemas.microsoft.com/office/2006/metadata/properties" ma:root="true" ma:fieldsID="233beabca6f80146fb330de4af5393ba" ns2:_="">
    <xsd:import namespace="46f2b503-baca-4175-bf9d-c69e87a494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2b503-baca-4175-bf9d-c69e87a494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0FF392-0D84-4EA2-8196-6F9DD44543A5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46f2b503-baca-4175-bf9d-c69e87a494e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113B0C4-3245-4F01-8BF4-033F411AD7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9B927C-C923-413F-90E4-F130BE5846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f2b503-baca-4175-bf9d-c69e87a494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Telenor-mal-NO</Template>
  <TotalTime>3138</TotalTime>
  <Words>1040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5" baseType="lpstr">
      <vt:lpstr>Segoe UI</vt:lpstr>
      <vt:lpstr>Arial</vt:lpstr>
      <vt:lpstr>TelenorEvolutionPPT-Light</vt:lpstr>
      <vt:lpstr>TelenorEvolution PPT</vt:lpstr>
      <vt:lpstr>Calibri</vt:lpstr>
      <vt:lpstr>Telenor 2025</vt:lpstr>
      <vt:lpstr>Forvaltning og AI-agentstøtte for Mobile Free SIMs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Forslag til Beslutning for Ledelsen</vt:lpstr>
    </vt:vector>
  </TitlesOfParts>
  <Company>Telenor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Johansen</dc:creator>
  <cp:lastModifiedBy>Tor Marstein</cp:lastModifiedBy>
  <cp:revision>7</cp:revision>
  <dcterms:created xsi:type="dcterms:W3CDTF">2025-11-04T11:05:11Z</dcterms:created>
  <dcterms:modified xsi:type="dcterms:W3CDTF">2026-09-18T10:20:54Z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821336-263d-4940-a74c-ab7373b99eed_Enabled">
    <vt:lpwstr>true</vt:lpwstr>
  </property>
  <property fmtid="{D5CDD505-2E9C-101B-9397-08002B2CF9AE}" pid="3" name="MSIP_Label_50821336-263d-4940-a74c-ab7373b99eed_SetDate">
    <vt:lpwstr>2025-06-18T09:57:08Z</vt:lpwstr>
  </property>
  <property fmtid="{D5CDD505-2E9C-101B-9397-08002B2CF9AE}" pid="4" name="MSIP_Label_50821336-263d-4940-a74c-ab7373b99eed_Method">
    <vt:lpwstr>Standard</vt:lpwstr>
  </property>
  <property fmtid="{D5CDD505-2E9C-101B-9397-08002B2CF9AE}" pid="5" name="MSIP_Label_50821336-263d-4940-a74c-ab7373b99eed_Name">
    <vt:lpwstr>Internal</vt:lpwstr>
  </property>
  <property fmtid="{D5CDD505-2E9C-101B-9397-08002B2CF9AE}" pid="6" name="MSIP_Label_50821336-263d-4940-a74c-ab7373b99eed_SiteId">
    <vt:lpwstr>6735929c-9dbf-473b-9fc6-5fbdcd2c9fc4</vt:lpwstr>
  </property>
  <property fmtid="{D5CDD505-2E9C-101B-9397-08002B2CF9AE}" pid="7" name="MSIP_Label_50821336-263d-4940-a74c-ab7373b99eed_ActionId">
    <vt:lpwstr>87aee2b2-f572-435d-bbe9-d9f454cd0e4e</vt:lpwstr>
  </property>
  <property fmtid="{D5CDD505-2E9C-101B-9397-08002B2CF9AE}" pid="8" name="MSIP_Label_50821336-263d-4940-a74c-ab7373b99eed_ContentBits">
    <vt:lpwstr>0</vt:lpwstr>
  </property>
  <property fmtid="{D5CDD505-2E9C-101B-9397-08002B2CF9AE}" pid="9" name="MSIP_Label_50821336-263d-4940-a74c-ab7373b99eed_Tag">
    <vt:lpwstr>50, 3, 0, 1</vt:lpwstr>
  </property>
  <property fmtid="{D5CDD505-2E9C-101B-9397-08002B2CF9AE}" pid="10" name="ContentTypeId">
    <vt:lpwstr>0x010100367A0F02228F8548BE5CD6AF06EF2189</vt:lpwstr>
  </property>
  <property fmtid="{D5CDD505-2E9C-101B-9397-08002B2CF9AE}" pid="11" name="MediaServiceImageTags">
    <vt:lpwstr/>
  </property>
  <property fmtid="{D5CDD505-2E9C-101B-9397-08002B2CF9AE}" pid="12" name="ClassificationContentMarkingFooterLocations">
    <vt:lpwstr>Telenor 2025:12</vt:lpwstr>
  </property>
  <property fmtid="{D5CDD505-2E9C-101B-9397-08002B2CF9AE}" pid="13" name="ClassificationContentMarkingFooterText">
    <vt:lpwstr>Sensitivity: Internal</vt:lpwstr>
  </property>
</Properties>
</file>