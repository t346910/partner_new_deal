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Segoe UI" panose="020B0502040204020203" pitchFamily="34" charset="0"/>
      <p:regular r:id="rId16"/>
      <p:bold r:id="rId17"/>
      <p:italic r:id="rId18"/>
      <p:boldItalic r:id="rId19"/>
    </p:embeddedFont>
    <p:embeddedFont>
      <p:font typeface="TelenorEvolution PPT" pitchFamily="2" charset="0"/>
      <p:regular r:id="rId20"/>
      <p:bold r:id="rId21"/>
      <p:italic r:id="rId22"/>
      <p:boldItalic r:id="rId23"/>
    </p:embeddedFont>
    <p:embeddedFont>
      <p:font typeface="TelenorEvolutionPPT-Light" pitchFamily="2" charset="0"/>
      <p:regular r:id="rId24"/>
      <p:bold r:id="rId25"/>
      <p:italic r:id="rId26"/>
      <p:boldItalic r:id="rId27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7" d="100"/>
          <a:sy n="67" d="100"/>
        </p:scale>
        <p:origin x="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6918FE5-5D9F-5E67-38A3-27CC15027F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2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1DA5248-D479-4C0C-E59F-F979D7D5A88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36ABF82-BF2F-640B-0DD6-B0A7F9365F2E}"/>
              </a:ext>
            </a:extLst>
          </p:cNvPr>
          <p:cNvSpPr/>
          <p:nvPr/>
        </p:nvSpPr>
        <p:spPr>
          <a:xfrm>
            <a:off x="571500" y="381000"/>
            <a:ext cx="2794000" cy="355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BESLUTNINGSUNDERLAG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8EF573DA-34DA-6299-052A-D3C73018A588}"/>
              </a:ext>
            </a:extLst>
          </p:cNvPr>
          <p:cNvSpPr txBox="1"/>
          <p:nvPr/>
        </p:nvSpPr>
        <p:spPr>
          <a:xfrm>
            <a:off x="533400" y="825500"/>
            <a:ext cx="8459624" cy="49917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 og AI-agentstøtte for Free SIMs</a:t>
            </a:r>
            <a:endParaRPr kumimoji="0" lang="nb-NO" sz="32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D8783099-3CF9-E995-266C-9258917D0278}"/>
              </a:ext>
            </a:extLst>
          </p:cNvPr>
          <p:cNvSpPr txBox="1"/>
          <p:nvPr/>
        </p:nvSpPr>
        <p:spPr>
          <a:xfrm>
            <a:off x="558800" y="1549400"/>
            <a:ext cx="7766870" cy="23397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5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Styringsmodell for 135 281 abonnementer  |  Oppfølging av GIA Audit &amp; ICFR NOR 72</a:t>
            </a:r>
            <a:endParaRPr kumimoji="0" lang="nb-NO" sz="1500" b="1" i="0" u="none" strike="noStrike" kern="1200" cap="none" spc="0" normalizeH="0" baseline="0" noProof="0" dirty="0" err="1">
              <a:ln>
                <a:noFill/>
              </a:ln>
              <a:solidFill>
                <a:srgbClr val="38BDF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56AE185-AF5E-18C7-445F-9116195AA85A}"/>
              </a:ext>
            </a:extLst>
          </p:cNvPr>
          <p:cNvSpPr/>
          <p:nvPr/>
        </p:nvSpPr>
        <p:spPr>
          <a:xfrm>
            <a:off x="571500" y="2159000"/>
            <a:ext cx="6350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E5A4B04E-85A5-9602-78EE-9833B1C10532}"/>
              </a:ext>
            </a:extLst>
          </p:cNvPr>
          <p:cNvSpPr/>
          <p:nvPr/>
        </p:nvSpPr>
        <p:spPr>
          <a:xfrm>
            <a:off x="571500" y="2159000"/>
            <a:ext cx="6350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SAKSINNHOLD OG HOVEDFORMÅL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0CD02A24-F578-3133-3EDF-69AF2A1395DD}"/>
              </a:ext>
            </a:extLst>
          </p:cNvPr>
          <p:cNvSpPr txBox="1"/>
          <p:nvPr/>
        </p:nvSpPr>
        <p:spPr>
          <a:xfrm>
            <a:off x="762000" y="2794000"/>
            <a:ext cx="5969000" cy="272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Sak:
  Etablering av helhetlig styringsmodell (Prevent-Detect-Act-Improve) og AI-agentbasert kontroll for 135 281 Free SIMs.
• Hovedformål 1: AI-styrte stengelister
  For alle Free SIM skal det etableres AI-agentkapabiliteter som, basert på gjeldende regelsett gitt av GIA-forvaltningsregimet, utarbeider stengelister fortløpende som går til terminering.
• Hovedformål 2: Revisjon &amp; Inntektssikring
  Sikre Telenor mot inntektstap/svindel og oppnå 100 % revisjonssikker styring iht. GIA og ICFR NOR 72.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F2EBC2D6-9459-5D28-CB07-9E8857616677}"/>
              </a:ext>
            </a:extLst>
          </p:cNvPr>
          <p:cNvSpPr/>
          <p:nvPr/>
        </p:nvSpPr>
        <p:spPr>
          <a:xfrm>
            <a:off x="7175500" y="2159000"/>
            <a:ext cx="4445000" cy="4254500"/>
          </a:xfrm>
          <a:prstGeom prst="rect">
            <a:avLst/>
          </a:prstGeom>
          <a:solidFill>
            <a:srgbClr val="FFFFFF"/>
          </a:solidFill>
          <a:ln w="31750">
            <a:solidFill>
              <a:srgbClr val="00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93A4C14C-74D0-579D-CA21-6BABBF4C2D43}"/>
              </a:ext>
            </a:extLst>
          </p:cNvPr>
          <p:cNvSpPr/>
          <p:nvPr/>
        </p:nvSpPr>
        <p:spPr>
          <a:xfrm>
            <a:off x="7175500" y="2159000"/>
            <a:ext cx="4445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300" b="1">
                <a:solidFill>
                  <a:srgbClr val="FFFFFF"/>
                </a:solidFill>
                <a:latin typeface="Segoe UI" panose="020B0502040204020203" pitchFamily="34" charset="0"/>
              </a:rPr>
              <a:t>ROLLER OG SAKSINFORMASJON</a:t>
            </a:r>
            <a:endParaRPr lang="nb-NO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A76EDB1C-ABB8-56FD-4F2E-AA38B8B1D1F9}"/>
              </a:ext>
            </a:extLst>
          </p:cNvPr>
          <p:cNvSpPr txBox="1"/>
          <p:nvPr/>
        </p:nvSpPr>
        <p:spPr>
          <a:xfrm>
            <a:off x="7340600" y="2794000"/>
            <a:ext cx="4114800" cy="27244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Saksinnmelder:
   Tor Marstein (Telenor Business)
• Ansvarlige for kontrollen:
   - Tor Marstein (SPOC Business)
   - Geir Kolstad (SPOC Technology)
• Målgruppe:
   Ledelsen i Telenor Business / GIA Forum
• Dato &amp; Status:
   18. september 2026  |  Til beslutning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7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33580E-3E7B-904F-8BA6-D406EBB2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592E04CA-A2FA-381F-E98D-AE707FAD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9F778E12-E1CD-4AE4-ABE6-A1036AFD280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E535372-0FC7-E4E6-8441-10CF17E0D9FC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BAKGRUNN &amp; KONTEKST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1DD1441A-22C3-DFB7-151A-E0A5541363FF}"/>
              </a:ext>
            </a:extLst>
          </p:cNvPr>
          <p:cNvSpPr txBox="1"/>
          <p:nvPr/>
        </p:nvSpPr>
        <p:spPr>
          <a:xfrm>
            <a:off x="533400" y="558800"/>
            <a:ext cx="619131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Hvorfor kreves det et nytt forvaltningsregime?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852DAF22-2AE0-DD7C-BAD2-F637452F5CA2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93D676D5-A901-D280-A841-754BD8D8A32B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GIA &amp; ICFR Styringskrav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681323AC-86F6-D89D-39F8-021ABC7E4552}"/>
              </a:ext>
            </a:extLst>
          </p:cNvPr>
          <p:cNvSpPr txBox="1"/>
          <p:nvPr/>
        </p:nvSpPr>
        <p:spPr>
          <a:xfrm>
            <a:off x="762000" y="1841500"/>
            <a:ext cx="4953000" cy="21142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GIA Audit: Avdekket behov for vesentlig forbedret formålssporing og kostnadskontroll på SIM dekket av Telenor Norge.
• ICFR NOR 72: Pålegger årlig CxO-verifisering av oppnevnte divisjons-SPOC-er og kvartalsvise kontroller.
• 135 000+ abonnementer: Ligger i dag spredt over mer enn 1 300 kontoer uten helautomatisk bevisføring på gyldighet.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60D5C09C-32AD-D609-CF96-E57D1825DDCA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0B10ECD7-C4A4-63ED-6145-EBB02582F414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Identifiserte Hovedrisikoer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114DFACE-A51A-B9EC-71DA-BC4AAC7AE3BF}"/>
              </a:ext>
            </a:extLst>
          </p:cNvPr>
          <p:cNvSpPr txBox="1"/>
          <p:nvPr/>
        </p:nvSpPr>
        <p:spPr>
          <a:xfrm>
            <a:off x="6477000" y="1841500"/>
            <a:ext cx="4953000" cy="23512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1. 'Døde' MBN/NC-nummer:
Logiske nummer som henger igjen etter opphørte kundeforhold eller avtalenedgraderinger.
2. Økonomisk eksponering:
Risiko for at Telenor dekker abonnementer som burde vært viderefakturert kunder eller stengt.
3. Sikkerhet &amp; Fraud:
Test-SIM i omløp uten aktiv kontrolleier eller tidsbegrensning.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8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C869AAC-0E8D-BB66-A28C-565BE174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92FE65C7-C6D4-4305-FED4-8EF82BE7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49BA09F9-45C9-6C3A-663A-2CF62D30729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C6A2BA7-8881-6F03-F17B-B72D38777450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PORTEFØLJEANALYSE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71F18699-539E-C545-3140-56BFDD1E670D}"/>
              </a:ext>
            </a:extLst>
          </p:cNvPr>
          <p:cNvSpPr txBox="1"/>
          <p:nvPr/>
        </p:nvSpPr>
        <p:spPr>
          <a:xfrm>
            <a:off x="533400" y="558800"/>
            <a:ext cx="72823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Dagens nummerbase: 135 281 Free SIM-abonnementer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7DDFC801-1BED-15F0-6064-02624CE9D9FA}"/>
              </a:ext>
            </a:extLst>
          </p:cNvPr>
          <p:cNvSpPr/>
          <p:nvPr/>
        </p:nvSpPr>
        <p:spPr>
          <a:xfrm>
            <a:off x="571500" y="1143000"/>
            <a:ext cx="3429000" cy="17145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55D40B88-2FF6-BD2F-6F0C-AA1182BE3F09}"/>
              </a:ext>
            </a:extLst>
          </p:cNvPr>
          <p:cNvSpPr txBox="1"/>
          <p:nvPr/>
        </p:nvSpPr>
        <p:spPr>
          <a:xfrm>
            <a:off x="698500" y="1244600"/>
            <a:ext cx="2125454" cy="103092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4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8AEE835-5726-BD7C-24A5-C4F08F6C651E}"/>
              </a:ext>
            </a:extLst>
          </p:cNvPr>
          <p:cNvSpPr/>
          <p:nvPr/>
        </p:nvSpPr>
        <p:spPr>
          <a:xfrm>
            <a:off x="4381500" y="1143000"/>
            <a:ext cx="3429000" cy="17145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0EF6F42A-13B6-C063-4123-4A682B414846}"/>
              </a:ext>
            </a:extLst>
          </p:cNvPr>
          <p:cNvSpPr txBox="1"/>
          <p:nvPr/>
        </p:nvSpPr>
        <p:spPr>
          <a:xfrm>
            <a:off x="4508500" y="1244600"/>
            <a:ext cx="2705869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Logiske nummer (MBN/NC)
Regelbasert validering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F4D514DA-F055-DEE7-D594-12E44742D5C4}"/>
              </a:ext>
            </a:extLst>
          </p:cNvPr>
          <p:cNvSpPr/>
          <p:nvPr/>
        </p:nvSpPr>
        <p:spPr>
          <a:xfrm>
            <a:off x="8191500" y="1143000"/>
            <a:ext cx="3429000" cy="17145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FD728D27-3E63-FC30-5386-A7325A616F02}"/>
              </a:ext>
            </a:extLst>
          </p:cNvPr>
          <p:cNvSpPr txBox="1"/>
          <p:nvPr/>
        </p:nvSpPr>
        <p:spPr>
          <a:xfrm>
            <a:off x="8318500" y="1244600"/>
            <a:ext cx="2484655" cy="96321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Ustrukturerte test/drift
Fortløpende stengelister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700C16A7-581A-BF77-60AA-8E3B2355668F}"/>
              </a:ext>
            </a:extLst>
          </p:cNvPr>
          <p:cNvSpPr/>
          <p:nvPr/>
        </p:nvSpPr>
        <p:spPr>
          <a:xfrm>
            <a:off x="571500" y="3048000"/>
            <a:ext cx="11049000" cy="3365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7A2E1CB6-76B7-25AE-CF39-404F8C04D3FC}"/>
              </a:ext>
            </a:extLst>
          </p:cNvPr>
          <p:cNvSpPr/>
          <p:nvPr/>
        </p:nvSpPr>
        <p:spPr>
          <a:xfrm>
            <a:off x="571500" y="3048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Helhetlig AI-agentstyring for hele porteføljen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21F19C61-CE86-EEAF-D842-D8B14629E8CA}"/>
              </a:ext>
            </a:extLst>
          </p:cNvPr>
          <p:cNvSpPr txBox="1"/>
          <p:nvPr/>
        </p:nvSpPr>
        <p:spPr>
          <a:xfrm>
            <a:off x="825500" y="3683000"/>
            <a:ext cx="10541000" cy="18773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Felles AI-agent mandat: For samtlige 135 281 Free SIM etableres det AI-agentkapabiliteter som kontrollerer porteføljen mot GIA-regelsettet og genererer fortløpende stengelister til Customer Operations.
• 84 % (MBN / Nordic Connect): Kontinuerlig avstemming mot aktive kundeavtaler. Numre uten gyldig betalende kunde tas automatisk med på stengelisten.
• 16 % (Test- og Drifts-SIM): Løpende overvåkning av aktivitet og utløpsdato. Inaktive kort (&gt; 6 mnd) eller utløpte testabonnementer rutes rett til terminering.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88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4D67AFE-E9BB-E958-47DC-1A5677CB2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D162887D-1912-F0CC-A86E-8D226BC3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95CE2F7-B59F-E22C-957A-EA64F0B9266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6046DCB-582C-BF5E-4FEB-3C27739D860C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STYRINGSRAMMEVERK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A6A756D4-26EB-F21B-0D08-5F3E203D9D82}"/>
              </a:ext>
            </a:extLst>
          </p:cNvPr>
          <p:cNvSpPr txBox="1"/>
          <p:nvPr/>
        </p:nvSpPr>
        <p:spPr>
          <a:xfrm>
            <a:off x="533400" y="558800"/>
            <a:ext cx="7798417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Forvaltningsmodellen: Prevent ➔ Detect ➔ Act ➔ Improve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E8B7C42-A0AF-933C-4386-66D2CB2515D6}"/>
              </a:ext>
            </a:extLst>
          </p:cNvPr>
          <p:cNvSpPr/>
          <p:nvPr/>
        </p:nvSpPr>
        <p:spPr>
          <a:xfrm>
            <a:off x="571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4977E156-6051-75E4-08C5-1F0C6001F71C}"/>
              </a:ext>
            </a:extLst>
          </p:cNvPr>
          <p:cNvSpPr/>
          <p:nvPr/>
        </p:nvSpPr>
        <p:spPr>
          <a:xfrm>
            <a:off x="571500" y="1206500"/>
            <a:ext cx="2667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1. PREVENT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7117BE9-3028-3679-40D6-EB1061FB5884}"/>
              </a:ext>
            </a:extLst>
          </p:cNvPr>
          <p:cNvSpPr txBox="1"/>
          <p:nvPr/>
        </p:nvSpPr>
        <p:spPr>
          <a:xfrm>
            <a:off x="698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Opprettelse KUN på godkjente kontoer
• Kobling til aktiv MBN/NC-avtale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7AECF34B-D3F9-9492-FB02-D6EE9863DD8C}"/>
              </a:ext>
            </a:extLst>
          </p:cNvPr>
          <p:cNvSpPr/>
          <p:nvPr/>
        </p:nvSpPr>
        <p:spPr>
          <a:xfrm>
            <a:off x="3365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320360BE-60E6-7EA9-1B3A-C5EE25BFF053}"/>
              </a:ext>
            </a:extLst>
          </p:cNvPr>
          <p:cNvSpPr/>
          <p:nvPr/>
        </p:nvSpPr>
        <p:spPr>
          <a:xfrm>
            <a:off x="3365500" y="1206500"/>
            <a:ext cx="2667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2. DETECT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3CDA4944-EB50-3EA9-46E9-96C943EA1BC6}"/>
              </a:ext>
            </a:extLst>
          </p:cNvPr>
          <p:cNvSpPr txBox="1"/>
          <p:nvPr/>
        </p:nvSpPr>
        <p:spPr>
          <a:xfrm>
            <a:off x="3492500" y="1841500"/>
            <a:ext cx="2413000" cy="15817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Kontinuerlig regelkontroll av 135k SIM
• Avdekking av 'døde' logiske nr
• Automatiske stengelister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C9A73DBA-D3EF-BF90-94A0-084AC2BCFE4A}"/>
              </a:ext>
            </a:extLst>
          </p:cNvPr>
          <p:cNvSpPr/>
          <p:nvPr/>
        </p:nvSpPr>
        <p:spPr>
          <a:xfrm>
            <a:off x="6159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B1003E02-8077-4F62-7E76-6824225CB5A2}"/>
              </a:ext>
            </a:extLst>
          </p:cNvPr>
          <p:cNvSpPr/>
          <p:nvPr/>
        </p:nvSpPr>
        <p:spPr>
          <a:xfrm>
            <a:off x="6159500" y="1206500"/>
            <a:ext cx="2667000" cy="50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3. ACT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AF33D211-3861-BCA1-C534-C5B4BB819F22}"/>
              </a:ext>
            </a:extLst>
          </p:cNvPr>
          <p:cNvSpPr txBox="1"/>
          <p:nvPr/>
        </p:nvSpPr>
        <p:spPr>
          <a:xfrm>
            <a:off x="6286500" y="1841500"/>
            <a:ext cx="2413000" cy="135325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Fortløpende terminering i Rørvik
• Verifisering av divisjons-SPOC
• Månedlig bulk-sanering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D40F0A7B-7ED0-C175-5268-00C021B0169A}"/>
              </a:ext>
            </a:extLst>
          </p:cNvPr>
          <p:cNvSpPr/>
          <p:nvPr/>
        </p:nvSpPr>
        <p:spPr>
          <a:xfrm>
            <a:off x="8953500" y="1206500"/>
            <a:ext cx="2667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FF557B3D-153F-DD14-3663-FDDCC0DD23D4}"/>
              </a:ext>
            </a:extLst>
          </p:cNvPr>
          <p:cNvSpPr/>
          <p:nvPr/>
        </p:nvSpPr>
        <p:spPr>
          <a:xfrm>
            <a:off x="8953500" y="1206500"/>
            <a:ext cx="2667000" cy="50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  <a:latin typeface="Segoe UI" panose="020B0502040204020203" pitchFamily="34" charset="0"/>
              </a:rPr>
              <a:t>4. IMPROVE</a:t>
            </a:r>
            <a:endParaRPr lang="nb-NO" sz="15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A4E3C499-13BA-45EA-90F3-C624A96C7A76}"/>
              </a:ext>
            </a:extLst>
          </p:cNvPr>
          <p:cNvSpPr txBox="1"/>
          <p:nvPr/>
        </p:nvSpPr>
        <p:spPr>
          <a:xfrm>
            <a:off x="9080500" y="1841500"/>
            <a:ext cx="2413000" cy="11247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
• Måling av løsningstid (MTTR)
• Dokumenterte revisjonsbevis
• Sikring mot inntektslekkasje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3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34AD229-B1B5-0B14-26C9-3C09AB31C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85C586BB-BC33-4FD1-3E73-9AE26FF65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BE5A6EB2-D2BA-0F02-D2E0-F398DC40177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A28076F-4535-FE69-C71B-B11D2381DAFC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KRAVSPESIFIKASJON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7A7599D-1C21-5B16-D6DD-29036809825E}"/>
              </a:ext>
            </a:extLst>
          </p:cNvPr>
          <p:cNvSpPr txBox="1"/>
          <p:nvPr/>
        </p:nvSpPr>
        <p:spPr>
          <a:xfrm>
            <a:off x="533400" y="558800"/>
            <a:ext cx="5780750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6 ufravikelige forvaltningskrav for Free SIM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7618D80-ABCA-420B-BA7B-FBF656C4BF83}"/>
              </a:ext>
            </a:extLst>
          </p:cNvPr>
          <p:cNvSpPr/>
          <p:nvPr/>
        </p:nvSpPr>
        <p:spPr>
          <a:xfrm>
            <a:off x="571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C14D868F-3877-0A00-F28E-94743F521E1A}"/>
              </a:ext>
            </a:extLst>
          </p:cNvPr>
          <p:cNvSpPr/>
          <p:nvPr/>
        </p:nvSpPr>
        <p:spPr>
          <a:xfrm>
            <a:off x="723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1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101D3FC-8B9B-A40D-8D86-BDF0F2567678}"/>
              </a:ext>
            </a:extLst>
          </p:cNvPr>
          <p:cNvSpPr txBox="1"/>
          <p:nvPr/>
        </p:nvSpPr>
        <p:spPr>
          <a:xfrm>
            <a:off x="1841500" y="1308100"/>
            <a:ext cx="272831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Bevist kundebetaling (MBN/NC)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42926417-6CE7-EB3F-55AB-5013093C56C1}"/>
              </a:ext>
            </a:extLst>
          </p:cNvPr>
          <p:cNvSpPr txBox="1"/>
          <p:nvPr/>
        </p:nvSpPr>
        <p:spPr>
          <a:xfrm>
            <a:off x="723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Maskinell kobling som beviser at logiske MBN/NC-nummer dekkes av en gyldig kundeavtale, med automatisk stenging ved opphør.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5B66203-45AB-CEAD-BEE5-02FD0C0B38C6}"/>
              </a:ext>
            </a:extLst>
          </p:cNvPr>
          <p:cNvSpPr/>
          <p:nvPr/>
        </p:nvSpPr>
        <p:spPr>
          <a:xfrm>
            <a:off x="6286500" y="1206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177AC5FC-200F-8D21-4A97-4C9C8CB03734}"/>
              </a:ext>
            </a:extLst>
          </p:cNvPr>
          <p:cNvSpPr/>
          <p:nvPr/>
        </p:nvSpPr>
        <p:spPr>
          <a:xfrm>
            <a:off x="6438900" y="1358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2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1E691D5F-4CEE-AE74-16EE-9DA4B4A49883}"/>
              </a:ext>
            </a:extLst>
          </p:cNvPr>
          <p:cNvSpPr txBox="1"/>
          <p:nvPr/>
        </p:nvSpPr>
        <p:spPr>
          <a:xfrm>
            <a:off x="7556500" y="1308100"/>
            <a:ext cx="2325124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D980E745-86B9-87A8-C68E-0D62FCDB68F3}"/>
              </a:ext>
            </a:extLst>
          </p:cNvPr>
          <p:cNvSpPr txBox="1"/>
          <p:nvPr/>
        </p:nvSpPr>
        <p:spPr>
          <a:xfrm>
            <a:off x="6438900" y="1778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5CA8F483-A933-3201-F97B-DFA2E2A1AE68}"/>
              </a:ext>
            </a:extLst>
          </p:cNvPr>
          <p:cNvSpPr/>
          <p:nvPr/>
        </p:nvSpPr>
        <p:spPr>
          <a:xfrm>
            <a:off x="571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5B188D05-2222-0EE7-D8B7-9E5638537DB0}"/>
              </a:ext>
            </a:extLst>
          </p:cNvPr>
          <p:cNvSpPr/>
          <p:nvPr/>
        </p:nvSpPr>
        <p:spPr>
          <a:xfrm>
            <a:off x="723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3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E2CC75BB-FFFB-A54E-1284-416F5B99C5AD}"/>
              </a:ext>
            </a:extLst>
          </p:cNvPr>
          <p:cNvSpPr txBox="1"/>
          <p:nvPr/>
        </p:nvSpPr>
        <p:spPr>
          <a:xfrm>
            <a:off x="1841500" y="3086100"/>
            <a:ext cx="2202719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15F7D0BF-9089-EEC9-EACA-61E03AC66EA7}"/>
              </a:ext>
            </a:extLst>
          </p:cNvPr>
          <p:cNvSpPr txBox="1"/>
          <p:nvPr/>
        </p:nvSpPr>
        <p:spPr>
          <a:xfrm>
            <a:off x="723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8CB228C2-678E-D7C3-F0D1-6AB2DA972E08}"/>
              </a:ext>
            </a:extLst>
          </p:cNvPr>
          <p:cNvSpPr/>
          <p:nvPr/>
        </p:nvSpPr>
        <p:spPr>
          <a:xfrm>
            <a:off x="6286500" y="2984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63AA7E69-6F2D-CE4C-EC0A-E59714559244}"/>
              </a:ext>
            </a:extLst>
          </p:cNvPr>
          <p:cNvSpPr/>
          <p:nvPr/>
        </p:nvSpPr>
        <p:spPr>
          <a:xfrm>
            <a:off x="6438900" y="3136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4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FCDE6956-42FE-1BF5-8802-B35370B65CFF}"/>
              </a:ext>
            </a:extLst>
          </p:cNvPr>
          <p:cNvSpPr txBox="1"/>
          <p:nvPr/>
        </p:nvSpPr>
        <p:spPr>
          <a:xfrm>
            <a:off x="7556500" y="3086100"/>
            <a:ext cx="2209772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A81F873A-9F21-2BDB-3417-5B30D31BA3C7}"/>
              </a:ext>
            </a:extLst>
          </p:cNvPr>
          <p:cNvSpPr txBox="1"/>
          <p:nvPr/>
        </p:nvSpPr>
        <p:spPr>
          <a:xfrm>
            <a:off x="6438900" y="3556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D71B6B83-BD1F-48CD-4E52-4A809BCEC01F}"/>
              </a:ext>
            </a:extLst>
          </p:cNvPr>
          <p:cNvSpPr/>
          <p:nvPr/>
        </p:nvSpPr>
        <p:spPr>
          <a:xfrm>
            <a:off x="571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4" name="Rektangel 23">
            <a:extLst>
              <a:ext uri="{FF2B5EF4-FFF2-40B4-BE49-F238E27FC236}">
                <a16:creationId xmlns:a16="http://schemas.microsoft.com/office/drawing/2014/main" id="{5534A802-1885-BB0C-283D-2FC6FEAC084A}"/>
              </a:ext>
            </a:extLst>
          </p:cNvPr>
          <p:cNvSpPr/>
          <p:nvPr/>
        </p:nvSpPr>
        <p:spPr>
          <a:xfrm>
            <a:off x="723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5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F07E8045-BCEB-D161-B8A4-EBFCE412639D}"/>
              </a:ext>
            </a:extLst>
          </p:cNvPr>
          <p:cNvSpPr txBox="1"/>
          <p:nvPr/>
        </p:nvSpPr>
        <p:spPr>
          <a:xfrm>
            <a:off x="1841500" y="4864100"/>
            <a:ext cx="1897507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69FFE81E-2510-F294-7B1B-9AB5565C9771}"/>
              </a:ext>
            </a:extLst>
          </p:cNvPr>
          <p:cNvSpPr txBox="1"/>
          <p:nvPr/>
        </p:nvSpPr>
        <p:spPr>
          <a:xfrm>
            <a:off x="723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7EA6506C-92EB-A76F-6B52-B916FF69EFB5}"/>
              </a:ext>
            </a:extLst>
          </p:cNvPr>
          <p:cNvSpPr/>
          <p:nvPr/>
        </p:nvSpPr>
        <p:spPr>
          <a:xfrm>
            <a:off x="6286500" y="4762500"/>
            <a:ext cx="5334000" cy="1587500"/>
          </a:xfrm>
          <a:prstGeom prst="rect">
            <a:avLst/>
          </a:prstGeom>
          <a:solidFill>
            <a:srgbClr val="FFFFFF"/>
          </a:solidFill>
          <a:ln w="254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8" name="Rektangel 27">
            <a:extLst>
              <a:ext uri="{FF2B5EF4-FFF2-40B4-BE49-F238E27FC236}">
                <a16:creationId xmlns:a16="http://schemas.microsoft.com/office/drawing/2014/main" id="{50397009-5952-EF8B-EC74-D802C8ABC808}"/>
              </a:ext>
            </a:extLst>
          </p:cNvPr>
          <p:cNvSpPr/>
          <p:nvPr/>
        </p:nvSpPr>
        <p:spPr>
          <a:xfrm>
            <a:off x="6438900" y="49149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  <a:latin typeface="Segoe UI" panose="020B0502040204020203" pitchFamily="34" charset="0"/>
              </a:rPr>
              <a:t>Krav 6</a:t>
            </a:r>
            <a:endParaRPr lang="nb-NO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1C989907-5D87-65B7-4A3E-3AA6B08ED09E}"/>
              </a:ext>
            </a:extLst>
          </p:cNvPr>
          <p:cNvSpPr txBox="1"/>
          <p:nvPr/>
        </p:nvSpPr>
        <p:spPr>
          <a:xfrm>
            <a:off x="7556500" y="4864100"/>
            <a:ext cx="2498761" cy="2183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45A06BF5-153F-6106-9850-F1664F6DE80A}"/>
              </a:ext>
            </a:extLst>
          </p:cNvPr>
          <p:cNvSpPr txBox="1"/>
          <p:nvPr/>
        </p:nvSpPr>
        <p:spPr>
          <a:xfrm>
            <a:off x="6438900" y="5334000"/>
            <a:ext cx="5016500" cy="4228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Strengere prevent-detect-act kontroll for Critical SIM via GCP / AI Agent / SIM-forvaltning.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3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329D3B4-19A0-D5A2-BACA-6BE3F767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8BA0963C-7B1F-8B21-D447-0F0AE02D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3934E45-5564-4560-BB55-7364D5B287D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F6155C0-4F4B-C2F0-C349-CCF758C0967A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AI-AUTOMATISERING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20838C8-DFC4-8BCE-4B1A-25D4C99C3655}"/>
              </a:ext>
            </a:extLst>
          </p:cNvPr>
          <p:cNvSpPr txBox="1"/>
          <p:nvPr/>
        </p:nvSpPr>
        <p:spPr>
          <a:xfrm>
            <a:off x="533400" y="558800"/>
            <a:ext cx="8870249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AI-agentenes kjerneoppgave: Løpende regelkontroll &amp; Stengelister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4A3FC3E4-A149-C7C2-38C7-FBA17820703D}"/>
              </a:ext>
            </a:extLst>
          </p:cNvPr>
          <p:cNvSpPr/>
          <p:nvPr/>
        </p:nvSpPr>
        <p:spPr>
          <a:xfrm>
            <a:off x="571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9288CE4-7800-B8FB-1F09-648621CBCD1A}"/>
              </a:ext>
            </a:extLst>
          </p:cNvPr>
          <p:cNvSpPr/>
          <p:nvPr/>
        </p:nvSpPr>
        <p:spPr>
          <a:xfrm>
            <a:off x="571500" y="1206500"/>
            <a:ext cx="5334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1. Regelsett &amp; Bevisføring (GIA-krav)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FFC77F8B-FFB1-F096-DAE9-9B2DE04089C2}"/>
              </a:ext>
            </a:extLst>
          </p:cNvPr>
          <p:cNvSpPr txBox="1"/>
          <p:nvPr/>
        </p:nvSpPr>
        <p:spPr>
          <a:xfrm>
            <a:off x="762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Kontinuerlig avstemming:
AI-agentene kryss-sjekker daglig alle 135 281 abonnementer mot bedriftsavtaler, faktura og brukslogger.
• Automatisk gyldighetsbevis:
Dokumenterer for GIA og ICFR NOR 72 at aktive nummer har rettmessig formål og betalingsdekning.
• Avviksidentifisering:
Flagger umiddelbart 'døde' logiske MBN/NC-nummer og inaktive testkort uten kontrolleier.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80251CDA-6F97-437B-D448-73E370BA5788}"/>
              </a:ext>
            </a:extLst>
          </p:cNvPr>
          <p:cNvSpPr/>
          <p:nvPr/>
        </p:nvSpPr>
        <p:spPr>
          <a:xfrm>
            <a:off x="6286500" y="1206500"/>
            <a:ext cx="5334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469ABF04-90E3-5E1C-7052-2786299AC438}"/>
              </a:ext>
            </a:extLst>
          </p:cNvPr>
          <p:cNvSpPr/>
          <p:nvPr/>
        </p:nvSpPr>
        <p:spPr>
          <a:xfrm>
            <a:off x="6286500" y="1206500"/>
            <a:ext cx="5334000" cy="5080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2. Fortløpende Stengelister til Terminering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B987C9BA-BDE2-50C7-3ECD-6DD8662F34A7}"/>
              </a:ext>
            </a:extLst>
          </p:cNvPr>
          <p:cNvSpPr txBox="1"/>
          <p:nvPr/>
        </p:nvSpPr>
        <p:spPr>
          <a:xfrm>
            <a:off x="6477000" y="1841500"/>
            <a:ext cx="4953000" cy="25882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Automatisert stengelistemotor:
AI-agentene utarbeider fortløpende kvalitetssikrede stengelister basert på GIA-regelsettet.
• Direkte integrasjon mot Ops:
Stengelistene overføres automatisk til Customer Operations (Rørvik) for bulk-terminering.
• Løpende porteføljeoptimalisering:
Hindrer opphopning av passive abonnementer og eliminerer risiko for inntektstap.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58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0B6CFDE-3AAB-C352-B8EB-1DD7A29B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463A3519-F420-1988-B0C7-F9BEB867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734D575A-25DC-4DD4-C942-8F92BC18B24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7D3D052-38FC-7623-6E4B-01F36C3829F9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ORGANISERING &amp; ROLLER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47D87C11-5674-4448-5569-4A2242BD69F3}"/>
              </a:ext>
            </a:extLst>
          </p:cNvPr>
          <p:cNvSpPr txBox="1"/>
          <p:nvPr/>
        </p:nvSpPr>
        <p:spPr>
          <a:xfrm>
            <a:off x="533400" y="558800"/>
            <a:ext cx="6037615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n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Styringsstruktur og forankring (ICFR NOR 72)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C387545-42A9-8E37-BEEB-7E847936CBB3}"/>
              </a:ext>
            </a:extLst>
          </p:cNvPr>
          <p:cNvSpPr/>
          <p:nvPr/>
        </p:nvSpPr>
        <p:spPr>
          <a:xfrm>
            <a:off x="571500" y="1206500"/>
            <a:ext cx="11049000" cy="520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4E4F3CE-E14B-8C1C-6886-A5FE813762B0}"/>
              </a:ext>
            </a:extLst>
          </p:cNvPr>
          <p:cNvSpPr/>
          <p:nvPr/>
        </p:nvSpPr>
        <p:spPr>
          <a:xfrm>
            <a:off x="571500" y="1206500"/>
            <a:ext cx="11049000" cy="50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303B047-159D-3A12-DDE3-C064D85FA6BE}"/>
              </a:ext>
            </a:extLst>
          </p:cNvPr>
          <p:cNvSpPr txBox="1"/>
          <p:nvPr/>
        </p:nvSpPr>
        <p:spPr>
          <a:xfrm>
            <a:off x="825500" y="1841500"/>
            <a:ext cx="10541000" cy="35362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• Business: Tor Marstein  (CxO: Torfinn Eriksen / Nikolay / Annelene) — Eier MBN/NC &amp; B2B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77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E6C1DB4-EB9F-EB79-209F-0CEED439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lysbildenummer 2">
            <a:extLst>
              <a:ext uri="{FF2B5EF4-FFF2-40B4-BE49-F238E27FC236}">
                <a16:creationId xmlns:a16="http://schemas.microsoft.com/office/drawing/2014/main" id="{9FED70ED-81E8-9C6A-3757-B8A401FDB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4DE1D5CD-B246-08DB-58FB-ADD843A9C5A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BEAC4F2-8B60-72FE-B2B5-B56F2336C7F0}"/>
              </a:ext>
            </a:extLst>
          </p:cNvPr>
          <p:cNvSpPr/>
          <p:nvPr/>
        </p:nvSpPr>
        <p:spPr>
          <a:xfrm>
            <a:off x="571500" y="228600"/>
            <a:ext cx="2921000" cy="304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000" b="1">
                <a:solidFill>
                  <a:srgbClr val="FFFFFF"/>
                </a:solidFill>
                <a:latin typeface="Segoe UI" panose="020B0502040204020203" pitchFamily="34" charset="0"/>
              </a:rPr>
              <a:t>GEVINSTBILDE</a:t>
            </a:r>
            <a:endParaRPr lang="nb-NO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88DEF10E-322D-9627-CA33-BC8558046C29}"/>
              </a:ext>
            </a:extLst>
          </p:cNvPr>
          <p:cNvSpPr txBox="1"/>
          <p:nvPr/>
        </p:nvSpPr>
        <p:spPr>
          <a:xfrm>
            <a:off x="533400" y="558800"/>
            <a:ext cx="6250044" cy="34317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22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Forventede effekter av nytt forvaltningsregime</a:t>
            </a:r>
            <a:endParaRPr kumimoji="0" lang="nb-NO" sz="2200" b="1" i="0" u="none" strike="noStrike" kern="1200" cap="none" spc="0" normalizeH="0" baseline="0" noProof="0" dirty="0" err="1">
              <a:ln>
                <a:noFill/>
              </a:ln>
              <a:solidFill>
                <a:srgbClr val="00184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460A69D-2CED-5C8F-E781-C39C2245CE21}"/>
              </a:ext>
            </a:extLst>
          </p:cNvPr>
          <p:cNvSpPr/>
          <p:nvPr/>
        </p:nvSpPr>
        <p:spPr>
          <a:xfrm>
            <a:off x="571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2A6CA6B4-74B4-93A9-503D-1BFCC7E97238}"/>
              </a:ext>
            </a:extLst>
          </p:cNvPr>
          <p:cNvSpPr/>
          <p:nvPr/>
        </p:nvSpPr>
        <p:spPr>
          <a:xfrm>
            <a:off x="571500" y="1206500"/>
            <a:ext cx="5334000" cy="482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Inntektssikring &amp; Sanering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7CA7AA2F-A1AA-2C9D-7FC0-65148570FCC3}"/>
              </a:ext>
            </a:extLst>
          </p:cNvPr>
          <p:cNvSpPr txBox="1"/>
          <p:nvPr/>
        </p:nvSpPr>
        <p:spPr>
          <a:xfrm>
            <a:off x="762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Fortløpende stenging av ugyldige MBN/NC-nummer og ubrukte testkort gir umiddelbare kostnadskutt og ryddig fakturering.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33F7B6F0-CBE3-1889-6454-EF99142D2B39}"/>
              </a:ext>
            </a:extLst>
          </p:cNvPr>
          <p:cNvSpPr/>
          <p:nvPr/>
        </p:nvSpPr>
        <p:spPr>
          <a:xfrm>
            <a:off x="6286500" y="12065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CE7A9DEB-1162-83EF-B4B1-8B836FC2FB24}"/>
              </a:ext>
            </a:extLst>
          </p:cNvPr>
          <p:cNvSpPr/>
          <p:nvPr/>
        </p:nvSpPr>
        <p:spPr>
          <a:xfrm>
            <a:off x="6286500" y="12065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100 % Revisjonsbevis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A802B518-861D-82C0-5B17-3ED3930AEA39}"/>
              </a:ext>
            </a:extLst>
          </p:cNvPr>
          <p:cNvSpPr txBox="1"/>
          <p:nvPr/>
        </p:nvSpPr>
        <p:spPr>
          <a:xfrm>
            <a:off x="6477000" y="18161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Kontinuerlig maskinell bevisføring for GIA og ICFR NOR 72 på at alle aktive nummer har gyldig formål.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A16DA295-4C86-9684-C66B-9283C78E7F4B}"/>
              </a:ext>
            </a:extLst>
          </p:cNvPr>
          <p:cNvSpPr/>
          <p:nvPr/>
        </p:nvSpPr>
        <p:spPr>
          <a:xfrm>
            <a:off x="571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E1A45A64-6D48-E3F4-E8E3-9B13C37E5203}"/>
              </a:ext>
            </a:extLst>
          </p:cNvPr>
          <p:cNvSpPr/>
          <p:nvPr/>
        </p:nvSpPr>
        <p:spPr>
          <a:xfrm>
            <a:off x="571500" y="3302000"/>
            <a:ext cx="5334000" cy="482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Eliminering av Manuelt Arbeid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21CA035D-8D2B-32D2-E6EC-736733C24E67}"/>
              </a:ext>
            </a:extLst>
          </p:cNvPr>
          <p:cNvSpPr txBox="1"/>
          <p:nvPr/>
        </p:nvSpPr>
        <p:spPr>
          <a:xfrm>
            <a:off x="762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Erstatter tunge regnearkkontroller med AI-agenter som genererer ferdige stengelister i Google Cloud Looker.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17623CB9-987B-B5A4-EE4E-4F148C5643AA}"/>
              </a:ext>
            </a:extLst>
          </p:cNvPr>
          <p:cNvSpPr/>
          <p:nvPr/>
        </p:nvSpPr>
        <p:spPr>
          <a:xfrm>
            <a:off x="6286500" y="3302000"/>
            <a:ext cx="5334000" cy="190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1C5DA344-E8A0-9C62-7AB7-1EF89E9BAC13}"/>
              </a:ext>
            </a:extLst>
          </p:cNvPr>
          <p:cNvSpPr/>
          <p:nvPr/>
        </p:nvSpPr>
        <p:spPr>
          <a:xfrm>
            <a:off x="6286500" y="3302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Proaktiv Fraud- og Risikokontroll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9A02382F-59B2-B599-3D7C-97FC2ECFB3F6}"/>
              </a:ext>
            </a:extLst>
          </p:cNvPr>
          <p:cNvSpPr txBox="1"/>
          <p:nvPr/>
        </p:nvSpPr>
        <p:spPr>
          <a:xfrm>
            <a:off x="6477000" y="3911600"/>
            <a:ext cx="4953000" cy="4391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Full sperre mot uautoriserte SIM i drift og automatisk varsling ved uventet trafikk.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30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3D71CAFA-DBF8-6D48-FF85-37458B4CB3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E2958165-4B11-06DF-66F8-B45210F2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1B3EDCE-8C4F-037B-59B6-EF0A037ED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CD0896D7-C4B5-AC79-F043-922F66965F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7A9C0EE7-5A41-377B-3D49-7DD62EA0DF81}"/>
              </a:ext>
            </a:extLst>
          </p:cNvPr>
          <p:cNvSpPr/>
          <p:nvPr/>
        </p:nvSpPr>
        <p:spPr>
          <a:xfrm>
            <a:off x="571500" y="1143000"/>
            <a:ext cx="11049000" cy="5334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191C51E-F7BF-22D1-C58D-2819ECEFE3E2}"/>
              </a:ext>
            </a:extLst>
          </p:cNvPr>
          <p:cNvSpPr/>
          <p:nvPr/>
        </p:nvSpPr>
        <p:spPr>
          <a:xfrm>
            <a:off x="571500" y="1143000"/>
            <a:ext cx="11049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  <a:latin typeface="Segoe UI" panose="020B0502040204020203" pitchFamily="34" charset="0"/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71266F16-D035-26F8-9FDB-2F00D06A6853}"/>
              </a:ext>
            </a:extLst>
          </p:cNvPr>
          <p:cNvSpPr txBox="1"/>
          <p:nvPr/>
        </p:nvSpPr>
        <p:spPr>
          <a:xfrm>
            <a:off x="762000" y="1714500"/>
            <a:ext cx="10668000" cy="3843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Arial" panose="020B0604020202020204" pitchFamily="34" charset="0"/>
              </a:rPr>
              <a:t>Det innstilles på at ledelsen fatter følgende 5 vedtak:
1. Godkjenning av forvaltningsmodell:
Forvaltningsrammeverket (Prevent-Detect-Act-Improve) og de 6 forvaltningskravene godkjennes som gjeldende standard for Telenor Business.
2. AI-agent mandat for stengelister og terminering:
For alle Free SIM etableres det AI agent kapabiliteter som, basert på gjeldende regelsett gitt av GIA forvaltningsregimet, utarbeider stengelister fortløpende som går til terminering.
3. Forretningskritisk forvaltning (Critical SIM):
Forretningskritisk forvaltning, (critical SIM), klassifiseres som forretningskritiske abonnement, og dermed håndteres med et strengere kontroll- og forvaltningsregime enn øvrige kategorier gjennom GCP flater / AI Agent kapabiliteter / SIM - forvaltning.
4. Håndheving av levetid for test-SIM:
Det innføres standard 6 måneders levetid og automatisk terminering for alle nye Test-1 abonnementer.
5. Looker &amp; Customer Operations forankring:
Google Cloud Looker etableres som offisiell oppfølgingsflate, og Customer Operations (Rørvik) gis mandat til månedlige bulk-saneringer etter stengelister fra AI-agentene.</a:t>
            </a:r>
            <a:endParaRPr kumimoji="0" lang="nb-NO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03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1277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5" baseType="lpstr">
      <vt:lpstr>Segoe UI</vt:lpstr>
      <vt:lpstr>Arial</vt:lpstr>
      <vt:lpstr>TelenorEvolutionPPT-Light</vt:lpstr>
      <vt:lpstr>TelenorEvolution PPT</vt:lpstr>
      <vt:lpstr>Calibri</vt:lpstr>
      <vt:lpstr>Telenor 2025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2026-09-18T11:23:22Z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